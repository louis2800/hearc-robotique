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7.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3.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264" r:id="rId2"/>
    <p:sldId id="258" r:id="rId3"/>
    <p:sldId id="266" r:id="rId4"/>
    <p:sldId id="267" r:id="rId5"/>
    <p:sldId id="268" r:id="rId6"/>
    <p:sldId id="269" r:id="rId7"/>
    <p:sldId id="270" r:id="rId8"/>
    <p:sldId id="271" r:id="rId9"/>
    <p:sldId id="272" r:id="rId10"/>
    <p:sldId id="273" r:id="rId11"/>
    <p:sldId id="275" r:id="rId12"/>
    <p:sldId id="274" r:id="rId13"/>
    <p:sldId id="276" r:id="rId14"/>
    <p:sldId id="277" r:id="rId15"/>
  </p:sldIdLst>
  <p:sldSz cx="10691813" cy="7559675"/>
  <p:notesSz cx="7104063" cy="10234613"/>
  <p:defaultTextStyle>
    <a:defPPr>
      <a:defRPr lang="fr-FR"/>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5" userDrawn="1">
          <p15:clr>
            <a:srgbClr val="A4A3A4"/>
          </p15:clr>
        </p15:guide>
        <p15:guide id="2" pos="63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0100"/>
    <a:srgbClr val="70717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8" autoAdjust="0"/>
    <p:restoredTop sz="64070" autoAdjust="0"/>
  </p:normalViewPr>
  <p:slideViewPr>
    <p:cSldViewPr>
      <p:cViewPr varScale="1">
        <p:scale>
          <a:sx n="48" d="100"/>
          <a:sy n="48" d="100"/>
        </p:scale>
        <p:origin x="2165" y="48"/>
      </p:cViewPr>
      <p:guideLst>
        <p:guide orient="horz" pos="1655"/>
        <p:guide pos="6316"/>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81" d="100"/>
          <a:sy n="81" d="100"/>
        </p:scale>
        <p:origin x="399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9202" cy="512304"/>
          </a:xfrm>
          <a:prstGeom prst="rect">
            <a:avLst/>
          </a:prstGeom>
        </p:spPr>
        <p:txBody>
          <a:bodyPr vert="horz" lIns="94774" tIns="47387" rIns="94774" bIns="47387" rtlCol="0"/>
          <a:lstStyle>
            <a:lvl1pPr algn="l">
              <a:defRPr sz="1300"/>
            </a:lvl1pPr>
          </a:lstStyle>
          <a:p>
            <a:endParaRPr lang="de-CH"/>
          </a:p>
        </p:txBody>
      </p:sp>
      <p:sp>
        <p:nvSpPr>
          <p:cNvPr id="3" name="Datumsplatzhalter 2"/>
          <p:cNvSpPr>
            <a:spLocks noGrp="1"/>
          </p:cNvSpPr>
          <p:nvPr>
            <p:ph type="dt" sz="quarter" idx="1"/>
          </p:nvPr>
        </p:nvSpPr>
        <p:spPr>
          <a:xfrm>
            <a:off x="4023204" y="0"/>
            <a:ext cx="3079202" cy="512304"/>
          </a:xfrm>
          <a:prstGeom prst="rect">
            <a:avLst/>
          </a:prstGeom>
        </p:spPr>
        <p:txBody>
          <a:bodyPr vert="horz" lIns="94774" tIns="47387" rIns="94774" bIns="47387" rtlCol="0"/>
          <a:lstStyle>
            <a:lvl1pPr algn="r">
              <a:defRPr sz="1300"/>
            </a:lvl1pPr>
          </a:lstStyle>
          <a:p>
            <a:fld id="{58594FB5-C202-4B63-B1D6-C4202D7D1139}" type="datetimeFigureOut">
              <a:rPr lang="de-CH" smtClean="0"/>
              <a:t>17.12.2024</a:t>
            </a:fld>
            <a:endParaRPr lang="de-CH"/>
          </a:p>
        </p:txBody>
      </p:sp>
      <p:sp>
        <p:nvSpPr>
          <p:cNvPr id="4" name="Fußzeilenplatzhalter 3"/>
          <p:cNvSpPr>
            <a:spLocks noGrp="1"/>
          </p:cNvSpPr>
          <p:nvPr>
            <p:ph type="ftr" sz="quarter" idx="2"/>
          </p:nvPr>
        </p:nvSpPr>
        <p:spPr>
          <a:xfrm>
            <a:off x="0" y="9720674"/>
            <a:ext cx="3079202" cy="512303"/>
          </a:xfrm>
          <a:prstGeom prst="rect">
            <a:avLst/>
          </a:prstGeom>
        </p:spPr>
        <p:txBody>
          <a:bodyPr vert="horz" lIns="94774" tIns="47387" rIns="94774" bIns="47387" rtlCol="0" anchor="b"/>
          <a:lstStyle>
            <a:lvl1pPr algn="l">
              <a:defRPr sz="1300"/>
            </a:lvl1pPr>
          </a:lstStyle>
          <a:p>
            <a:endParaRPr lang="de-CH"/>
          </a:p>
        </p:txBody>
      </p:sp>
      <p:sp>
        <p:nvSpPr>
          <p:cNvPr id="5" name="Foliennummernplatzhalter 4"/>
          <p:cNvSpPr>
            <a:spLocks noGrp="1"/>
          </p:cNvSpPr>
          <p:nvPr>
            <p:ph type="sldNum" sz="quarter" idx="3"/>
          </p:nvPr>
        </p:nvSpPr>
        <p:spPr>
          <a:xfrm>
            <a:off x="4023204" y="9720674"/>
            <a:ext cx="3079202" cy="512303"/>
          </a:xfrm>
          <a:prstGeom prst="rect">
            <a:avLst/>
          </a:prstGeom>
        </p:spPr>
        <p:txBody>
          <a:bodyPr vert="horz" lIns="94774" tIns="47387" rIns="94774" bIns="47387" rtlCol="0" anchor="b"/>
          <a:lstStyle>
            <a:lvl1pPr algn="r">
              <a:defRPr sz="1300"/>
            </a:lvl1pPr>
          </a:lstStyle>
          <a:p>
            <a:fld id="{D67FB8E8-A79E-4FBB-8FA9-E88034DDC09A}" type="slidenum">
              <a:rPr lang="de-CH" smtClean="0"/>
              <a:t>‹N°›</a:t>
            </a:fld>
            <a:endParaRPr lang="de-CH"/>
          </a:p>
        </p:txBody>
      </p:sp>
    </p:spTree>
    <p:extLst>
      <p:ext uri="{BB962C8B-B14F-4D97-AF65-F5344CB8AC3E}">
        <p14:creationId xmlns:p14="http://schemas.microsoft.com/office/powerpoint/2010/main" val="4170597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9202" cy="512304"/>
          </a:xfrm>
          <a:prstGeom prst="rect">
            <a:avLst/>
          </a:prstGeom>
        </p:spPr>
        <p:txBody>
          <a:bodyPr vert="horz" lIns="94774" tIns="47387" rIns="94774" bIns="47387" rtlCol="0"/>
          <a:lstStyle>
            <a:lvl1pPr algn="l">
              <a:defRPr sz="1300"/>
            </a:lvl1pPr>
          </a:lstStyle>
          <a:p>
            <a:endParaRPr lang="fr-CH"/>
          </a:p>
        </p:txBody>
      </p:sp>
      <p:sp>
        <p:nvSpPr>
          <p:cNvPr id="3" name="Datumsplatzhalter 2"/>
          <p:cNvSpPr>
            <a:spLocks noGrp="1"/>
          </p:cNvSpPr>
          <p:nvPr>
            <p:ph type="dt" idx="1"/>
          </p:nvPr>
        </p:nvSpPr>
        <p:spPr>
          <a:xfrm>
            <a:off x="4023204" y="0"/>
            <a:ext cx="3079202" cy="512304"/>
          </a:xfrm>
          <a:prstGeom prst="rect">
            <a:avLst/>
          </a:prstGeom>
        </p:spPr>
        <p:txBody>
          <a:bodyPr vert="horz" lIns="94774" tIns="47387" rIns="94774" bIns="47387" rtlCol="0"/>
          <a:lstStyle>
            <a:lvl1pPr algn="r">
              <a:defRPr sz="1300"/>
            </a:lvl1pPr>
          </a:lstStyle>
          <a:p>
            <a:fld id="{9DCC87A5-EC57-48A1-98F4-0C433332F050}" type="datetimeFigureOut">
              <a:rPr lang="fr-CH" smtClean="0"/>
              <a:t>17.12.2024</a:t>
            </a:fld>
            <a:endParaRPr lang="fr-CH"/>
          </a:p>
        </p:txBody>
      </p:sp>
      <p:sp>
        <p:nvSpPr>
          <p:cNvPr id="4" name="Folienbildplatzhalter 3"/>
          <p:cNvSpPr>
            <a:spLocks noGrp="1" noRot="1" noChangeAspect="1"/>
          </p:cNvSpPr>
          <p:nvPr>
            <p:ph type="sldImg" idx="2"/>
          </p:nvPr>
        </p:nvSpPr>
        <p:spPr>
          <a:xfrm>
            <a:off x="1109663" y="1279525"/>
            <a:ext cx="4884737" cy="3452813"/>
          </a:xfrm>
          <a:prstGeom prst="rect">
            <a:avLst/>
          </a:prstGeom>
          <a:noFill/>
          <a:ln w="12700">
            <a:solidFill>
              <a:prstClr val="black"/>
            </a:solidFill>
          </a:ln>
        </p:spPr>
        <p:txBody>
          <a:bodyPr vert="horz" lIns="94774" tIns="47387" rIns="94774" bIns="47387" rtlCol="0" anchor="ctr"/>
          <a:lstStyle/>
          <a:p>
            <a:endParaRPr lang="fr-CH"/>
          </a:p>
        </p:txBody>
      </p:sp>
      <p:sp>
        <p:nvSpPr>
          <p:cNvPr id="5" name="Notizenplatzhalter 4"/>
          <p:cNvSpPr>
            <a:spLocks noGrp="1"/>
          </p:cNvSpPr>
          <p:nvPr>
            <p:ph type="body" sz="quarter" idx="3"/>
          </p:nvPr>
        </p:nvSpPr>
        <p:spPr>
          <a:xfrm>
            <a:off x="710075" y="4924990"/>
            <a:ext cx="5683914" cy="4029684"/>
          </a:xfrm>
          <a:prstGeom prst="rect">
            <a:avLst/>
          </a:prstGeom>
        </p:spPr>
        <p:txBody>
          <a:bodyPr vert="horz" lIns="94774" tIns="47387" rIns="94774" bIns="47387"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fr-CH"/>
          </a:p>
        </p:txBody>
      </p:sp>
      <p:sp>
        <p:nvSpPr>
          <p:cNvPr id="6" name="Fußzeilenplatzhalter 5"/>
          <p:cNvSpPr>
            <a:spLocks noGrp="1"/>
          </p:cNvSpPr>
          <p:nvPr>
            <p:ph type="ftr" sz="quarter" idx="4"/>
          </p:nvPr>
        </p:nvSpPr>
        <p:spPr>
          <a:xfrm>
            <a:off x="0" y="9722310"/>
            <a:ext cx="3079202" cy="512304"/>
          </a:xfrm>
          <a:prstGeom prst="rect">
            <a:avLst/>
          </a:prstGeom>
        </p:spPr>
        <p:txBody>
          <a:bodyPr vert="horz" lIns="94774" tIns="47387" rIns="94774" bIns="47387" rtlCol="0" anchor="b"/>
          <a:lstStyle>
            <a:lvl1pPr algn="l">
              <a:defRPr sz="1300"/>
            </a:lvl1pPr>
          </a:lstStyle>
          <a:p>
            <a:endParaRPr lang="fr-CH"/>
          </a:p>
        </p:txBody>
      </p:sp>
      <p:sp>
        <p:nvSpPr>
          <p:cNvPr id="7" name="Foliennummernplatzhalter 6"/>
          <p:cNvSpPr>
            <a:spLocks noGrp="1"/>
          </p:cNvSpPr>
          <p:nvPr>
            <p:ph type="sldNum" sz="quarter" idx="5"/>
          </p:nvPr>
        </p:nvSpPr>
        <p:spPr>
          <a:xfrm>
            <a:off x="4023204" y="9722310"/>
            <a:ext cx="3079202" cy="512304"/>
          </a:xfrm>
          <a:prstGeom prst="rect">
            <a:avLst/>
          </a:prstGeom>
        </p:spPr>
        <p:txBody>
          <a:bodyPr vert="horz" lIns="94774" tIns="47387" rIns="94774" bIns="47387" rtlCol="0" anchor="b"/>
          <a:lstStyle>
            <a:lvl1pPr algn="r">
              <a:defRPr sz="1300"/>
            </a:lvl1pPr>
          </a:lstStyle>
          <a:p>
            <a:fld id="{F00AB757-58AB-499D-A9D3-311C05BD52E0}" type="slidenum">
              <a:rPr lang="fr-CH" smtClean="0"/>
              <a:t>‹N°›</a:t>
            </a:fld>
            <a:endParaRPr lang="fr-CH"/>
          </a:p>
        </p:txBody>
      </p:sp>
    </p:spTree>
    <p:extLst>
      <p:ext uri="{BB962C8B-B14F-4D97-AF65-F5344CB8AC3E}">
        <p14:creationId xmlns:p14="http://schemas.microsoft.com/office/powerpoint/2010/main" val="268702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a:t>
            </a:fld>
            <a:endParaRPr lang="fr-CH"/>
          </a:p>
        </p:txBody>
      </p:sp>
    </p:spTree>
    <p:extLst>
      <p:ext uri="{BB962C8B-B14F-4D97-AF65-F5344CB8AC3E}">
        <p14:creationId xmlns:p14="http://schemas.microsoft.com/office/powerpoint/2010/main" val="3091636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a:t>
            </a:fld>
            <a:endParaRPr lang="fr-CH"/>
          </a:p>
        </p:txBody>
      </p:sp>
    </p:spTree>
    <p:extLst>
      <p:ext uri="{BB962C8B-B14F-4D97-AF65-F5344CB8AC3E}">
        <p14:creationId xmlns:p14="http://schemas.microsoft.com/office/powerpoint/2010/main" val="813563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3</a:t>
            </a:fld>
            <a:endParaRPr lang="fr-CH"/>
          </a:p>
        </p:txBody>
      </p:sp>
    </p:spTree>
    <p:extLst>
      <p:ext uri="{BB962C8B-B14F-4D97-AF65-F5344CB8AC3E}">
        <p14:creationId xmlns:p14="http://schemas.microsoft.com/office/powerpoint/2010/main" val="2701658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4</a:t>
            </a:fld>
            <a:endParaRPr lang="fr-CH"/>
          </a:p>
        </p:txBody>
      </p:sp>
    </p:spTree>
    <p:extLst>
      <p:ext uri="{BB962C8B-B14F-4D97-AF65-F5344CB8AC3E}">
        <p14:creationId xmlns:p14="http://schemas.microsoft.com/office/powerpoint/2010/main" val="1126181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Parfait exemples:</a:t>
            </a:r>
          </a:p>
          <a:p>
            <a:endParaRPr lang="fr-CH" dirty="0"/>
          </a:p>
          <a:p>
            <a:r>
              <a:rPr lang="fr-CH" dirty="0"/>
              <a:t>La</a:t>
            </a:r>
            <a:r>
              <a:rPr lang="fr-CH" baseline="0" dirty="0"/>
              <a:t> justesse, qui dépend des erreurs de la cinématique inverse</a:t>
            </a:r>
          </a:p>
          <a:p>
            <a:r>
              <a:rPr lang="fr-CH" baseline="0" dirty="0"/>
              <a:t>Les paramètres de </a:t>
            </a:r>
            <a:r>
              <a:rPr lang="fr-CH" baseline="0" dirty="0" err="1"/>
              <a:t>denevit</a:t>
            </a:r>
            <a:r>
              <a:rPr lang="fr-CH" baseline="0" dirty="0"/>
              <a:t> </a:t>
            </a:r>
            <a:r>
              <a:rPr lang="fr-CH" baseline="0" dirty="0" err="1"/>
              <a:t>hartenberg</a:t>
            </a:r>
            <a:r>
              <a:rPr lang="fr-CH" baseline="0" dirty="0"/>
              <a:t> (DH) sont critiques</a:t>
            </a:r>
          </a:p>
          <a:p>
            <a:r>
              <a:rPr lang="fr-CH" baseline="0" dirty="0"/>
              <a:t>Elle peut être corrigée dans une certaines mesure pour l’ensemble de la zone d’usinage, ou très précisément pour certains points.</a:t>
            </a:r>
          </a:p>
          <a:p>
            <a:endParaRPr lang="fr-CH" baseline="0" dirty="0"/>
          </a:p>
          <a:p>
            <a:r>
              <a:rPr lang="fr-CH" baseline="0" dirty="0"/>
              <a:t>La répétabilité ne dépend elle que de facteurs aléatoires, elle est donc incorrigible.</a:t>
            </a:r>
          </a:p>
          <a:p>
            <a:endParaRPr lang="fr-CH" baseline="0" dirty="0"/>
          </a:p>
          <a:p>
            <a:r>
              <a:rPr lang="fr-CH" baseline="0" dirty="0"/>
              <a:t>Lorsque l’on calcule la chaine d’incertitude pour du </a:t>
            </a:r>
            <a:r>
              <a:rPr lang="fr-CH" baseline="0" dirty="0" err="1"/>
              <a:t>pick</a:t>
            </a:r>
            <a:r>
              <a:rPr lang="fr-CH" baseline="0" dirty="0"/>
              <a:t> and place, on considère que le fait d’apprendre le point rend caduque la considération de l’erreur de justesse. Seule l’incertitude due à l’apprentissage demeure. C’est pour cette raison qu’il est possible d’effectuer des opérations de prise et dépose très précises avec des robots qui ont une faible justesse.</a:t>
            </a:r>
          </a:p>
          <a:p>
            <a:endParaRPr lang="fr-CH" baseline="0" dirty="0"/>
          </a:p>
          <a:p>
            <a:r>
              <a:rPr lang="fr-CH" baseline="0" dirty="0"/>
              <a:t>Il est possible chez certains constructeur de spécifier une option «haute précision». Le robot est alors livré avec un contrôleurs dont les paramètres DH sont calibrés. Dans un contrôleur normal, seul les offsets codeurs sont intégrés.</a:t>
            </a:r>
          </a:p>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5</a:t>
            </a:fld>
            <a:endParaRPr lang="fr-CH"/>
          </a:p>
        </p:txBody>
      </p:sp>
    </p:spTree>
    <p:extLst>
      <p:ext uri="{BB962C8B-B14F-4D97-AF65-F5344CB8AC3E}">
        <p14:creationId xmlns:p14="http://schemas.microsoft.com/office/powerpoint/2010/main" val="2963666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6</a:t>
            </a:fld>
            <a:endParaRPr lang="fr-CH"/>
          </a:p>
        </p:txBody>
      </p:sp>
    </p:spTree>
    <p:extLst>
      <p:ext uri="{BB962C8B-B14F-4D97-AF65-F5344CB8AC3E}">
        <p14:creationId xmlns:p14="http://schemas.microsoft.com/office/powerpoint/2010/main" val="831276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7</a:t>
            </a:fld>
            <a:endParaRPr lang="fr-CH"/>
          </a:p>
        </p:txBody>
      </p:sp>
    </p:spTree>
    <p:extLst>
      <p:ext uri="{BB962C8B-B14F-4D97-AF65-F5344CB8AC3E}">
        <p14:creationId xmlns:p14="http://schemas.microsoft.com/office/powerpoint/2010/main" val="297225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8</a:t>
            </a:fld>
            <a:endParaRPr lang="fr-CH"/>
          </a:p>
        </p:txBody>
      </p:sp>
    </p:spTree>
    <p:extLst>
      <p:ext uri="{BB962C8B-B14F-4D97-AF65-F5344CB8AC3E}">
        <p14:creationId xmlns:p14="http://schemas.microsoft.com/office/powerpoint/2010/main" val="2147196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https://www.youtube.com/watch?v=La6u9YvvEDE&amp;ab_channel=FictionFilmsGmbH</a:t>
            </a:r>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9</a:t>
            </a:fld>
            <a:endParaRPr lang="fr-CH"/>
          </a:p>
        </p:txBody>
      </p:sp>
    </p:spTree>
    <p:extLst>
      <p:ext uri="{BB962C8B-B14F-4D97-AF65-F5344CB8AC3E}">
        <p14:creationId xmlns:p14="http://schemas.microsoft.com/office/powerpoint/2010/main" val="713470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Possibilité d’effectuer également des </a:t>
            </a:r>
            <a:r>
              <a:rPr lang="fr-CH" dirty="0" err="1"/>
              <a:t>teaching</a:t>
            </a:r>
            <a:r>
              <a:rPr lang="fr-CH" baseline="0" dirty="0"/>
              <a:t> avec des </a:t>
            </a:r>
            <a:r>
              <a:rPr lang="fr-CH" baseline="0" dirty="0" err="1"/>
              <a:t>plapeurs</a:t>
            </a:r>
            <a:r>
              <a:rPr lang="fr-CH" baseline="0" dirty="0"/>
              <a:t>, à ce moment-là, l’incertitude dépend alors de la précision des palpeurs.</a:t>
            </a:r>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10</a:t>
            </a:fld>
            <a:endParaRPr lang="fr-CH"/>
          </a:p>
        </p:txBody>
      </p:sp>
    </p:spTree>
    <p:extLst>
      <p:ext uri="{BB962C8B-B14F-4D97-AF65-F5344CB8AC3E}">
        <p14:creationId xmlns:p14="http://schemas.microsoft.com/office/powerpoint/2010/main" val="21328045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11</a:t>
            </a:fld>
            <a:endParaRPr lang="fr-CH"/>
          </a:p>
        </p:txBody>
      </p:sp>
    </p:spTree>
    <p:extLst>
      <p:ext uri="{BB962C8B-B14F-4D97-AF65-F5344CB8AC3E}">
        <p14:creationId xmlns:p14="http://schemas.microsoft.com/office/powerpoint/2010/main" val="2616706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En </a:t>
            </a:r>
            <a:r>
              <a:rPr lang="fr-CH" dirty="0" err="1"/>
              <a:t>prinicpe</a:t>
            </a:r>
            <a:r>
              <a:rPr lang="fr-CH" dirty="0"/>
              <a:t>, car si il y a plusieurs outils en jeu dans la chaine, il peut-être nécessaire de les considérer.</a:t>
            </a:r>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12</a:t>
            </a:fld>
            <a:endParaRPr lang="fr-CH"/>
          </a:p>
        </p:txBody>
      </p:sp>
    </p:spTree>
    <p:extLst>
      <p:ext uri="{BB962C8B-B14F-4D97-AF65-F5344CB8AC3E}">
        <p14:creationId xmlns:p14="http://schemas.microsoft.com/office/powerpoint/2010/main" val="1298499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13</a:t>
            </a:fld>
            <a:endParaRPr lang="fr-CH"/>
          </a:p>
        </p:txBody>
      </p:sp>
    </p:spTree>
    <p:extLst>
      <p:ext uri="{BB962C8B-B14F-4D97-AF65-F5344CB8AC3E}">
        <p14:creationId xmlns:p14="http://schemas.microsoft.com/office/powerpoint/2010/main" val="27238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14</a:t>
            </a:fld>
            <a:endParaRPr lang="fr-CH"/>
          </a:p>
        </p:txBody>
      </p:sp>
    </p:spTree>
    <p:extLst>
      <p:ext uri="{BB962C8B-B14F-4D97-AF65-F5344CB8AC3E}">
        <p14:creationId xmlns:p14="http://schemas.microsoft.com/office/powerpoint/2010/main" val="348121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ceuil avec photo">
    <p:spTree>
      <p:nvGrpSpPr>
        <p:cNvPr id="1" name=""/>
        <p:cNvGrpSpPr/>
        <p:nvPr/>
      </p:nvGrpSpPr>
      <p:grpSpPr>
        <a:xfrm>
          <a:off x="0" y="0"/>
          <a:ext cx="0" cy="0"/>
          <a:chOff x="0" y="0"/>
          <a:chExt cx="0" cy="0"/>
        </a:xfrm>
      </p:grpSpPr>
      <p:sp>
        <p:nvSpPr>
          <p:cNvPr id="6" name="Bildplatzhalter 5"/>
          <p:cNvSpPr>
            <a:spLocks noGrp="1"/>
          </p:cNvSpPr>
          <p:nvPr>
            <p:ph type="pic" sz="quarter" idx="11" hasCustomPrompt="1"/>
          </p:nvPr>
        </p:nvSpPr>
        <p:spPr>
          <a:xfrm>
            <a:off x="0" y="1259557"/>
            <a:ext cx="10728000" cy="5544616"/>
          </a:xfrm>
          <a:prstGeom prst="rect">
            <a:avLst/>
          </a:prstGeom>
        </p:spPr>
        <p:txBody>
          <a:bodyPr/>
          <a:lstStyle>
            <a:lvl1pPr>
              <a:defRPr/>
            </a:lvl1pPr>
          </a:lstStyle>
          <a:p>
            <a:r>
              <a:rPr lang="fr-CH" dirty="0"/>
              <a:t>Image</a:t>
            </a:r>
          </a:p>
        </p:txBody>
      </p:sp>
      <p:sp>
        <p:nvSpPr>
          <p:cNvPr id="5" name="Espace réservé du texte 4"/>
          <p:cNvSpPr>
            <a:spLocks noGrp="1"/>
          </p:cNvSpPr>
          <p:nvPr>
            <p:ph type="body" sz="quarter" idx="10" hasCustomPrompt="1"/>
          </p:nvPr>
        </p:nvSpPr>
        <p:spPr>
          <a:xfrm>
            <a:off x="593378" y="3985200"/>
            <a:ext cx="9008224" cy="873213"/>
          </a:xfrm>
          <a:prstGeom prst="rect">
            <a:avLst/>
          </a:prstGeom>
        </p:spPr>
        <p:txBody>
          <a:bodyPr anchor="ctr" anchorCtr="0"/>
          <a:lstStyle>
            <a:lvl1pPr>
              <a:buNone/>
              <a:defRPr sz="5400" b="0">
                <a:solidFill>
                  <a:schemeClr val="bg1"/>
                </a:solidFill>
                <a:latin typeface="Tahoma" pitchFamily="34" charset="0"/>
                <a:ea typeface="Tahoma" pitchFamily="34" charset="0"/>
                <a:cs typeface="Tahoma" pitchFamily="34" charset="0"/>
              </a:defRPr>
            </a:lvl1pPr>
          </a:lstStyle>
          <a:p>
            <a:pPr lvl="0"/>
            <a:r>
              <a:rPr lang="fr-FR" dirty="0"/>
              <a:t>Bienvenue!</a:t>
            </a:r>
          </a:p>
        </p:txBody>
      </p:sp>
      <p:pic>
        <p:nvPicPr>
          <p:cNvPr id="4" name="Grafik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386" y="6948189"/>
            <a:ext cx="1107509" cy="288000"/>
          </a:xfrm>
          <a:prstGeom prst="rect">
            <a:avLst/>
          </a:prstGeom>
        </p:spPr>
      </p:pic>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cceuil avec bandeau photo">
    <p:spTree>
      <p:nvGrpSpPr>
        <p:cNvPr id="1" name=""/>
        <p:cNvGrpSpPr/>
        <p:nvPr/>
      </p:nvGrpSpPr>
      <p:grpSpPr>
        <a:xfrm>
          <a:off x="0" y="0"/>
          <a:ext cx="0" cy="0"/>
          <a:chOff x="0" y="0"/>
          <a:chExt cx="0" cy="0"/>
        </a:xfrm>
      </p:grpSpPr>
      <p:sp>
        <p:nvSpPr>
          <p:cNvPr id="6" name="Espace réservé du texte 5"/>
          <p:cNvSpPr>
            <a:spLocks noGrp="1"/>
          </p:cNvSpPr>
          <p:nvPr>
            <p:ph type="body" sz="quarter" idx="10" hasCustomPrompt="1"/>
          </p:nvPr>
        </p:nvSpPr>
        <p:spPr>
          <a:xfrm>
            <a:off x="586154" y="3707829"/>
            <a:ext cx="9008224" cy="794466"/>
          </a:xfrm>
          <a:prstGeom prst="rect">
            <a:avLst/>
          </a:prstGeom>
        </p:spPr>
        <p:txBody>
          <a:bodyPr anchor="ctr" anchorCtr="0"/>
          <a:lstStyle>
            <a:lvl1pPr>
              <a:buNone/>
              <a:defRPr sz="5400" b="0">
                <a:solidFill>
                  <a:srgbClr val="FF0000"/>
                </a:solidFill>
                <a:latin typeface="Tahoma" pitchFamily="34" charset="0"/>
                <a:ea typeface="Tahoma" pitchFamily="34" charset="0"/>
                <a:cs typeface="Tahoma" pitchFamily="34" charset="0"/>
              </a:defRPr>
            </a:lvl1pPr>
          </a:lstStyle>
          <a:p>
            <a:pPr lvl="0"/>
            <a:r>
              <a:rPr lang="fr-FR" dirty="0"/>
              <a:t>Titre de la présentation</a:t>
            </a:r>
          </a:p>
        </p:txBody>
      </p:sp>
      <p:sp>
        <p:nvSpPr>
          <p:cNvPr id="3" name="Espace réservé pour une image  12"/>
          <p:cNvSpPr>
            <a:spLocks noGrp="1"/>
          </p:cNvSpPr>
          <p:nvPr>
            <p:ph type="pic" sz="quarter" idx="12"/>
          </p:nvPr>
        </p:nvSpPr>
        <p:spPr>
          <a:xfrm>
            <a:off x="0" y="1244997"/>
            <a:ext cx="10691813" cy="1568164"/>
          </a:xfrm>
          <a:prstGeom prst="rect">
            <a:avLst/>
          </a:prstGeom>
        </p:spPr>
        <p:txBody>
          <a:bodyPr/>
          <a:lstStyle>
            <a:lvl1pPr>
              <a:buNone/>
              <a:defRPr>
                <a:solidFill>
                  <a:srgbClr val="707173"/>
                </a:solidFill>
              </a:defRPr>
            </a:lvl1pPr>
          </a:lstStyle>
          <a:p>
            <a:r>
              <a:rPr lang="fr-FR"/>
              <a:t>Cliquez sur l'icône pour ajouter une image</a:t>
            </a:r>
            <a:endParaRPr lang="fr-CH" dirty="0"/>
          </a:p>
        </p:txBody>
      </p:sp>
      <p:pic>
        <p:nvPicPr>
          <p:cNvPr id="5"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386" y="6948189"/>
            <a:ext cx="1107509" cy="288000"/>
          </a:xfrm>
          <a:prstGeom prst="rect">
            <a:avLst/>
          </a:prstGeom>
        </p:spPr>
      </p:pic>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avec bandeau photo">
    <p:spTree>
      <p:nvGrpSpPr>
        <p:cNvPr id="1" name=""/>
        <p:cNvGrpSpPr/>
        <p:nvPr/>
      </p:nvGrpSpPr>
      <p:grpSpPr>
        <a:xfrm>
          <a:off x="0" y="0"/>
          <a:ext cx="0" cy="0"/>
          <a:chOff x="0" y="0"/>
          <a:chExt cx="0" cy="0"/>
        </a:xfrm>
      </p:grpSpPr>
      <p:sp>
        <p:nvSpPr>
          <p:cNvPr id="9" name="Espace réservé du texte 8"/>
          <p:cNvSpPr>
            <a:spLocks noGrp="1"/>
          </p:cNvSpPr>
          <p:nvPr>
            <p:ph type="body" sz="quarter" idx="10" hasCustomPrompt="1"/>
          </p:nvPr>
        </p:nvSpPr>
        <p:spPr>
          <a:xfrm>
            <a:off x="565230" y="2915741"/>
            <a:ext cx="5644772" cy="396877"/>
          </a:xfrm>
          <a:prstGeom prst="rect">
            <a:avLst/>
          </a:prstGeom>
        </p:spPr>
        <p:txBody>
          <a:bodyPr/>
          <a:lstStyle>
            <a:lvl1pPr>
              <a:buNone/>
              <a:defRPr sz="2400" b="1" baseline="0">
                <a:solidFill>
                  <a:srgbClr val="FF0000"/>
                </a:solidFill>
                <a:latin typeface="Tahoma" pitchFamily="34" charset="0"/>
                <a:ea typeface="Tahoma" pitchFamily="34" charset="0"/>
                <a:cs typeface="Tahoma" pitchFamily="34" charset="0"/>
              </a:defRPr>
            </a:lvl1pPr>
          </a:lstStyle>
          <a:p>
            <a:pPr lvl="0"/>
            <a:r>
              <a:rPr lang="fr-CH" dirty="0"/>
              <a:t>Titre</a:t>
            </a:r>
          </a:p>
        </p:txBody>
      </p:sp>
      <p:sp>
        <p:nvSpPr>
          <p:cNvPr id="11" name="Espace réservé du texte 10"/>
          <p:cNvSpPr>
            <a:spLocks noGrp="1"/>
          </p:cNvSpPr>
          <p:nvPr>
            <p:ph type="body" sz="quarter" idx="11" hasCustomPrompt="1"/>
          </p:nvPr>
        </p:nvSpPr>
        <p:spPr>
          <a:xfrm>
            <a:off x="565230" y="3496131"/>
            <a:ext cx="5644772" cy="3020010"/>
          </a:xfrm>
          <a:prstGeom prst="rect">
            <a:avLst/>
          </a:prstGeom>
        </p:spPr>
        <p:txBody>
          <a:bodyPr/>
          <a:lstStyle>
            <a:lvl1pPr algn="l">
              <a:buNone/>
              <a:defRPr sz="1600">
                <a:solidFill>
                  <a:srgbClr val="707173"/>
                </a:solidFill>
                <a:latin typeface="Tahoma" pitchFamily="34" charset="0"/>
                <a:ea typeface="Tahoma" pitchFamily="34" charset="0"/>
                <a:cs typeface="Tahoma" pitchFamily="34" charset="0"/>
              </a:defRPr>
            </a:lvl1pPr>
            <a:lvl5pPr>
              <a:buNone/>
              <a:defRPr/>
            </a:lvl5pPr>
          </a:lstStyle>
          <a:p>
            <a:pPr lvl="0"/>
            <a:r>
              <a:rPr lang="fr-CH" dirty="0"/>
              <a:t>Texte</a:t>
            </a:r>
          </a:p>
        </p:txBody>
      </p:sp>
      <p:sp>
        <p:nvSpPr>
          <p:cNvPr id="13" name="Espace réservé pour une image  12"/>
          <p:cNvSpPr>
            <a:spLocks noGrp="1"/>
          </p:cNvSpPr>
          <p:nvPr>
            <p:ph type="pic" sz="quarter" idx="12"/>
          </p:nvPr>
        </p:nvSpPr>
        <p:spPr>
          <a:xfrm>
            <a:off x="-1" y="1245600"/>
            <a:ext cx="10691813" cy="1569600"/>
          </a:xfrm>
          <a:prstGeom prst="rect">
            <a:avLst/>
          </a:prstGeom>
        </p:spPr>
        <p:txBody>
          <a:bodyPr/>
          <a:lstStyle>
            <a:lvl1pPr>
              <a:buNone/>
              <a:defRPr/>
            </a:lvl1pPr>
          </a:lstStyle>
          <a:p>
            <a:r>
              <a:rPr lang="fr-FR"/>
              <a:t>Cliquez sur l'icône pour ajouter une image</a:t>
            </a:r>
            <a:endParaRPr lang="fr-CH" dirty="0"/>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negativ avec bandeau photo">
    <p:spTree>
      <p:nvGrpSpPr>
        <p:cNvPr id="1" name=""/>
        <p:cNvGrpSpPr/>
        <p:nvPr/>
      </p:nvGrpSpPr>
      <p:grpSpPr>
        <a:xfrm>
          <a:off x="0" y="0"/>
          <a:ext cx="0" cy="0"/>
          <a:chOff x="0" y="0"/>
          <a:chExt cx="0" cy="0"/>
        </a:xfrm>
      </p:grpSpPr>
      <p:sp>
        <p:nvSpPr>
          <p:cNvPr id="11" name="Espace réservé du texte 10"/>
          <p:cNvSpPr>
            <a:spLocks noGrp="1"/>
          </p:cNvSpPr>
          <p:nvPr>
            <p:ph type="body" sz="quarter" idx="11" hasCustomPrompt="1"/>
          </p:nvPr>
        </p:nvSpPr>
        <p:spPr>
          <a:xfrm>
            <a:off x="566768" y="3491805"/>
            <a:ext cx="7011386" cy="2808312"/>
          </a:xfrm>
          <a:prstGeom prst="rect">
            <a:avLst/>
          </a:prstGeom>
        </p:spPr>
        <p:txBody>
          <a:bodyPr/>
          <a:lstStyle>
            <a:lvl1pPr marL="0" indent="0" algn="l">
              <a:buNone/>
              <a:defRPr sz="1600">
                <a:solidFill>
                  <a:srgbClr val="707173"/>
                </a:solidFill>
                <a:latin typeface="Tahoma" pitchFamily="34" charset="0"/>
                <a:ea typeface="Tahoma" pitchFamily="34" charset="0"/>
                <a:cs typeface="Tahoma" pitchFamily="34" charset="0"/>
              </a:defRPr>
            </a:lvl1pPr>
            <a:lvl5pPr>
              <a:buNone/>
              <a:defRPr/>
            </a:lvl5pPr>
          </a:lstStyle>
          <a:p>
            <a:pPr lvl="0"/>
            <a:r>
              <a:rPr lang="fr-CH" dirty="0"/>
              <a:t>Texte</a:t>
            </a:r>
          </a:p>
          <a:p>
            <a:pPr lvl="0"/>
            <a:endParaRPr lang="fr-CH" dirty="0"/>
          </a:p>
          <a:p>
            <a:pPr lvl="0"/>
            <a:endParaRPr lang="fr-CH" dirty="0"/>
          </a:p>
        </p:txBody>
      </p:sp>
      <p:sp>
        <p:nvSpPr>
          <p:cNvPr id="13" name="Espace réservé pour une image  12"/>
          <p:cNvSpPr>
            <a:spLocks noGrp="1"/>
          </p:cNvSpPr>
          <p:nvPr>
            <p:ph type="pic" sz="quarter" idx="12"/>
          </p:nvPr>
        </p:nvSpPr>
        <p:spPr>
          <a:xfrm>
            <a:off x="-1" y="1245600"/>
            <a:ext cx="10691813" cy="1569600"/>
          </a:xfrm>
          <a:prstGeom prst="rect">
            <a:avLst/>
          </a:prstGeom>
        </p:spPr>
        <p:txBody>
          <a:bodyPr/>
          <a:lstStyle>
            <a:lvl1pPr>
              <a:buNone/>
              <a:defRPr/>
            </a:lvl1pPr>
          </a:lstStyle>
          <a:p>
            <a:r>
              <a:rPr lang="fr-FR"/>
              <a:t>Cliquez sur l'icône pour ajouter une image</a:t>
            </a:r>
            <a:endParaRPr lang="fr-CH" dirty="0"/>
          </a:p>
        </p:txBody>
      </p:sp>
      <p:sp>
        <p:nvSpPr>
          <p:cNvPr id="5" name="Rechteck 4"/>
          <p:cNvSpPr/>
          <p:nvPr userDrawn="1"/>
        </p:nvSpPr>
        <p:spPr>
          <a:xfrm>
            <a:off x="-17315" y="2814951"/>
            <a:ext cx="10691813" cy="53283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9" name="Espace réservé du texte 8"/>
          <p:cNvSpPr>
            <a:spLocks noGrp="1"/>
          </p:cNvSpPr>
          <p:nvPr>
            <p:ph type="body" sz="quarter" idx="10" hasCustomPrompt="1"/>
          </p:nvPr>
        </p:nvSpPr>
        <p:spPr>
          <a:xfrm>
            <a:off x="572797" y="2843733"/>
            <a:ext cx="5644772" cy="396877"/>
          </a:xfrm>
          <a:prstGeom prst="rect">
            <a:avLst/>
          </a:prstGeom>
        </p:spPr>
        <p:txBody>
          <a:bodyPr/>
          <a:lstStyle>
            <a:lvl1pPr>
              <a:buNone/>
              <a:defRPr sz="2400" b="1" baseline="0">
                <a:solidFill>
                  <a:schemeClr val="bg1"/>
                </a:solidFill>
                <a:latin typeface="Tahoma" pitchFamily="34" charset="0"/>
                <a:ea typeface="Tahoma" pitchFamily="34" charset="0"/>
                <a:cs typeface="Tahoma" pitchFamily="34" charset="0"/>
              </a:defRPr>
            </a:lvl1pPr>
          </a:lstStyle>
          <a:p>
            <a:pPr lvl="0"/>
            <a:r>
              <a:rPr lang="fr-CH" dirty="0"/>
              <a:t>Titre</a:t>
            </a:r>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623032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9" name="Espace réservé du texte 8"/>
          <p:cNvSpPr>
            <a:spLocks noGrp="1"/>
          </p:cNvSpPr>
          <p:nvPr>
            <p:ph type="body" sz="quarter" idx="10" hasCustomPrompt="1"/>
          </p:nvPr>
        </p:nvSpPr>
        <p:spPr>
          <a:xfrm>
            <a:off x="576000" y="1257978"/>
            <a:ext cx="9008063"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Sommaire</a:t>
            </a:r>
          </a:p>
        </p:txBody>
      </p:sp>
      <p:sp>
        <p:nvSpPr>
          <p:cNvPr id="13" name="Espace réservé du texte 12"/>
          <p:cNvSpPr>
            <a:spLocks noGrp="1"/>
          </p:cNvSpPr>
          <p:nvPr>
            <p:ph type="body" sz="quarter" idx="11" hasCustomPrompt="1"/>
          </p:nvPr>
        </p:nvSpPr>
        <p:spPr>
          <a:xfrm>
            <a:off x="576000" y="2411685"/>
            <a:ext cx="3047588" cy="3672408"/>
          </a:xfrm>
          <a:prstGeom prst="rect">
            <a:avLst/>
          </a:prstGeom>
        </p:spPr>
        <p:txBody>
          <a:bodyPr/>
          <a:lstStyle>
            <a:lvl1pPr indent="-360000">
              <a:lnSpc>
                <a:spcPct val="150000"/>
              </a:lnSpc>
              <a:spcBef>
                <a:spcPts val="0"/>
              </a:spcBef>
              <a:buFont typeface="+mj-lt"/>
              <a:buAutoNum type="arabicPeriod"/>
              <a:defRPr sz="1600" b="1">
                <a:solidFill>
                  <a:srgbClr val="707173"/>
                </a:solidFill>
                <a:latin typeface="Tahoma" pitchFamily="34" charset="0"/>
                <a:ea typeface="Tahoma" pitchFamily="34" charset="0"/>
                <a:cs typeface="Tahoma" pitchFamily="34" charset="0"/>
              </a:defRPr>
            </a:lvl1pPr>
            <a:lvl2pPr marL="1188000">
              <a:buFontTx/>
              <a:buNone/>
              <a:defRPr sz="1200" b="0">
                <a:solidFill>
                  <a:srgbClr val="707173"/>
                </a:solidFill>
                <a:latin typeface="Tahoma" pitchFamily="34" charset="0"/>
                <a:ea typeface="Tahoma" pitchFamily="34" charset="0"/>
                <a:cs typeface="Tahoma" pitchFamily="34" charset="0"/>
              </a:defRPr>
            </a:lvl2pPr>
            <a:lvl3pPr>
              <a:buFontTx/>
              <a:buNone/>
              <a:defRPr sz="1100" b="1">
                <a:solidFill>
                  <a:srgbClr val="707173"/>
                </a:solidFill>
                <a:latin typeface="Tahoma" pitchFamily="34" charset="0"/>
                <a:ea typeface="Tahoma" pitchFamily="34" charset="0"/>
                <a:cs typeface="Tahoma" pitchFamily="34" charset="0"/>
              </a:defRPr>
            </a:lvl3pPr>
          </a:lstStyle>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endParaRPr lang="fr-CH" dirty="0"/>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texte simple">
    <p:spTree>
      <p:nvGrpSpPr>
        <p:cNvPr id="1" name=""/>
        <p:cNvGrpSpPr/>
        <p:nvPr/>
      </p:nvGrpSpPr>
      <p:grpSpPr>
        <a:xfrm>
          <a:off x="0" y="0"/>
          <a:ext cx="0" cy="0"/>
          <a:chOff x="0" y="0"/>
          <a:chExt cx="0" cy="0"/>
        </a:xfrm>
      </p:grpSpPr>
      <p:sp>
        <p:nvSpPr>
          <p:cNvPr id="4" name="Espace réservé du texte 4"/>
          <p:cNvSpPr>
            <a:spLocks noGrp="1"/>
          </p:cNvSpPr>
          <p:nvPr>
            <p:ph type="body" sz="quarter" idx="10" hasCustomPrompt="1"/>
          </p:nvPr>
        </p:nvSpPr>
        <p:spPr>
          <a:xfrm>
            <a:off x="586084" y="1239822"/>
            <a:ext cx="9008063"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Titre</a:t>
            </a:r>
            <a:endParaRPr lang="fr-CH" dirty="0"/>
          </a:p>
        </p:txBody>
      </p:sp>
      <p:sp>
        <p:nvSpPr>
          <p:cNvPr id="6" name="Espace réservé du texte 5"/>
          <p:cNvSpPr>
            <a:spLocks noGrp="1"/>
          </p:cNvSpPr>
          <p:nvPr>
            <p:ph type="body" sz="quarter" idx="11" hasCustomPrompt="1"/>
          </p:nvPr>
        </p:nvSpPr>
        <p:spPr>
          <a:xfrm>
            <a:off x="586315" y="2269887"/>
            <a:ext cx="9008063" cy="4523900"/>
          </a:xfrm>
          <a:prstGeom prst="rect">
            <a:avLst/>
          </a:prstGeom>
        </p:spPr>
        <p:txBody>
          <a:bodyPr/>
          <a:lstStyle>
            <a:lvl1pPr marL="0" indent="0">
              <a:buNone/>
              <a:defRPr sz="2400">
                <a:solidFill>
                  <a:srgbClr val="707173"/>
                </a:solidFill>
                <a:latin typeface="Tahoma" pitchFamily="34" charset="0"/>
                <a:ea typeface="Tahoma" pitchFamily="34" charset="0"/>
                <a:cs typeface="Tahoma" pitchFamily="34" charset="0"/>
              </a:defRPr>
            </a:lvl1pPr>
          </a:lstStyle>
          <a:p>
            <a:pPr lvl="0"/>
            <a:r>
              <a:rPr lang="fr-CH" dirty="0"/>
              <a:t>Texte</a:t>
            </a:r>
          </a:p>
          <a:p>
            <a:pPr lvl="0"/>
            <a:endParaRPr lang="fr-CH" dirty="0"/>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lonnes énumération">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énumération </a:t>
            </a:r>
            <a:endParaRPr lang="fr-CH" dirty="0"/>
          </a:p>
        </p:txBody>
      </p:sp>
      <p:sp>
        <p:nvSpPr>
          <p:cNvPr id="9" name="Espace réservé du texte 8"/>
          <p:cNvSpPr>
            <a:spLocks noGrp="1"/>
          </p:cNvSpPr>
          <p:nvPr>
            <p:ph type="body" sz="quarter" idx="11" hasCustomPrompt="1"/>
          </p:nvPr>
        </p:nvSpPr>
        <p:spPr>
          <a:xfrm>
            <a:off x="594179" y="2411685"/>
            <a:ext cx="3653738" cy="3744415"/>
          </a:xfrm>
          <a:prstGeom prst="rect">
            <a:avLst/>
          </a:prstGeom>
        </p:spPr>
        <p:txBody>
          <a:bodyPr/>
          <a:lstStyle>
            <a:lvl1pPr>
              <a:buFont typeface="Tahoma" pitchFamily="34" charset="0"/>
              <a:buChar char="—"/>
              <a:defRPr sz="1600" b="1" baseline="0">
                <a:solidFill>
                  <a:srgbClr val="707173"/>
                </a:solidFill>
                <a:latin typeface="Tahoma" pitchFamily="34" charset="0"/>
                <a:ea typeface="Tahoma" pitchFamily="34" charset="0"/>
                <a:cs typeface="Tahoma" pitchFamily="34" charset="0"/>
              </a:defRPr>
            </a:lvl1pPr>
            <a:lvl2pPr marL="648000">
              <a:buNone/>
              <a:defRPr sz="1200">
                <a:solidFill>
                  <a:srgbClr val="707173"/>
                </a:solidFill>
                <a:latin typeface="Tahoma" pitchFamily="34" charset="0"/>
                <a:ea typeface="Tahoma" pitchFamily="34" charset="0"/>
                <a:cs typeface="Tahoma" pitchFamily="34" charset="0"/>
              </a:defRPr>
            </a:lvl2pPr>
          </a:lstStyle>
          <a:p>
            <a:pPr lvl="0"/>
            <a:r>
              <a:rPr lang="fr-FR" dirty="0"/>
              <a:t>Titre 1</a:t>
            </a:r>
          </a:p>
          <a:p>
            <a:pPr lvl="1"/>
            <a:r>
              <a:rPr lang="fr-FR" dirty="0"/>
              <a:t>Texte 1</a:t>
            </a:r>
          </a:p>
          <a:p>
            <a:pPr lvl="1"/>
            <a:endParaRPr lang="fr-FR" dirty="0"/>
          </a:p>
          <a:p>
            <a:pPr lvl="0"/>
            <a:r>
              <a:rPr lang="fr-CH" dirty="0"/>
              <a:t>Titre 2</a:t>
            </a:r>
          </a:p>
          <a:p>
            <a:pPr lvl="1"/>
            <a:r>
              <a:rPr lang="fr-CH" dirty="0"/>
              <a:t>Texte 2</a:t>
            </a:r>
          </a:p>
          <a:p>
            <a:pPr lvl="1"/>
            <a:endParaRPr lang="fr-CH" dirty="0"/>
          </a:p>
          <a:p>
            <a:pPr lvl="0"/>
            <a:r>
              <a:rPr lang="fr-CH" dirty="0"/>
              <a:t>Titre 3</a:t>
            </a:r>
          </a:p>
          <a:p>
            <a:pPr lvl="1"/>
            <a:r>
              <a:rPr lang="fr-CH" dirty="0"/>
              <a:t>Texte 3</a:t>
            </a:r>
          </a:p>
        </p:txBody>
      </p:sp>
      <p:sp>
        <p:nvSpPr>
          <p:cNvPr id="15" name="Espace réservé du texte 14"/>
          <p:cNvSpPr>
            <a:spLocks noGrp="1"/>
          </p:cNvSpPr>
          <p:nvPr>
            <p:ph type="body" sz="quarter" idx="12" hasCustomPrompt="1"/>
          </p:nvPr>
        </p:nvSpPr>
        <p:spPr>
          <a:xfrm>
            <a:off x="4500479" y="2411685"/>
            <a:ext cx="3653738" cy="3744416"/>
          </a:xfrm>
          <a:prstGeom prst="rect">
            <a:avLst/>
          </a:prstGeom>
        </p:spPr>
        <p:txBody>
          <a:bodyPr/>
          <a:lstStyle>
            <a:lvl1pPr>
              <a:buFont typeface="Tahoma" pitchFamily="34" charset="0"/>
              <a:buChar char="—"/>
              <a:defRPr sz="1600" b="1">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Titre 4</a:t>
            </a:r>
          </a:p>
          <a:p>
            <a:pPr lvl="1"/>
            <a:r>
              <a:rPr lang="fr-CH" sz="1000" dirty="0">
                <a:solidFill>
                  <a:srgbClr val="707173"/>
                </a:solidFill>
                <a:latin typeface="Tahoma" pitchFamily="34" charset="0"/>
                <a:ea typeface="Tahoma" pitchFamily="34" charset="0"/>
                <a:cs typeface="Tahoma" pitchFamily="34" charset="0"/>
              </a:rPr>
              <a:t>Texte 4</a:t>
            </a:r>
          </a:p>
          <a:p>
            <a:pPr lvl="1"/>
            <a:endParaRPr lang="fr-CH" sz="1000" dirty="0">
              <a:solidFill>
                <a:srgbClr val="707173"/>
              </a:solidFill>
              <a:latin typeface="Tahoma" pitchFamily="34" charset="0"/>
              <a:ea typeface="Tahoma" pitchFamily="34" charset="0"/>
              <a:cs typeface="Tahoma" pitchFamily="34" charset="0"/>
            </a:endParaRPr>
          </a:p>
          <a:p>
            <a:pPr lvl="0"/>
            <a:r>
              <a:rPr lang="fr-CH" dirty="0"/>
              <a:t>Titre 5</a:t>
            </a:r>
          </a:p>
          <a:p>
            <a:pPr lvl="1"/>
            <a:r>
              <a:rPr lang="fr-CH" dirty="0"/>
              <a:t>Texte 5</a:t>
            </a:r>
          </a:p>
          <a:p>
            <a:pPr lvl="1"/>
            <a:endParaRPr lang="fr-CH" dirty="0"/>
          </a:p>
          <a:p>
            <a:pPr lvl="0"/>
            <a:r>
              <a:rPr lang="fr-CH" dirty="0"/>
              <a:t>Titre 6</a:t>
            </a:r>
          </a:p>
          <a:p>
            <a:pPr lvl="1"/>
            <a:r>
              <a:rPr lang="fr-CH" dirty="0"/>
              <a:t>Texte 6</a:t>
            </a:r>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e et photo">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photo</a:t>
            </a:r>
            <a:endParaRPr lang="fr-CH" dirty="0"/>
          </a:p>
        </p:txBody>
      </p:sp>
      <p:sp>
        <p:nvSpPr>
          <p:cNvPr id="15" name="Espace réservé du texte 14"/>
          <p:cNvSpPr>
            <a:spLocks noGrp="1"/>
          </p:cNvSpPr>
          <p:nvPr>
            <p:ph type="body" sz="quarter" idx="12" hasCustomPrompt="1"/>
          </p:nvPr>
        </p:nvSpPr>
        <p:spPr>
          <a:xfrm>
            <a:off x="4605666"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a:p>
            <a:pPr lvl="0"/>
            <a:endParaRPr lang="fr-FR" dirty="0"/>
          </a:p>
        </p:txBody>
      </p:sp>
      <p:sp>
        <p:nvSpPr>
          <p:cNvPr id="3" name="Bildplatzhalter 2"/>
          <p:cNvSpPr>
            <a:spLocks noGrp="1"/>
          </p:cNvSpPr>
          <p:nvPr>
            <p:ph type="pic" sz="quarter" idx="13" hasCustomPrompt="1"/>
          </p:nvPr>
        </p:nvSpPr>
        <p:spPr>
          <a:xfrm>
            <a:off x="665386" y="2413148"/>
            <a:ext cx="3652838" cy="3600450"/>
          </a:xfrm>
          <a:prstGeom prst="rect">
            <a:avLst/>
          </a:prstGeom>
        </p:spPr>
        <p:txBody>
          <a:bodyPr/>
          <a:lstStyle>
            <a:lvl1pPr>
              <a:defRPr/>
            </a:lvl1pPr>
          </a:lstStyle>
          <a:p>
            <a:r>
              <a:rPr lang="fr-CH" dirty="0"/>
              <a:t>Photo</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947829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e et diagramme">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diagramme</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4" name="Diagrammplatzhalter 3"/>
          <p:cNvSpPr>
            <a:spLocks noGrp="1"/>
          </p:cNvSpPr>
          <p:nvPr>
            <p:ph type="chart" sz="quarter" idx="13" hasCustomPrompt="1"/>
          </p:nvPr>
        </p:nvSpPr>
        <p:spPr>
          <a:xfrm>
            <a:off x="665386" y="2411561"/>
            <a:ext cx="3652838" cy="3602037"/>
          </a:xfrm>
          <a:prstGeom prst="rect">
            <a:avLst/>
          </a:prstGeom>
        </p:spPr>
        <p:txBody>
          <a:bodyPr/>
          <a:lstStyle>
            <a:lvl1pPr>
              <a:defRPr/>
            </a:lvl1pPr>
          </a:lstStyle>
          <a:p>
            <a:r>
              <a:rPr lang="fr-CH" dirty="0"/>
              <a:t>Diagramme</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530565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e et Excel">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a:t>
            </a:r>
            <a:r>
              <a:rPr lang="fr-FR" dirty="0" err="1"/>
              <a:t>excel</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3" name="Tabellenplatzhalter 2"/>
          <p:cNvSpPr>
            <a:spLocks noGrp="1"/>
          </p:cNvSpPr>
          <p:nvPr>
            <p:ph type="tbl" sz="quarter" idx="13" hasCustomPrompt="1"/>
          </p:nvPr>
        </p:nvSpPr>
        <p:spPr>
          <a:xfrm>
            <a:off x="665386" y="2411685"/>
            <a:ext cx="3652838" cy="3602037"/>
          </a:xfrm>
          <a:prstGeom prst="rect">
            <a:avLst/>
          </a:prstGeom>
        </p:spPr>
        <p:txBody>
          <a:bodyPr/>
          <a:lstStyle>
            <a:lvl1pPr>
              <a:defRPr/>
            </a:lvl1pPr>
          </a:lstStyle>
          <a:p>
            <a:r>
              <a:rPr lang="fr-CH" dirty="0"/>
              <a:t>Tableau</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45280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e et clip">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500" b="1">
                <a:solidFill>
                  <a:srgbClr val="FF0000"/>
                </a:solidFill>
                <a:latin typeface="Tahoma" pitchFamily="34" charset="0"/>
                <a:ea typeface="Tahoma" pitchFamily="34" charset="0"/>
                <a:cs typeface="Tahoma" pitchFamily="34" charset="0"/>
              </a:defRPr>
            </a:lvl1pPr>
          </a:lstStyle>
          <a:p>
            <a:pPr lvl="0"/>
            <a:r>
              <a:rPr lang="fr-FR" dirty="0"/>
              <a:t>Deux colonnes avec média</a:t>
            </a:r>
            <a:endParaRPr lang="fr-CH" dirty="0"/>
          </a:p>
        </p:txBody>
      </p:sp>
      <p:sp>
        <p:nvSpPr>
          <p:cNvPr id="15" name="Espace réservé du texte 14"/>
          <p:cNvSpPr>
            <a:spLocks noGrp="1"/>
          </p:cNvSpPr>
          <p:nvPr>
            <p:ph type="body" sz="quarter" idx="12" hasCustomPrompt="1"/>
          </p:nvPr>
        </p:nvSpPr>
        <p:spPr>
          <a:xfrm>
            <a:off x="4601771"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4" name="Medienplatzhalter 3"/>
          <p:cNvSpPr>
            <a:spLocks noGrp="1"/>
          </p:cNvSpPr>
          <p:nvPr>
            <p:ph type="media" sz="quarter" idx="13" hasCustomPrompt="1"/>
          </p:nvPr>
        </p:nvSpPr>
        <p:spPr>
          <a:xfrm>
            <a:off x="665386" y="2411685"/>
            <a:ext cx="3652838" cy="3602037"/>
          </a:xfrm>
          <a:prstGeom prst="rect">
            <a:avLst/>
          </a:prstGeom>
        </p:spPr>
        <p:txBody>
          <a:bodyPr/>
          <a:lstStyle>
            <a:lvl1pPr>
              <a:defRPr/>
            </a:lvl1pPr>
          </a:lstStyle>
          <a:p>
            <a:r>
              <a:rPr lang="fr-CH" dirty="0"/>
              <a:t>Média</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287320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e et image online">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Image Online</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3" name="Onlinebild-Platzhalter 2"/>
          <p:cNvSpPr>
            <a:spLocks noGrp="1"/>
          </p:cNvSpPr>
          <p:nvPr>
            <p:ph type="clipArt" sz="quarter" idx="13" hasCustomPrompt="1"/>
          </p:nvPr>
        </p:nvSpPr>
        <p:spPr>
          <a:xfrm>
            <a:off x="665386" y="2411561"/>
            <a:ext cx="3652838" cy="3602037"/>
          </a:xfrm>
          <a:prstGeom prst="rect">
            <a:avLst/>
          </a:prstGeom>
        </p:spPr>
        <p:txBody>
          <a:bodyPr/>
          <a:lstStyle>
            <a:lvl1pPr>
              <a:defRPr/>
            </a:lvl1pPr>
          </a:lstStyle>
          <a:p>
            <a:r>
              <a:rPr lang="fr-CH" dirty="0"/>
              <a:t>Image Online</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236904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grande image">
    <p:spTree>
      <p:nvGrpSpPr>
        <p:cNvPr id="1" name=""/>
        <p:cNvGrpSpPr/>
        <p:nvPr/>
      </p:nvGrpSpPr>
      <p:grpSpPr>
        <a:xfrm>
          <a:off x="0" y="0"/>
          <a:ext cx="0" cy="0"/>
          <a:chOff x="0" y="0"/>
          <a:chExt cx="0" cy="0"/>
        </a:xfrm>
      </p:grpSpPr>
      <p:sp>
        <p:nvSpPr>
          <p:cNvPr id="5" name="Espace réservé du texte 4"/>
          <p:cNvSpPr>
            <a:spLocks noGrp="1"/>
          </p:cNvSpPr>
          <p:nvPr>
            <p:ph type="body" sz="quarter" idx="10" hasCustomPrompt="1"/>
          </p:nvPr>
        </p:nvSpPr>
        <p:spPr>
          <a:xfrm>
            <a:off x="558650" y="1239822"/>
            <a:ext cx="939576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Image</a:t>
            </a:r>
            <a:endParaRPr lang="fr-CH" dirty="0"/>
          </a:p>
        </p:txBody>
      </p:sp>
      <p:sp>
        <p:nvSpPr>
          <p:cNvPr id="3" name="Bildplatzhalter 2"/>
          <p:cNvSpPr>
            <a:spLocks noGrp="1"/>
          </p:cNvSpPr>
          <p:nvPr>
            <p:ph type="pic" sz="quarter" idx="11"/>
          </p:nvPr>
        </p:nvSpPr>
        <p:spPr>
          <a:xfrm>
            <a:off x="665386" y="2339975"/>
            <a:ext cx="9396412" cy="4608513"/>
          </a:xfrm>
          <a:prstGeom prst="rect">
            <a:avLst/>
          </a:prstGeom>
        </p:spPr>
        <p:txBody>
          <a:bodyPr/>
          <a:lstStyle/>
          <a:p>
            <a:r>
              <a:rPr lang="fr-FR"/>
              <a:t>Cliquez sur l'icône pour ajouter une image</a:t>
            </a:r>
            <a:endParaRPr lang="fr-CH"/>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 ">
    <p:spTree>
      <p:nvGrpSpPr>
        <p:cNvPr id="1" name=""/>
        <p:cNvGrpSpPr/>
        <p:nvPr/>
      </p:nvGrpSpPr>
      <p:grpSpPr>
        <a:xfrm>
          <a:off x="0" y="0"/>
          <a:ext cx="0" cy="0"/>
          <a:chOff x="0" y="0"/>
          <a:chExt cx="0" cy="0"/>
        </a:xfrm>
      </p:grpSpPr>
      <p:sp>
        <p:nvSpPr>
          <p:cNvPr id="4" name="Rectangle 3"/>
          <p:cNvSpPr/>
          <p:nvPr userDrawn="1"/>
        </p:nvSpPr>
        <p:spPr>
          <a:xfrm>
            <a:off x="0" y="0"/>
            <a:ext cx="10691813" cy="7559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sz="2053"/>
          </a:p>
        </p:txBody>
      </p:sp>
      <p:sp>
        <p:nvSpPr>
          <p:cNvPr id="2" name="Espace réservé du numéro de diapositive 1"/>
          <p:cNvSpPr>
            <a:spLocks noGrp="1"/>
          </p:cNvSpPr>
          <p:nvPr>
            <p:ph type="sldNum" sz="quarter" idx="10"/>
          </p:nvPr>
        </p:nvSpPr>
        <p:spPr>
          <a:xfrm>
            <a:off x="4143375" y="7007225"/>
            <a:ext cx="2405062" cy="401638"/>
          </a:xfrm>
        </p:spPr>
        <p:txBody>
          <a:bodyPr/>
          <a:lstStyle/>
          <a:p>
            <a:fld id="{4F439F28-9AED-4E6F-B87B-0A4D16674C0E}" type="slidenum">
              <a:rPr lang="fr-CH" smtClean="0"/>
              <a:t>‹N°›</a:t>
            </a:fld>
            <a:endParaRPr lang="fr-C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Grafik 1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306346" y="6943614"/>
            <a:ext cx="720000" cy="292607"/>
          </a:xfrm>
          <a:prstGeom prst="rect">
            <a:avLst/>
          </a:prstGeom>
        </p:spPr>
      </p:pic>
      <p:pic>
        <p:nvPicPr>
          <p:cNvPr id="4" name="Image 3"/>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6467091" y="251445"/>
            <a:ext cx="3559304" cy="756000"/>
          </a:xfrm>
          <a:prstGeom prst="rect">
            <a:avLst/>
          </a:prstGeom>
        </p:spPr>
      </p:pic>
      <p:sp>
        <p:nvSpPr>
          <p:cNvPr id="2" name="Espace réservé du numéro de diapositive 1"/>
          <p:cNvSpPr>
            <a:spLocks noGrp="1"/>
          </p:cNvSpPr>
          <p:nvPr>
            <p:ph type="sldNum" sz="quarter" idx="4"/>
          </p:nvPr>
        </p:nvSpPr>
        <p:spPr>
          <a:xfrm>
            <a:off x="4143375" y="6978599"/>
            <a:ext cx="2405062" cy="401638"/>
          </a:xfrm>
          <a:prstGeom prst="rect">
            <a:avLst/>
          </a:prstGeom>
        </p:spPr>
        <p:txBody>
          <a:bodyPr vert="horz" lIns="91440" tIns="45720" rIns="91440" bIns="45720" rtlCol="0" anchor="ctr"/>
          <a:lstStyle>
            <a:lvl1pPr algn="ctr">
              <a:defRPr sz="1200">
                <a:solidFill>
                  <a:schemeClr val="tx1">
                    <a:tint val="75000"/>
                  </a:schemeClr>
                </a:solidFill>
              </a:defRPr>
            </a:lvl1pPr>
          </a:lstStyle>
          <a:p>
            <a:fld id="{4F439F28-9AED-4E6F-B87B-0A4D16674C0E}" type="slidenum">
              <a:rPr lang="fr-CH" smtClean="0"/>
              <a:pPr/>
              <a:t>‹N°›</a:t>
            </a:fld>
            <a:endParaRPr lang="fr-CH"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8" r:id="rId4"/>
    <p:sldLayoutId id="2147483651" r:id="rId5"/>
    <p:sldLayoutId id="2147483655" r:id="rId6"/>
    <p:sldLayoutId id="2147483653" r:id="rId7"/>
    <p:sldLayoutId id="2147483659" r:id="rId8"/>
    <p:sldLayoutId id="2147483660" r:id="rId9"/>
    <p:sldLayoutId id="2147483661" r:id="rId10"/>
    <p:sldLayoutId id="2147483662" r:id="rId11"/>
    <p:sldLayoutId id="2147483663" r:id="rId12"/>
    <p:sldLayoutId id="2147483652" r:id="rId13"/>
    <p:sldLayoutId id="2147483656" r:id="rId1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8" userDrawn="1">
          <p15:clr>
            <a:srgbClr val="F26B43"/>
          </p15:clr>
        </p15:guide>
        <p15:guide id="2" pos="63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jp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notesSlide" Target="../notesSlides/notesSlide2.xml"/><Relationship Id="rId4"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notesSlide" Target="../notesSlides/notesSlide3.xml"/><Relationship Id="rId4"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notesSlide" Target="../notesSlides/notesSlide4.xml"/><Relationship Id="rId4"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notesSlide" Target="../notesSlides/notesSlide5.xml"/><Relationship Id="rId4"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5.png"/><Relationship Id="rId5" Type="http://schemas.openxmlformats.org/officeDocument/2006/relationships/notesSlide" Target="../notesSlides/notesSlide6.xml"/><Relationship Id="rId4"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notesSlide" Target="../notesSlides/notesSlide7.xml"/><Relationship Id="rId4"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notesSlide" Target="../notesSlides/notesSlide8.xml"/><Relationship Id="rId4"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notesSlide" Target="../notesSlides/notesSlide9.xml"/><Relationship Id="rId4"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notesSlide" Target="../notesSlides/notesSlide10.xml"/><Relationship Id="rId4"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notesSlide" Target="../notesSlides/notesSlide11.xml"/><Relationship Id="rId4"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notesSlide" Target="../notesSlides/notesSlide12.xml"/><Relationship Id="rId4"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tags" Target="../tags/tag39.xml"/><Relationship Id="rId7" Type="http://schemas.openxmlformats.org/officeDocument/2006/relationships/image" Target="../media/image7.emf"/><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6.emf"/><Relationship Id="rId5" Type="http://schemas.openxmlformats.org/officeDocument/2006/relationships/notesSlide" Target="../notesSlides/notesSlide13.xml"/><Relationship Id="rId4"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notesSlide" Target="../notesSlides/notesSlide14.xml"/><Relationship Id="rId4"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Chaine des incertitudes</a:t>
            </a:r>
          </a:p>
          <a:p>
            <a:r>
              <a:rPr lang="fr-CH" dirty="0"/>
              <a:t>en robotiques industrielle</a:t>
            </a:r>
          </a:p>
        </p:txBody>
      </p:sp>
      <p:pic>
        <p:nvPicPr>
          <p:cNvPr id="8" name="Bildplatzhalter 7"/>
          <p:cNvPicPr>
            <a:picLocks noGrp="1" noChangeAspect="1"/>
          </p:cNvPicPr>
          <p:nvPr>
            <p:ph type="pic" sz="quarter" idx="12"/>
            <p:custDataLst>
              <p:tags r:id="rId2"/>
            </p:custDataLst>
          </p:nvPr>
        </p:nvPicPr>
        <p:blipFill>
          <a:blip r:embed="rId6">
            <a:extLst>
              <a:ext uri="{28A0092B-C50C-407E-A947-70E740481C1C}">
                <a14:useLocalDpi xmlns:a14="http://schemas.microsoft.com/office/drawing/2010/main" val="0"/>
              </a:ext>
            </a:extLst>
          </a:blip>
          <a:srcRect t="39033" b="39033"/>
          <a:stretch>
            <a:fillRect/>
          </a:stretch>
        </p:blipFill>
        <p:spPr/>
      </p:pic>
      <p:sp>
        <p:nvSpPr>
          <p:cNvPr id="2" name="Espace réservé du numéro de diapositive 1"/>
          <p:cNvSpPr>
            <a:spLocks noGrp="1"/>
          </p:cNvSpPr>
          <p:nvPr>
            <p:ph type="sldNum" sz="quarter" idx="13"/>
            <p:custDataLst>
              <p:tags r:id="rId3"/>
            </p:custDataLst>
          </p:nvPr>
        </p:nvSpPr>
        <p:spPr>
          <a:xfrm>
            <a:off x="4143375" y="6978599"/>
            <a:ext cx="2405062" cy="401638"/>
          </a:xfrm>
        </p:spPr>
        <p:txBody>
          <a:bodyPr/>
          <a:lstStyle/>
          <a:p>
            <a:pPr algn="ctr"/>
            <a:fld id="{4F439F28-9AED-4E6F-B87B-0A4D16674C0E}" type="slidenum">
              <a:rPr lang="fr-CH" smtClean="0"/>
              <a:pPr algn="ctr"/>
              <a:t>1</a:t>
            </a:fld>
            <a:endParaRPr lang="fr-CH" dirty="0"/>
          </a:p>
        </p:txBody>
      </p:sp>
    </p:spTree>
    <p:extLst>
      <p:ext uri="{BB962C8B-B14F-4D97-AF65-F5344CB8AC3E}">
        <p14:creationId xmlns:p14="http://schemas.microsoft.com/office/powerpoint/2010/main" val="166840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p:cNvSpPr>
            <a:spLocks noGrp="1"/>
          </p:cNvSpPr>
          <p:nvPr>
            <p:ph type="body" sz="quarter" idx="10"/>
            <p:custDataLst>
              <p:tags r:id="rId1"/>
            </p:custDataLst>
          </p:nvPr>
        </p:nvSpPr>
        <p:spPr>
          <a:xfrm>
            <a:off x="558278" y="1170765"/>
            <a:ext cx="9008063" cy="793667"/>
          </a:xfrm>
        </p:spPr>
        <p:txBody>
          <a:bodyPr/>
          <a:lstStyle/>
          <a:p>
            <a:r>
              <a:rPr lang="fr-CH" dirty="0"/>
              <a:t>Sommaire </a:t>
            </a:r>
          </a:p>
        </p:txBody>
      </p:sp>
      <p:sp>
        <p:nvSpPr>
          <p:cNvPr id="9" name="Textplatzhalter 8"/>
          <p:cNvSpPr>
            <a:spLocks noGrp="1"/>
          </p:cNvSpPr>
          <p:nvPr>
            <p:ph type="body" sz="quarter" idx="11"/>
            <p:custDataLst>
              <p:tags r:id="rId2"/>
            </p:custDataLst>
          </p:nvPr>
        </p:nvSpPr>
        <p:spPr>
          <a:xfrm>
            <a:off x="576000" y="2411685"/>
            <a:ext cx="7722234" cy="3672408"/>
          </a:xfrm>
        </p:spPr>
        <p:txBody>
          <a:bodyPr/>
          <a:lstStyle/>
          <a:p>
            <a:r>
              <a:rPr lang="fr-CH" sz="2000" dirty="0"/>
              <a:t>Catégorie, types et sources des erreurs</a:t>
            </a:r>
            <a:endParaRPr lang="en-US" sz="2000" dirty="0"/>
          </a:p>
          <a:p>
            <a:r>
              <a:rPr lang="en-US" sz="2000" dirty="0"/>
              <a:t>Estimation </a:t>
            </a:r>
            <a:r>
              <a:rPr lang="en-US" sz="2000"/>
              <a:t>de des incertitude </a:t>
            </a:r>
            <a:r>
              <a:rPr lang="en-US" sz="2000" dirty="0"/>
              <a:t>(Worst case)</a:t>
            </a:r>
          </a:p>
          <a:p>
            <a:r>
              <a:rPr lang="en-US" sz="2000" dirty="0" err="1"/>
              <a:t>Exercice</a:t>
            </a:r>
            <a:endParaRPr lang="en-US" sz="2000" dirty="0"/>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2</a:t>
            </a:fld>
            <a:endParaRPr lang="fr-CH" dirty="0"/>
          </a:p>
        </p:txBody>
      </p:sp>
    </p:spTree>
    <p:extLst>
      <p:ext uri="{BB962C8B-B14F-4D97-AF65-F5344CB8AC3E}">
        <p14:creationId xmlns:p14="http://schemas.microsoft.com/office/powerpoint/2010/main" val="3240864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Erreurs</a:t>
            </a:r>
            <a:r>
              <a:rPr lang="en-US" dirty="0"/>
              <a:t> </a:t>
            </a:r>
            <a:r>
              <a:rPr lang="en-US" dirty="0" err="1"/>
              <a:t>intrinsèques</a:t>
            </a:r>
            <a:r>
              <a:rPr lang="en-US" dirty="0"/>
              <a:t> (ensemble </a:t>
            </a:r>
            <a:r>
              <a:rPr lang="en-US" dirty="0" err="1"/>
              <a:t>commande</a:t>
            </a:r>
            <a:r>
              <a:rPr lang="en-US" dirty="0"/>
              <a:t>, robot, cellule)</a:t>
            </a:r>
          </a:p>
        </p:txBody>
      </p:sp>
      <p:sp>
        <p:nvSpPr>
          <p:cNvPr id="3" name="Espace réservé du texte 2"/>
          <p:cNvSpPr>
            <a:spLocks noGrp="1"/>
          </p:cNvSpPr>
          <p:nvPr>
            <p:ph type="body" sz="quarter" idx="11"/>
            <p:custDataLst>
              <p:tags r:id="rId2"/>
            </p:custDataLst>
          </p:nvPr>
        </p:nvSpPr>
        <p:spPr>
          <a:xfrm>
            <a:off x="575999" y="2411685"/>
            <a:ext cx="9008063" cy="4104456"/>
          </a:xfrm>
        </p:spPr>
        <p:txBody>
          <a:bodyPr/>
          <a:lstStyle/>
          <a:p>
            <a:pPr indent="-342900">
              <a:buFontTx/>
              <a:buChar char="-"/>
            </a:pPr>
            <a:r>
              <a:rPr lang="fr-CH" sz="2000" b="0" dirty="0"/>
              <a:t>Erreur de géométrie (perpendicularité, linéarité)</a:t>
            </a:r>
          </a:p>
          <a:p>
            <a:pPr indent="-342900">
              <a:buFontTx/>
              <a:buChar char="-"/>
            </a:pPr>
            <a:r>
              <a:rPr lang="fr-CH" sz="2000" b="0" dirty="0"/>
              <a:t>Erreurs dues aux drives</a:t>
            </a:r>
          </a:p>
          <a:p>
            <a:pPr indent="-342900">
              <a:buFontTx/>
              <a:buChar char="-"/>
            </a:pPr>
            <a:r>
              <a:rPr lang="fr-CH" sz="2000" b="0" dirty="0"/>
              <a:t>Déviation thermique</a:t>
            </a:r>
          </a:p>
          <a:p>
            <a:pPr indent="-342900">
              <a:buFontTx/>
              <a:buChar char="-"/>
            </a:pPr>
            <a:r>
              <a:rPr lang="fr-CH" sz="2000" b="0" dirty="0"/>
              <a:t>Déformation (charge)</a:t>
            </a:r>
          </a:p>
          <a:p>
            <a:pPr indent="-342900">
              <a:buFontTx/>
              <a:buChar char="-"/>
            </a:pPr>
            <a:r>
              <a:rPr lang="fr-CH" sz="2000" b="0" dirty="0"/>
              <a:t>Effets dynamique (vibrations)</a:t>
            </a:r>
          </a:p>
          <a:p>
            <a:pPr indent="-342900">
              <a:buFontTx/>
              <a:buChar char="-"/>
            </a:pPr>
            <a:r>
              <a:rPr lang="fr-CH" sz="2000" b="0" dirty="0"/>
              <a:t>…</a:t>
            </a:r>
          </a:p>
          <a:p>
            <a:pPr marL="0" indent="0">
              <a:buNone/>
            </a:pPr>
            <a:endParaRPr lang="fr-CH" sz="2000" b="0" dirty="0"/>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3</a:t>
            </a:fld>
            <a:endParaRPr lang="fr-CH" dirty="0"/>
          </a:p>
        </p:txBody>
      </p:sp>
    </p:spTree>
    <p:extLst>
      <p:ext uri="{BB962C8B-B14F-4D97-AF65-F5344CB8AC3E}">
        <p14:creationId xmlns:p14="http://schemas.microsoft.com/office/powerpoint/2010/main" val="168408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Erreurs</a:t>
            </a:r>
            <a:r>
              <a:rPr lang="en-US" dirty="0"/>
              <a:t> </a:t>
            </a:r>
            <a:r>
              <a:rPr lang="en-US" dirty="0" err="1"/>
              <a:t>extrinsèques</a:t>
            </a:r>
            <a:r>
              <a:rPr lang="en-US" dirty="0"/>
              <a:t> (</a:t>
            </a:r>
            <a:r>
              <a:rPr lang="en-US" dirty="0" err="1"/>
              <a:t>Utilisateur</a:t>
            </a:r>
            <a:r>
              <a:rPr lang="en-US" dirty="0"/>
              <a:t>, </a:t>
            </a:r>
            <a:r>
              <a:rPr lang="en-US" dirty="0" err="1"/>
              <a:t>éléments</a:t>
            </a:r>
            <a:r>
              <a:rPr lang="en-US" dirty="0"/>
              <a:t> </a:t>
            </a:r>
            <a:r>
              <a:rPr lang="en-US" dirty="0" err="1"/>
              <a:t>externe</a:t>
            </a:r>
            <a:r>
              <a:rPr lang="en-US" dirty="0"/>
              <a:t> </a:t>
            </a:r>
            <a:r>
              <a:rPr lang="en-US" dirty="0" err="1"/>
              <a:t>amené</a:t>
            </a:r>
            <a:r>
              <a:rPr lang="en-US" dirty="0"/>
              <a:t> </a:t>
            </a:r>
            <a:r>
              <a:rPr lang="en-US" dirty="0" err="1"/>
              <a:t>dans</a:t>
            </a:r>
            <a:r>
              <a:rPr lang="en-US" dirty="0"/>
              <a:t> la cellule)</a:t>
            </a:r>
          </a:p>
        </p:txBody>
      </p:sp>
      <p:sp>
        <p:nvSpPr>
          <p:cNvPr id="3" name="Espace réservé du texte 2"/>
          <p:cNvSpPr>
            <a:spLocks noGrp="1"/>
          </p:cNvSpPr>
          <p:nvPr>
            <p:ph type="body" sz="quarter" idx="11"/>
            <p:custDataLst>
              <p:tags r:id="rId2"/>
            </p:custDataLst>
          </p:nvPr>
        </p:nvSpPr>
        <p:spPr>
          <a:xfrm>
            <a:off x="575999" y="2411685"/>
            <a:ext cx="9008063" cy="4104456"/>
          </a:xfrm>
        </p:spPr>
        <p:txBody>
          <a:bodyPr/>
          <a:lstStyle/>
          <a:p>
            <a:pPr indent="-342900">
              <a:buFontTx/>
              <a:buChar char="-"/>
            </a:pPr>
            <a:r>
              <a:rPr lang="fr-CH" sz="2000" b="0" dirty="0"/>
              <a:t>Erreurs de définition du </a:t>
            </a:r>
            <a:r>
              <a:rPr lang="fr-CH" sz="2000" b="0" dirty="0" err="1"/>
              <a:t>tool</a:t>
            </a:r>
            <a:endParaRPr lang="fr-CH" sz="2000" b="0" dirty="0"/>
          </a:p>
          <a:p>
            <a:pPr indent="-342900">
              <a:buFontTx/>
              <a:buChar char="-"/>
            </a:pPr>
            <a:r>
              <a:rPr lang="fr-CH" sz="2000" b="0" dirty="0"/>
              <a:t>Erreurs dues au «</a:t>
            </a:r>
            <a:r>
              <a:rPr lang="fr-CH" sz="2000" b="0" dirty="0" err="1"/>
              <a:t>teaching</a:t>
            </a:r>
            <a:r>
              <a:rPr lang="fr-CH" sz="2000" b="0" dirty="0"/>
              <a:t>»</a:t>
            </a:r>
          </a:p>
          <a:p>
            <a:pPr indent="-342900">
              <a:buFontTx/>
              <a:buChar char="-"/>
            </a:pPr>
            <a:r>
              <a:rPr lang="fr-CH" sz="2000" b="0" dirty="0"/>
              <a:t>Jeu dans les actuateurs</a:t>
            </a:r>
          </a:p>
          <a:p>
            <a:pPr indent="-342900">
              <a:buFontTx/>
              <a:buChar char="-"/>
            </a:pPr>
            <a:r>
              <a:rPr lang="fr-CH" sz="2000" b="0" dirty="0"/>
              <a:t>Jeu de posages</a:t>
            </a:r>
          </a:p>
          <a:p>
            <a:pPr indent="-342900">
              <a:buFontTx/>
              <a:buChar char="-"/>
            </a:pPr>
            <a:r>
              <a:rPr lang="fr-CH" sz="2000" b="0" dirty="0"/>
              <a:t>Imprécision dimensionnelle des pièces</a:t>
            </a:r>
          </a:p>
          <a:p>
            <a:pPr indent="-342900">
              <a:buFontTx/>
              <a:buChar char="-"/>
            </a:pPr>
            <a:r>
              <a:rPr lang="fr-CH" sz="2000" b="0" dirty="0"/>
              <a:t>…</a:t>
            </a:r>
          </a:p>
          <a:p>
            <a:pPr marL="0" indent="0">
              <a:buNone/>
            </a:pPr>
            <a:endParaRPr lang="fr-CH" sz="2000" b="0" dirty="0"/>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4</a:t>
            </a:fld>
            <a:endParaRPr lang="fr-CH" dirty="0"/>
          </a:p>
        </p:txBody>
      </p:sp>
    </p:spTree>
    <p:extLst>
      <p:ext uri="{BB962C8B-B14F-4D97-AF65-F5344CB8AC3E}">
        <p14:creationId xmlns:p14="http://schemas.microsoft.com/office/powerpoint/2010/main" val="756088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a:t>Types </a:t>
            </a:r>
            <a:r>
              <a:rPr lang="en-US" dirty="0" err="1"/>
              <a:t>d’erreurs</a:t>
            </a:r>
            <a:endParaRPr lang="en-US" dirty="0"/>
          </a:p>
        </p:txBody>
      </p:sp>
      <p:sp>
        <p:nvSpPr>
          <p:cNvPr id="3" name="Espace réservé du texte 2"/>
          <p:cNvSpPr>
            <a:spLocks noGrp="1"/>
          </p:cNvSpPr>
          <p:nvPr>
            <p:ph type="body" sz="quarter" idx="11"/>
            <p:custDataLst>
              <p:tags r:id="rId2"/>
            </p:custDataLst>
          </p:nvPr>
        </p:nvSpPr>
        <p:spPr>
          <a:xfrm>
            <a:off x="575999" y="2411685"/>
            <a:ext cx="9008063" cy="4104456"/>
          </a:xfrm>
        </p:spPr>
        <p:txBody>
          <a:bodyPr/>
          <a:lstStyle/>
          <a:p>
            <a:pPr indent="-342900">
              <a:buFontTx/>
              <a:buChar char="-"/>
            </a:pPr>
            <a:r>
              <a:rPr lang="fr-CH" sz="2000" b="0" dirty="0"/>
              <a:t>Erreur systématique</a:t>
            </a:r>
          </a:p>
          <a:p>
            <a:pPr lvl="1" indent="-342900">
              <a:buFontTx/>
              <a:buChar char="-"/>
            </a:pPr>
            <a:r>
              <a:rPr lang="fr-CH" sz="1600" dirty="0"/>
              <a:t>Moyenne non nulle</a:t>
            </a:r>
          </a:p>
          <a:p>
            <a:pPr lvl="1" indent="-342900">
              <a:buFontTx/>
              <a:buChar char="-"/>
            </a:pPr>
            <a:r>
              <a:rPr lang="fr-CH" sz="1600" b="0" dirty="0"/>
              <a:t>Corrigibles par étalonnage («Calibration»)</a:t>
            </a:r>
          </a:p>
          <a:p>
            <a:pPr indent="-342900">
              <a:buFontTx/>
              <a:buChar char="-"/>
            </a:pPr>
            <a:r>
              <a:rPr lang="fr-CH" sz="2000" b="0" dirty="0"/>
              <a:t>Erreur aléatoires</a:t>
            </a:r>
          </a:p>
          <a:p>
            <a:pPr lvl="1" indent="-342900">
              <a:buFontTx/>
              <a:buChar char="-"/>
            </a:pPr>
            <a:r>
              <a:rPr lang="fr-CH" sz="1600" dirty="0"/>
              <a:t>Moyenne nulle</a:t>
            </a:r>
          </a:p>
          <a:p>
            <a:pPr lvl="1" indent="-342900">
              <a:buFontTx/>
              <a:buChar char="-"/>
            </a:pPr>
            <a:r>
              <a:rPr lang="fr-CH" sz="1600" b="0" dirty="0" err="1"/>
              <a:t>Worst</a:t>
            </a:r>
            <a:r>
              <a:rPr lang="fr-CH" sz="1600" b="0" dirty="0"/>
              <a:t> case : +- 3 sigmas</a:t>
            </a:r>
          </a:p>
          <a:p>
            <a:pPr lvl="1" indent="-342900">
              <a:buFontTx/>
              <a:buChar char="-"/>
            </a:pPr>
            <a:endParaRPr lang="fr-CH" sz="1600" dirty="0"/>
          </a:p>
          <a:p>
            <a:pPr lvl="1" indent="-342900">
              <a:buFontTx/>
              <a:buChar char="-"/>
            </a:pPr>
            <a:endParaRPr lang="fr-CH" sz="1600" b="0" dirty="0"/>
          </a:p>
          <a:p>
            <a:pPr marL="845100" lvl="1" indent="0"/>
            <a:endParaRPr lang="fr-CH" sz="1600" b="0" dirty="0"/>
          </a:p>
          <a:p>
            <a:pPr marL="0" indent="0">
              <a:buNone/>
            </a:pPr>
            <a:endParaRPr lang="fr-CH" sz="2000" b="0" dirty="0"/>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5</a:t>
            </a:fld>
            <a:endParaRPr lang="fr-CH" dirty="0"/>
          </a:p>
        </p:txBody>
      </p:sp>
    </p:spTree>
    <p:extLst>
      <p:ext uri="{BB962C8B-B14F-4D97-AF65-F5344CB8AC3E}">
        <p14:creationId xmlns:p14="http://schemas.microsoft.com/office/powerpoint/2010/main" val="40248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Erreur</a:t>
            </a:r>
            <a:r>
              <a:rPr lang="en-US" dirty="0"/>
              <a:t> de definition du tool</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6</a:t>
            </a:fld>
            <a:endParaRPr lang="fr-CH" dirty="0"/>
          </a:p>
        </p:txBody>
      </p:sp>
      <p:pic>
        <p:nvPicPr>
          <p:cNvPr id="6" name="Image 5"/>
          <p:cNvPicPr>
            <a:picLocks noChangeAspect="1"/>
          </p:cNvPicPr>
          <p:nvPr/>
        </p:nvPicPr>
        <p:blipFill>
          <a:blip r:embed="rId6"/>
          <a:stretch>
            <a:fillRect/>
          </a:stretch>
        </p:blipFill>
        <p:spPr>
          <a:xfrm>
            <a:off x="1241450" y="3131765"/>
            <a:ext cx="8208912" cy="3754384"/>
          </a:xfrm>
          <a:prstGeom prst="rect">
            <a:avLst/>
          </a:prstGeom>
        </p:spPr>
      </p:pic>
      <p:sp>
        <p:nvSpPr>
          <p:cNvPr id="7" name="Espace réservé du texte 2"/>
          <p:cNvSpPr>
            <a:spLocks noGrp="1"/>
          </p:cNvSpPr>
          <p:nvPr>
            <p:ph type="body" sz="quarter" idx="11"/>
            <p:custDataLst>
              <p:tags r:id="rId3"/>
            </p:custDataLst>
          </p:nvPr>
        </p:nvSpPr>
        <p:spPr>
          <a:xfrm>
            <a:off x="575999" y="2144095"/>
            <a:ext cx="9008063" cy="987670"/>
          </a:xfrm>
        </p:spPr>
        <p:txBody>
          <a:bodyPr/>
          <a:lstStyle/>
          <a:p>
            <a:pPr marL="0" indent="0">
              <a:buNone/>
            </a:pPr>
            <a:r>
              <a:rPr lang="fr-CH" sz="2000" b="0" dirty="0"/>
              <a:t>TCP (Tool Center Point) qu’est-ce que c’est?</a:t>
            </a:r>
          </a:p>
          <a:p>
            <a:pPr marL="0" indent="0">
              <a:buNone/>
            </a:pPr>
            <a:r>
              <a:rPr lang="fr-CH" sz="2000" b="0" dirty="0"/>
              <a:t>C’est un décalage appris par rapport au flasque (</a:t>
            </a:r>
            <a:r>
              <a:rPr lang="fr-CH" sz="2000" b="0" dirty="0" err="1"/>
              <a:t>tool</a:t>
            </a:r>
            <a:r>
              <a:rPr lang="fr-CH" sz="2000" b="0" dirty="0"/>
              <a:t> </a:t>
            </a:r>
            <a:r>
              <a:rPr lang="fr-CH" sz="2000" b="0" dirty="0" err="1"/>
              <a:t>null</a:t>
            </a:r>
            <a:r>
              <a:rPr lang="fr-CH" sz="2000" b="0" dirty="0"/>
              <a:t>).</a:t>
            </a:r>
          </a:p>
        </p:txBody>
      </p:sp>
    </p:spTree>
    <p:extLst>
      <p:ext uri="{BB962C8B-B14F-4D97-AF65-F5344CB8AC3E}">
        <p14:creationId xmlns:p14="http://schemas.microsoft.com/office/powerpoint/2010/main" val="3659877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Erreur</a:t>
            </a:r>
            <a:r>
              <a:rPr lang="en-US" dirty="0"/>
              <a:t> de definition du tool</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7</a:t>
            </a:fld>
            <a:endParaRPr lang="fr-CH" dirty="0"/>
          </a:p>
        </p:txBody>
      </p:sp>
      <p:sp>
        <p:nvSpPr>
          <p:cNvPr id="7" name="Espace réservé du texte 2"/>
          <p:cNvSpPr>
            <a:spLocks noGrp="1"/>
          </p:cNvSpPr>
          <p:nvPr>
            <p:ph type="body" sz="quarter" idx="11"/>
            <p:custDataLst>
              <p:tags r:id="rId3"/>
            </p:custDataLst>
          </p:nvPr>
        </p:nvSpPr>
        <p:spPr>
          <a:xfrm>
            <a:off x="575999" y="2144095"/>
            <a:ext cx="9008063" cy="4300038"/>
          </a:xfrm>
        </p:spPr>
        <p:txBody>
          <a:bodyPr/>
          <a:lstStyle/>
          <a:p>
            <a:pPr marL="0" indent="0">
              <a:buNone/>
            </a:pPr>
            <a:r>
              <a:rPr lang="fr-CH" sz="2000" b="0" dirty="0"/>
              <a:t>Pourquoi l’apprentissage de l’outil est-il important?</a:t>
            </a:r>
          </a:p>
          <a:p>
            <a:pPr marL="0" indent="0">
              <a:buNone/>
            </a:pPr>
            <a:endParaRPr lang="fr-CH" sz="2000" b="0" dirty="0"/>
          </a:p>
          <a:p>
            <a:pPr indent="-342900">
              <a:buFontTx/>
              <a:buChar char="-"/>
            </a:pPr>
            <a:r>
              <a:rPr lang="fr-CH" sz="2000" b="0" dirty="0"/>
              <a:t>Les déplacements manuels en mode outils sont réalisés d’après ce point et selon son orientation</a:t>
            </a:r>
          </a:p>
          <a:p>
            <a:pPr indent="-342900">
              <a:buFontTx/>
              <a:buChar char="-"/>
            </a:pPr>
            <a:r>
              <a:rPr lang="fr-CH" sz="2000" b="0" dirty="0"/>
              <a:t>La précision des points appris dépend directement de la précision du </a:t>
            </a:r>
            <a:r>
              <a:rPr lang="fr-CH" sz="2000" b="0" dirty="0" err="1"/>
              <a:t>tool</a:t>
            </a:r>
            <a:endParaRPr lang="fr-CH" sz="2000" b="0" dirty="0"/>
          </a:p>
          <a:p>
            <a:pPr indent="-342900">
              <a:buFontTx/>
              <a:buChar char="-"/>
            </a:pPr>
            <a:r>
              <a:rPr lang="fr-CH" sz="2000" b="0" dirty="0"/>
              <a:t>Les vitesses de déplacement sont calculées d’après le TCP</a:t>
            </a:r>
          </a:p>
          <a:p>
            <a:pPr indent="-342900">
              <a:buFontTx/>
              <a:buChar char="-"/>
            </a:pPr>
            <a:r>
              <a:rPr lang="fr-CH" sz="2000" b="0" dirty="0"/>
              <a:t>Le robot va suivre une trajectoire définie avec le TCP</a:t>
            </a:r>
          </a:p>
          <a:p>
            <a:pPr indent="-342900">
              <a:buFontTx/>
              <a:buChar char="-"/>
            </a:pPr>
            <a:r>
              <a:rPr lang="fr-CH" sz="2000" b="0" dirty="0"/>
              <a:t>Lors d’un changement d’outils, l’erreur d’apprentissage des points est reportée sur le nouvel outil. (Si pas de changement d’outil, </a:t>
            </a:r>
            <a:r>
              <a:rPr lang="fr-CH" sz="2000" b="0"/>
              <a:t>moins critique pour du P&amp;P)</a:t>
            </a:r>
            <a:endParaRPr lang="fr-CH" sz="2000" b="0" dirty="0"/>
          </a:p>
          <a:p>
            <a:pPr marL="0" indent="0">
              <a:buNone/>
            </a:pPr>
            <a:endParaRPr lang="fr-CH" sz="2000" b="0" dirty="0"/>
          </a:p>
        </p:txBody>
      </p:sp>
    </p:spTree>
    <p:extLst>
      <p:ext uri="{BB962C8B-B14F-4D97-AF65-F5344CB8AC3E}">
        <p14:creationId xmlns:p14="http://schemas.microsoft.com/office/powerpoint/2010/main" val="1957604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Erreur</a:t>
            </a:r>
            <a:r>
              <a:rPr lang="en-US" dirty="0"/>
              <a:t> de definition du tool</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8</a:t>
            </a:fld>
            <a:endParaRPr lang="fr-CH" dirty="0"/>
          </a:p>
        </p:txBody>
      </p:sp>
      <p:sp>
        <p:nvSpPr>
          <p:cNvPr id="7" name="Espace réservé du texte 2"/>
          <p:cNvSpPr>
            <a:spLocks noGrp="1"/>
          </p:cNvSpPr>
          <p:nvPr>
            <p:ph type="body" sz="quarter" idx="11"/>
            <p:custDataLst>
              <p:tags r:id="rId3"/>
            </p:custDataLst>
          </p:nvPr>
        </p:nvSpPr>
        <p:spPr>
          <a:xfrm>
            <a:off x="575999" y="2144095"/>
            <a:ext cx="9008063" cy="4300038"/>
          </a:xfrm>
        </p:spPr>
        <p:txBody>
          <a:bodyPr/>
          <a:lstStyle/>
          <a:p>
            <a:pPr marL="0" indent="0">
              <a:buNone/>
            </a:pPr>
            <a:r>
              <a:rPr lang="fr-CH" sz="2000" b="0" dirty="0"/>
              <a:t>Il y a plusieurs manières d’apprendre un outil.</a:t>
            </a:r>
          </a:p>
          <a:p>
            <a:pPr indent="-342900">
              <a:buFontTx/>
              <a:buChar char="-"/>
            </a:pPr>
            <a:r>
              <a:rPr lang="fr-CH" sz="2000" dirty="0">
                <a:solidFill>
                  <a:srgbClr val="FF0000"/>
                </a:solidFill>
              </a:rPr>
              <a:t>La méthode directe ou l’opérateur entre directement les coordonnées du TCP</a:t>
            </a:r>
          </a:p>
          <a:p>
            <a:pPr marL="0" indent="0">
              <a:buNone/>
            </a:pPr>
            <a:r>
              <a:rPr lang="fr-CH" sz="2000" b="0" dirty="0"/>
              <a:t>	Ces données viennent directement de la CAO ou de la mesure de 	l’outil. La différence entre un outil réel et un outil simulé dépend 	directement de la précision d’usinage et d’assemblage.</a:t>
            </a:r>
          </a:p>
          <a:p>
            <a:pPr marL="0" indent="0">
              <a:buNone/>
            </a:pPr>
            <a:r>
              <a:rPr lang="fr-CH" sz="2000" b="0" dirty="0"/>
              <a:t>	</a:t>
            </a:r>
            <a:r>
              <a:rPr lang="fr-CH" sz="2000" dirty="0">
                <a:solidFill>
                  <a:srgbClr val="FF0000"/>
                </a:solidFill>
              </a:rPr>
              <a:t>Nous considèrerons l’erreur d’usinage ~= 0.05 mm</a:t>
            </a:r>
          </a:p>
          <a:p>
            <a:pPr indent="-342900">
              <a:buFontTx/>
              <a:buChar char="-"/>
            </a:pPr>
            <a:r>
              <a:rPr lang="fr-CH" sz="2000" dirty="0">
                <a:solidFill>
                  <a:srgbClr val="FF0000"/>
                </a:solidFill>
              </a:rPr>
              <a:t>Calcul de l’outil par différence entre deux repère (grossier)</a:t>
            </a:r>
          </a:p>
          <a:p>
            <a:pPr marL="0" indent="0">
              <a:buNone/>
            </a:pPr>
            <a:endParaRPr lang="fr-CH" sz="2000" b="0" dirty="0"/>
          </a:p>
        </p:txBody>
      </p:sp>
    </p:spTree>
    <p:extLst>
      <p:ext uri="{BB962C8B-B14F-4D97-AF65-F5344CB8AC3E}">
        <p14:creationId xmlns:p14="http://schemas.microsoft.com/office/powerpoint/2010/main" val="1960161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Erreur</a:t>
            </a:r>
            <a:r>
              <a:rPr lang="en-US" dirty="0"/>
              <a:t> de definition du tool</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9</a:t>
            </a:fld>
            <a:endParaRPr lang="fr-CH" dirty="0"/>
          </a:p>
        </p:txBody>
      </p:sp>
      <p:sp>
        <p:nvSpPr>
          <p:cNvPr id="7" name="Espace réservé du texte 2"/>
          <p:cNvSpPr>
            <a:spLocks noGrp="1"/>
          </p:cNvSpPr>
          <p:nvPr>
            <p:ph type="body" sz="quarter" idx="11"/>
            <p:custDataLst>
              <p:tags r:id="rId3"/>
            </p:custDataLst>
          </p:nvPr>
        </p:nvSpPr>
        <p:spPr>
          <a:xfrm>
            <a:off x="575999" y="2144095"/>
            <a:ext cx="9008063" cy="4300038"/>
          </a:xfrm>
        </p:spPr>
        <p:txBody>
          <a:bodyPr/>
          <a:lstStyle/>
          <a:p>
            <a:pPr indent="-342900">
              <a:buFontTx/>
              <a:buChar char="-"/>
            </a:pPr>
            <a:r>
              <a:rPr lang="fr-CH" sz="2000" dirty="0">
                <a:solidFill>
                  <a:srgbClr val="FF0000"/>
                </a:solidFill>
              </a:rPr>
              <a:t>Utilisation de systèmes de mesures dédiés</a:t>
            </a:r>
          </a:p>
          <a:p>
            <a:pPr marL="0" indent="0">
              <a:buNone/>
            </a:pPr>
            <a:r>
              <a:rPr lang="fr-CH" sz="2000" b="0" dirty="0"/>
              <a:t>Chez certains fabricants de robot il y a des méthodes intégrées d’apprentissage de l’outil. Il est également possible de trouver des systèmes externe permettant également ces opérations. (ex: Palpeur </a:t>
            </a:r>
            <a:r>
              <a:rPr lang="fr-CH" sz="2000" b="0" dirty="0" err="1"/>
              <a:t>Renishaw</a:t>
            </a:r>
            <a:r>
              <a:rPr lang="fr-CH" sz="2000" b="0" dirty="0"/>
              <a:t>, </a:t>
            </a:r>
            <a:r>
              <a:rPr lang="fr-CH" sz="2000" b="0" dirty="0" err="1"/>
              <a:t>Advintec</a:t>
            </a:r>
            <a:r>
              <a:rPr lang="fr-CH" sz="2000" b="0" dirty="0"/>
              <a:t> TCP (</a:t>
            </a:r>
            <a:r>
              <a:rPr lang="fr-CH" sz="2000" b="0" dirty="0" err="1"/>
              <a:t>leoni</a:t>
            </a:r>
            <a:r>
              <a:rPr lang="fr-CH" sz="2000" b="0" dirty="0"/>
              <a:t>).</a:t>
            </a:r>
          </a:p>
          <a:p>
            <a:pPr marL="0" indent="0">
              <a:buNone/>
            </a:pPr>
            <a:r>
              <a:rPr lang="fr-CH" sz="2000" b="0" dirty="0"/>
              <a:t>Ex: On déplace l’outil au même point avec 4 orientations différentes, on obtient ainsi les coordonnées(x, y, z) de l’outil. Il faudra ensuite apprendre les orientations (</a:t>
            </a:r>
            <a:r>
              <a:rPr lang="fr-CH" sz="2000" b="0" dirty="0" err="1"/>
              <a:t>Rx,Ry,Rz</a:t>
            </a:r>
            <a:r>
              <a:rPr lang="fr-CH" sz="2000" b="0" dirty="0"/>
              <a:t>).</a:t>
            </a:r>
          </a:p>
          <a:p>
            <a:pPr marL="0" indent="0">
              <a:buNone/>
            </a:pPr>
            <a:r>
              <a:rPr lang="fr-CH" sz="2000" b="0" dirty="0"/>
              <a:t>L’erreur est directement calculée par un software dédié.</a:t>
            </a:r>
          </a:p>
          <a:p>
            <a:pPr marL="0" indent="0">
              <a:buNone/>
            </a:pPr>
            <a:endParaRPr lang="fr-CH" sz="2000" b="0" dirty="0"/>
          </a:p>
        </p:txBody>
      </p:sp>
    </p:spTree>
    <p:extLst>
      <p:ext uri="{BB962C8B-B14F-4D97-AF65-F5344CB8AC3E}">
        <p14:creationId xmlns:p14="http://schemas.microsoft.com/office/powerpoint/2010/main" val="469950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Erreur</a:t>
            </a:r>
            <a:r>
              <a:rPr lang="en-US" dirty="0"/>
              <a:t> de teaching</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10</a:t>
            </a:fld>
            <a:endParaRPr lang="fr-CH" dirty="0"/>
          </a:p>
        </p:txBody>
      </p:sp>
      <p:sp>
        <p:nvSpPr>
          <p:cNvPr id="7" name="Espace réservé du texte 2"/>
          <p:cNvSpPr>
            <a:spLocks noGrp="1"/>
          </p:cNvSpPr>
          <p:nvPr>
            <p:ph type="body" sz="quarter" idx="11"/>
            <p:custDataLst>
              <p:tags r:id="rId3"/>
            </p:custDataLst>
          </p:nvPr>
        </p:nvSpPr>
        <p:spPr>
          <a:xfrm>
            <a:off x="575999" y="2144095"/>
            <a:ext cx="9008063" cy="4300038"/>
          </a:xfrm>
        </p:spPr>
        <p:txBody>
          <a:bodyPr/>
          <a:lstStyle/>
          <a:p>
            <a:pPr marL="0" indent="0">
              <a:buNone/>
            </a:pPr>
            <a:r>
              <a:rPr lang="fr-CH" sz="2000" dirty="0"/>
              <a:t>Cela correspond à l’erreur d’apprentissage minimum estimée d’un point par un opérateur</a:t>
            </a:r>
          </a:p>
          <a:p>
            <a:pPr marL="285750" indent="-285750">
              <a:buFontTx/>
              <a:buChar char="-"/>
            </a:pPr>
            <a:r>
              <a:rPr lang="fr-CH" sz="2000" dirty="0">
                <a:solidFill>
                  <a:srgbClr val="FF0000"/>
                </a:solidFill>
              </a:rPr>
              <a:t>Erreur sans pointe : </a:t>
            </a:r>
            <a:r>
              <a:rPr lang="fr-CH" sz="2000">
                <a:solidFill>
                  <a:srgbClr val="FF0000"/>
                </a:solidFill>
              </a:rPr>
              <a:t>~+- 1mm</a:t>
            </a:r>
            <a:endParaRPr lang="fr-CH" sz="2000" dirty="0">
              <a:solidFill>
                <a:srgbClr val="FF0000"/>
              </a:solidFill>
            </a:endParaRPr>
          </a:p>
          <a:p>
            <a:pPr marL="285750" indent="-285750">
              <a:buFontTx/>
              <a:buChar char="-"/>
            </a:pPr>
            <a:r>
              <a:rPr lang="fr-CH" sz="2000" dirty="0">
                <a:solidFill>
                  <a:srgbClr val="FF0000"/>
                </a:solidFill>
              </a:rPr>
              <a:t>Erreur avec pointe de </a:t>
            </a:r>
            <a:r>
              <a:rPr lang="fr-CH" sz="2000" dirty="0" err="1">
                <a:solidFill>
                  <a:srgbClr val="FF0000"/>
                </a:solidFill>
              </a:rPr>
              <a:t>teach</a:t>
            </a:r>
            <a:r>
              <a:rPr lang="fr-CH" sz="2000" dirty="0">
                <a:solidFill>
                  <a:srgbClr val="FF0000"/>
                </a:solidFill>
              </a:rPr>
              <a:t> : ~+-0.1mm</a:t>
            </a:r>
          </a:p>
          <a:p>
            <a:pPr marL="0" indent="0">
              <a:buNone/>
            </a:pPr>
            <a:endParaRPr lang="fr-CH" sz="2000" b="0" dirty="0"/>
          </a:p>
        </p:txBody>
      </p:sp>
      <p:grpSp>
        <p:nvGrpSpPr>
          <p:cNvPr id="5" name="Groupe 4"/>
          <p:cNvGrpSpPr/>
          <p:nvPr/>
        </p:nvGrpSpPr>
        <p:grpSpPr>
          <a:xfrm>
            <a:off x="2591780" y="4474016"/>
            <a:ext cx="5508252" cy="2237350"/>
            <a:chOff x="899592" y="3893571"/>
            <a:chExt cx="4104456" cy="1642881"/>
          </a:xfrm>
        </p:grpSpPr>
        <p:sp>
          <p:nvSpPr>
            <p:cNvPr id="6" name="Pentagone 5"/>
            <p:cNvSpPr/>
            <p:nvPr/>
          </p:nvSpPr>
          <p:spPr>
            <a:xfrm rot="5400000">
              <a:off x="4260252" y="4325798"/>
              <a:ext cx="623494" cy="262219"/>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grpSp>
          <p:nvGrpSpPr>
            <p:cNvPr id="8" name="Groupe 7"/>
            <p:cNvGrpSpPr/>
            <p:nvPr/>
          </p:nvGrpSpPr>
          <p:grpSpPr>
            <a:xfrm>
              <a:off x="899592" y="3893571"/>
              <a:ext cx="4104456" cy="1642881"/>
              <a:chOff x="2411760" y="3908478"/>
              <a:chExt cx="4104456" cy="1642881"/>
            </a:xfrm>
          </p:grpSpPr>
          <p:sp>
            <p:nvSpPr>
              <p:cNvPr id="10" name="Pentagone 9"/>
              <p:cNvSpPr/>
              <p:nvPr/>
            </p:nvSpPr>
            <p:spPr>
              <a:xfrm rot="16200000">
                <a:off x="2519772" y="5083307"/>
                <a:ext cx="648072" cy="288032"/>
              </a:xfrm>
              <a:prstGeom prst="homePlat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grpSp>
            <p:nvGrpSpPr>
              <p:cNvPr id="11" name="Groupe 10"/>
              <p:cNvGrpSpPr/>
              <p:nvPr/>
            </p:nvGrpSpPr>
            <p:grpSpPr>
              <a:xfrm>
                <a:off x="2411760" y="3908478"/>
                <a:ext cx="4104456" cy="941741"/>
                <a:chOff x="3563888" y="3836470"/>
                <a:chExt cx="4104456" cy="941741"/>
              </a:xfrm>
            </p:grpSpPr>
            <p:sp>
              <p:nvSpPr>
                <p:cNvPr id="12" name="Trapèze 11"/>
                <p:cNvSpPr/>
                <p:nvPr/>
              </p:nvSpPr>
              <p:spPr>
                <a:xfrm>
                  <a:off x="3618108" y="4581128"/>
                  <a:ext cx="755656" cy="144016"/>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3" name="Rectangle 12"/>
                <p:cNvSpPr/>
                <p:nvPr/>
              </p:nvSpPr>
              <p:spPr>
                <a:xfrm>
                  <a:off x="3851920" y="4111200"/>
                  <a:ext cx="288032" cy="469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4" name="Rectangle 13"/>
                <p:cNvSpPr/>
                <p:nvPr/>
              </p:nvSpPr>
              <p:spPr>
                <a:xfrm>
                  <a:off x="3563888" y="3861048"/>
                  <a:ext cx="864096" cy="2501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5" name="Ellipse 14"/>
                <p:cNvSpPr/>
                <p:nvPr/>
              </p:nvSpPr>
              <p:spPr>
                <a:xfrm>
                  <a:off x="3959936" y="4706203"/>
                  <a:ext cx="72000" cy="7200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6" name="Rectangle 15"/>
                <p:cNvSpPr/>
                <p:nvPr/>
              </p:nvSpPr>
              <p:spPr>
                <a:xfrm>
                  <a:off x="6804248" y="3836470"/>
                  <a:ext cx="864096" cy="2501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7" name="Ellipse 16"/>
                <p:cNvSpPr/>
                <p:nvPr/>
              </p:nvSpPr>
              <p:spPr>
                <a:xfrm>
                  <a:off x="7200296" y="4674113"/>
                  <a:ext cx="72000" cy="7200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grpSp>
        </p:grpSp>
        <p:sp>
          <p:nvSpPr>
            <p:cNvPr id="9" name="Pentagone 8"/>
            <p:cNvSpPr/>
            <p:nvPr/>
          </p:nvSpPr>
          <p:spPr>
            <a:xfrm rot="16200000">
              <a:off x="4247963" y="5068400"/>
              <a:ext cx="648072" cy="288032"/>
            </a:xfrm>
            <a:prstGeom prst="homePlat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grpSp>
    </p:spTree>
    <p:extLst>
      <p:ext uri="{BB962C8B-B14F-4D97-AF65-F5344CB8AC3E}">
        <p14:creationId xmlns:p14="http://schemas.microsoft.com/office/powerpoint/2010/main" val="2451326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Erreur</a:t>
            </a:r>
            <a:r>
              <a:rPr lang="en-US" dirty="0"/>
              <a:t> de teaching</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11</a:t>
            </a:fld>
            <a:endParaRPr lang="fr-CH" dirty="0"/>
          </a:p>
        </p:txBody>
      </p:sp>
      <p:sp>
        <p:nvSpPr>
          <p:cNvPr id="7" name="Espace réservé du texte 2"/>
          <p:cNvSpPr>
            <a:spLocks noGrp="1"/>
          </p:cNvSpPr>
          <p:nvPr>
            <p:ph type="body" sz="quarter" idx="11"/>
            <p:custDataLst>
              <p:tags r:id="rId3"/>
            </p:custDataLst>
          </p:nvPr>
        </p:nvSpPr>
        <p:spPr>
          <a:xfrm>
            <a:off x="575999" y="2144095"/>
            <a:ext cx="9008063" cy="4300038"/>
          </a:xfrm>
        </p:spPr>
        <p:txBody>
          <a:bodyPr/>
          <a:lstStyle/>
          <a:p>
            <a:pPr marL="0" indent="0">
              <a:buNone/>
            </a:pPr>
            <a:r>
              <a:rPr lang="fr-CH" sz="2000" dirty="0">
                <a:solidFill>
                  <a:srgbClr val="FF0000"/>
                </a:solidFill>
              </a:rPr>
              <a:t>Incidence de l’erreur d’apprentissage point</a:t>
            </a:r>
          </a:p>
          <a:p>
            <a:pPr marL="0" indent="0">
              <a:buNone/>
            </a:pPr>
            <a:endParaRPr lang="fr-CH" sz="2000" b="0" dirty="0"/>
          </a:p>
          <a:p>
            <a:pPr marL="0" indent="0">
              <a:buNone/>
            </a:pPr>
            <a:r>
              <a:rPr lang="fr-CH" sz="2000" b="0" dirty="0"/>
              <a:t>Incidence direct sur tous les points appris.</a:t>
            </a:r>
          </a:p>
          <a:p>
            <a:pPr marL="0" indent="0">
              <a:buNone/>
            </a:pPr>
            <a:endParaRPr lang="fr-CH" sz="2000" b="0" dirty="0"/>
          </a:p>
          <a:p>
            <a:pPr marL="0" indent="0">
              <a:buNone/>
            </a:pPr>
            <a:r>
              <a:rPr lang="fr-CH" sz="2000" b="0" dirty="0"/>
              <a:t>Incidence sur la «qualité» d’un frame</a:t>
            </a:r>
          </a:p>
          <a:p>
            <a:pPr marL="0" indent="0">
              <a:buNone/>
            </a:pPr>
            <a:r>
              <a:rPr lang="fr-CH" sz="2000" b="0" dirty="0"/>
              <a:t>-&gt; Erreur d’assiette et de position</a:t>
            </a:r>
          </a:p>
          <a:p>
            <a:pPr marL="0" indent="0">
              <a:buNone/>
            </a:pPr>
            <a:endParaRPr lang="fr-CH" sz="2000" b="0" dirty="0"/>
          </a:p>
          <a:p>
            <a:pPr marL="0" indent="0">
              <a:buNone/>
            </a:pPr>
            <a:r>
              <a:rPr lang="fr-CH" sz="2000" b="0" dirty="0"/>
              <a:t>Les erreurs n’ont pas les mêmes effets suivant le point concerné ou l’outil utilisé!</a:t>
            </a:r>
          </a:p>
          <a:p>
            <a:pPr marL="0" indent="0">
              <a:buNone/>
            </a:pPr>
            <a:endParaRPr lang="fr-CH" sz="2000" b="0" dirty="0"/>
          </a:p>
        </p:txBody>
      </p:sp>
    </p:spTree>
    <p:extLst>
      <p:ext uri="{BB962C8B-B14F-4D97-AF65-F5344CB8AC3E}">
        <p14:creationId xmlns:p14="http://schemas.microsoft.com/office/powerpoint/2010/main" val="1160420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Calcul</a:t>
            </a:r>
            <a:r>
              <a:rPr lang="en-US" dirty="0"/>
              <a:t> de </a:t>
            </a:r>
            <a:r>
              <a:rPr lang="en-US" dirty="0" err="1"/>
              <a:t>l’incertitude</a:t>
            </a:r>
            <a:r>
              <a:rPr lang="en-US" dirty="0"/>
              <a:t> </a:t>
            </a:r>
            <a:r>
              <a:rPr lang="en-US" dirty="0" err="1"/>
              <a:t>globale</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12</a:t>
            </a:fld>
            <a:endParaRPr lang="fr-CH" dirty="0"/>
          </a:p>
        </p:txBody>
      </p:sp>
      <p:sp>
        <p:nvSpPr>
          <p:cNvPr id="7" name="Espace réservé du texte 2"/>
          <p:cNvSpPr>
            <a:spLocks noGrp="1"/>
          </p:cNvSpPr>
          <p:nvPr>
            <p:ph type="body" sz="quarter" idx="11"/>
            <p:custDataLst>
              <p:tags r:id="rId3"/>
            </p:custDataLst>
          </p:nvPr>
        </p:nvSpPr>
        <p:spPr>
          <a:xfrm>
            <a:off x="575999" y="2144095"/>
            <a:ext cx="9008063" cy="4300038"/>
          </a:xfrm>
        </p:spPr>
        <p:txBody>
          <a:bodyPr/>
          <a:lstStyle/>
          <a:p>
            <a:pPr marL="285750" indent="-285750">
              <a:buFontTx/>
              <a:buChar char="-"/>
            </a:pPr>
            <a:r>
              <a:rPr lang="fr-CH" sz="2000" dirty="0"/>
              <a:t>On considère généralement l’erreur de répétabilité à chaque fois que l’on prend ou dépose une pièce.</a:t>
            </a:r>
          </a:p>
          <a:p>
            <a:pPr marL="285750" indent="-285750">
              <a:buFontTx/>
              <a:buChar char="-"/>
            </a:pPr>
            <a:r>
              <a:rPr lang="fr-CH" sz="2000" dirty="0"/>
              <a:t>On somme toutes les erreurs que l’on rencontre au long du «parcours pièce»</a:t>
            </a:r>
          </a:p>
          <a:p>
            <a:pPr marL="285750" indent="-285750">
              <a:buFontTx/>
              <a:buChar char="-"/>
            </a:pPr>
            <a:r>
              <a:rPr lang="fr-CH" sz="2000" dirty="0"/>
              <a:t>On trouve souvent des opérations de recentrage, qui permettent de remettre à zéro la chaine d’incertitude pour éviter des dérives importantes</a:t>
            </a:r>
          </a:p>
          <a:p>
            <a:pPr marL="285750" indent="-285750">
              <a:buFontTx/>
              <a:buChar char="-"/>
            </a:pPr>
            <a:r>
              <a:rPr lang="fr-CH" sz="2000" dirty="0">
                <a:solidFill>
                  <a:srgbClr val="FF0000"/>
                </a:solidFill>
              </a:rPr>
              <a:t>En principe</a:t>
            </a:r>
            <a:r>
              <a:rPr lang="fr-CH" sz="2000" dirty="0"/>
              <a:t>, on ne considère par les erreur d’apprentissage du Tool, ni de positionnement absolu pour du Pick and Place</a:t>
            </a:r>
          </a:p>
          <a:p>
            <a:pPr marL="0" indent="0">
              <a:buNone/>
            </a:pPr>
            <a:endParaRPr lang="fr-CH" sz="2000" b="0" dirty="0"/>
          </a:p>
        </p:txBody>
      </p:sp>
    </p:spTree>
    <p:extLst>
      <p:ext uri="{BB962C8B-B14F-4D97-AF65-F5344CB8AC3E}">
        <p14:creationId xmlns:p14="http://schemas.microsoft.com/office/powerpoint/2010/main" val="1684041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Exercice</a:t>
            </a:r>
            <a:r>
              <a:rPr lang="en-US" dirty="0"/>
              <a:t> de </a:t>
            </a:r>
            <a:r>
              <a:rPr lang="en-US" dirty="0" err="1"/>
              <a:t>calcul</a:t>
            </a:r>
            <a:r>
              <a:rPr lang="en-US" dirty="0"/>
              <a:t> de </a:t>
            </a:r>
            <a:r>
              <a:rPr lang="en-US" dirty="0" err="1"/>
              <a:t>l’incertitude</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13</a:t>
            </a:fld>
            <a:endParaRPr lang="fr-CH" dirty="0"/>
          </a:p>
        </p:txBody>
      </p:sp>
      <p:sp>
        <p:nvSpPr>
          <p:cNvPr id="7" name="Espace réservé du texte 2"/>
          <p:cNvSpPr>
            <a:spLocks noGrp="1"/>
          </p:cNvSpPr>
          <p:nvPr>
            <p:ph type="body" sz="quarter" idx="11"/>
            <p:custDataLst>
              <p:tags r:id="rId3"/>
            </p:custDataLst>
          </p:nvPr>
        </p:nvSpPr>
        <p:spPr>
          <a:xfrm>
            <a:off x="575999" y="2144095"/>
            <a:ext cx="9008063" cy="4300038"/>
          </a:xfrm>
        </p:spPr>
        <p:txBody>
          <a:bodyPr/>
          <a:lstStyle/>
          <a:p>
            <a:pPr marL="0" indent="0">
              <a:buNone/>
            </a:pPr>
            <a:r>
              <a:rPr lang="fr-CH" sz="2000" b="0" dirty="0">
                <a:solidFill>
                  <a:schemeClr val="tx2">
                    <a:lumMod val="75000"/>
                  </a:schemeClr>
                </a:solidFill>
              </a:rPr>
              <a:t>Assemblage robotisé de chips avec un robot SCARA. Prise des </a:t>
            </a:r>
            <a:r>
              <a:rPr lang="fr-CH" sz="2000" b="0" dirty="0" err="1">
                <a:solidFill>
                  <a:schemeClr val="tx2">
                    <a:lumMod val="75000"/>
                  </a:schemeClr>
                </a:solidFill>
              </a:rPr>
              <a:t>IC’s</a:t>
            </a:r>
            <a:r>
              <a:rPr lang="fr-CH" sz="2000" b="0" dirty="0">
                <a:solidFill>
                  <a:schemeClr val="tx2">
                    <a:lumMod val="75000"/>
                  </a:schemeClr>
                </a:solidFill>
              </a:rPr>
              <a:t>,</a:t>
            </a:r>
          </a:p>
          <a:p>
            <a:pPr marL="0" indent="0">
              <a:buNone/>
            </a:pPr>
            <a:r>
              <a:rPr lang="fr-CH" sz="2000" b="0" dirty="0">
                <a:solidFill>
                  <a:schemeClr val="tx2">
                    <a:lumMod val="75000"/>
                  </a:schemeClr>
                </a:solidFill>
              </a:rPr>
              <a:t>par aspiration, depuis les alvéoles d'une bande et placement sur</a:t>
            </a:r>
          </a:p>
          <a:p>
            <a:pPr marL="0" indent="0">
              <a:buNone/>
            </a:pPr>
            <a:r>
              <a:rPr lang="fr-CH" sz="2000" b="0" dirty="0">
                <a:solidFill>
                  <a:schemeClr val="tx2">
                    <a:lumMod val="75000"/>
                  </a:schemeClr>
                </a:solidFill>
              </a:rPr>
              <a:t>le substrat comportant le circuit imprimé avec les contacts.</a:t>
            </a:r>
          </a:p>
          <a:p>
            <a:pPr marL="0" indent="0">
              <a:buNone/>
            </a:pPr>
            <a:endParaRPr lang="fr-CH" sz="2000" b="0" dirty="0"/>
          </a:p>
        </p:txBody>
      </p:sp>
      <p:pic>
        <p:nvPicPr>
          <p:cNvPr id="5" name="Image 4"/>
          <p:cNvPicPr>
            <a:picLocks noChangeAspect="1"/>
          </p:cNvPicPr>
          <p:nvPr/>
        </p:nvPicPr>
        <p:blipFill>
          <a:blip r:embed="rId6"/>
          <a:stretch>
            <a:fillRect/>
          </a:stretch>
        </p:blipFill>
        <p:spPr>
          <a:xfrm>
            <a:off x="1149660" y="3684731"/>
            <a:ext cx="3515610" cy="3293868"/>
          </a:xfrm>
          <a:prstGeom prst="rect">
            <a:avLst/>
          </a:prstGeom>
        </p:spPr>
      </p:pic>
      <p:pic>
        <p:nvPicPr>
          <p:cNvPr id="6" name="Image 5"/>
          <p:cNvPicPr>
            <a:picLocks noChangeAspect="1"/>
          </p:cNvPicPr>
          <p:nvPr/>
        </p:nvPicPr>
        <p:blipFill>
          <a:blip r:embed="rId7"/>
          <a:stretch>
            <a:fillRect/>
          </a:stretch>
        </p:blipFill>
        <p:spPr>
          <a:xfrm>
            <a:off x="4625826" y="3744750"/>
            <a:ext cx="5055284" cy="3246228"/>
          </a:xfrm>
          <a:prstGeom prst="rect">
            <a:avLst/>
          </a:prstGeom>
        </p:spPr>
      </p:pic>
    </p:spTree>
    <p:extLst>
      <p:ext uri="{BB962C8B-B14F-4D97-AF65-F5344CB8AC3E}">
        <p14:creationId xmlns:p14="http://schemas.microsoft.com/office/powerpoint/2010/main" val="2798706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Exercice</a:t>
            </a:r>
            <a:r>
              <a:rPr lang="en-US" dirty="0"/>
              <a:t> de </a:t>
            </a:r>
            <a:r>
              <a:rPr lang="en-US" dirty="0" err="1"/>
              <a:t>calcul</a:t>
            </a:r>
            <a:r>
              <a:rPr lang="en-US" dirty="0"/>
              <a:t> de </a:t>
            </a:r>
            <a:r>
              <a:rPr lang="en-US" dirty="0" err="1"/>
              <a:t>l’incertitude</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14</a:t>
            </a:fld>
            <a:endParaRPr lang="fr-CH" dirty="0"/>
          </a:p>
        </p:txBody>
      </p:sp>
      <p:sp>
        <p:nvSpPr>
          <p:cNvPr id="7" name="Espace réservé du texte 2"/>
          <p:cNvSpPr>
            <a:spLocks noGrp="1"/>
          </p:cNvSpPr>
          <p:nvPr>
            <p:ph type="body" sz="quarter" idx="11"/>
            <p:custDataLst>
              <p:tags r:id="rId3"/>
            </p:custDataLst>
          </p:nvPr>
        </p:nvSpPr>
        <p:spPr>
          <a:xfrm>
            <a:off x="575999" y="2144095"/>
            <a:ext cx="9008063" cy="4300038"/>
          </a:xfrm>
        </p:spPr>
        <p:txBody>
          <a:bodyPr/>
          <a:lstStyle/>
          <a:p>
            <a:pPr marL="0" indent="0">
              <a:buNone/>
            </a:pPr>
            <a:r>
              <a:rPr lang="fr-CH" sz="1800" b="0" dirty="0"/>
              <a:t>Le chip doit être placé sur le substrat de telle sorte que 2 pads circulaires</a:t>
            </a:r>
          </a:p>
          <a:p>
            <a:pPr marL="0" indent="0">
              <a:buNone/>
            </a:pPr>
            <a:r>
              <a:rPr lang="fr-CH" sz="1800" b="0" dirty="0"/>
              <a:t>établissent contact avec les pads G et E du chip (cf. page 34). Le contact</a:t>
            </a:r>
          </a:p>
          <a:p>
            <a:pPr marL="0" indent="0">
              <a:buNone/>
            </a:pPr>
            <a:r>
              <a:rPr lang="fr-CH" sz="1800" b="0" dirty="0"/>
              <a:t>le plus critique, correspondant au pad G, a 300m de diamètre.</a:t>
            </a:r>
          </a:p>
          <a:p>
            <a:pPr marL="285750" indent="-285750">
              <a:buFont typeface="Arial" panose="020B0604020202020204" pitchFamily="34" charset="0"/>
              <a:buChar char="•"/>
            </a:pPr>
            <a:r>
              <a:rPr lang="fr-CH" sz="1800" b="0" dirty="0"/>
              <a:t>Dimensions du chip : cf. page 34</a:t>
            </a:r>
          </a:p>
          <a:p>
            <a:pPr marL="285750" indent="-285750">
              <a:buFont typeface="Arial" panose="020B0604020202020204" pitchFamily="34" charset="0"/>
              <a:buChar char="•"/>
            </a:pPr>
            <a:r>
              <a:rPr lang="fr-CH" sz="1800" b="0" dirty="0"/>
              <a:t>Le chip a des dimensions très répétables ; son incertitude est négligeable.</a:t>
            </a:r>
          </a:p>
          <a:p>
            <a:pPr marL="285750" indent="-285750">
              <a:buFont typeface="Arial" panose="020B0604020202020204" pitchFamily="34" charset="0"/>
              <a:buChar char="•"/>
            </a:pPr>
            <a:r>
              <a:rPr lang="fr-CH" sz="1800" b="0" dirty="0"/>
              <a:t>Dimensions des alvéoles de la bande : 1800 x 1840 m</a:t>
            </a:r>
          </a:p>
          <a:p>
            <a:pPr marL="285750" indent="-285750">
              <a:buFont typeface="Arial" panose="020B0604020202020204" pitchFamily="34" charset="0"/>
              <a:buChar char="•"/>
            </a:pPr>
            <a:r>
              <a:rPr lang="fr-CH" sz="1800" b="0" dirty="0"/>
              <a:t>Répétabilité de position de la bande : 50 m</a:t>
            </a:r>
          </a:p>
          <a:p>
            <a:pPr marL="285750" indent="-285750">
              <a:buFont typeface="Arial" panose="020B0604020202020204" pitchFamily="34" charset="0"/>
              <a:buChar char="•"/>
            </a:pPr>
            <a:r>
              <a:rPr lang="fr-CH" sz="1800" b="0" dirty="0"/>
              <a:t>Distance entre tape et substrat : 500 mm</a:t>
            </a:r>
          </a:p>
          <a:p>
            <a:pPr marL="285750" indent="-285750">
              <a:buFont typeface="Arial" panose="020B0604020202020204" pitchFamily="34" charset="0"/>
              <a:buChar char="•"/>
            </a:pPr>
            <a:r>
              <a:rPr lang="fr-CH" sz="1800" b="0" dirty="0"/>
              <a:t>Répétabilité de position du substrat (au point de dépose) : 20 m</a:t>
            </a:r>
          </a:p>
          <a:p>
            <a:pPr marL="285750" indent="-285750">
              <a:buFont typeface="Arial" panose="020B0604020202020204" pitchFamily="34" charset="0"/>
              <a:buChar char="•"/>
            </a:pPr>
            <a:r>
              <a:rPr lang="fr-CH" sz="1800" b="0" dirty="0"/>
              <a:t>Dimension des contacts du substrat : 300 m</a:t>
            </a:r>
          </a:p>
          <a:p>
            <a:pPr marL="0" indent="0">
              <a:buNone/>
            </a:pPr>
            <a:endParaRPr lang="fr-CH" sz="2000" b="0" dirty="0"/>
          </a:p>
        </p:txBody>
      </p:sp>
    </p:spTree>
    <p:extLst>
      <p:ext uri="{BB962C8B-B14F-4D97-AF65-F5344CB8AC3E}">
        <p14:creationId xmlns:p14="http://schemas.microsoft.com/office/powerpoint/2010/main" val="16640751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1"/>
</p:tagLst>
</file>

<file path=ppt/tags/tag5.xml><?xml version="1.0" encoding="utf-8"?>
<p:tagLst xmlns:a="http://schemas.openxmlformats.org/drawingml/2006/main" xmlns:r="http://schemas.openxmlformats.org/officeDocument/2006/relationships" xmlns:p="http://schemas.openxmlformats.org/presentationml/2006/main">
  <p:tag name="NUM" val="2"/>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3"/>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3"/>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1"/>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2"/>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Presentation Arc">
  <a:themeElements>
    <a:clrScheme name="ARC">
      <a:dk1>
        <a:srgbClr val="FF0000"/>
      </a:dk1>
      <a:lt1>
        <a:sysClr val="window" lastClr="FFFFFF"/>
      </a:lt1>
      <a:dk2>
        <a:srgbClr val="87888A"/>
      </a:dk2>
      <a:lt2>
        <a:srgbClr val="FFFFFF"/>
      </a:lt2>
      <a:accent1>
        <a:srgbClr val="FF0000"/>
      </a:accent1>
      <a:accent2>
        <a:srgbClr val="EF8214"/>
      </a:accent2>
      <a:accent3>
        <a:srgbClr val="E60062"/>
      </a:accent3>
      <a:accent4>
        <a:srgbClr val="008AC9"/>
      </a:accent4>
      <a:accent5>
        <a:srgbClr val="7BAA20"/>
      </a:accent5>
      <a:accent6>
        <a:srgbClr val="87888A"/>
      </a:accent6>
      <a:hlink>
        <a:srgbClr val="0000FF"/>
      </a:hlink>
      <a:folHlink>
        <a:srgbClr val="800080"/>
      </a:folHlink>
    </a:clrScheme>
    <a:fontScheme name="ARC">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ARC_A4.potx" id="{CEBFDC41-F7BA-41F0-96C9-8A91342D6D29}" vid="{F43E7DF4-F399-4F9B-ABD9-CEFDB4D81BB6}"/>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Présentation-ARC_A4_19-06-2017</Template>
  <TotalTime>3072</TotalTime>
  <Words>983</Words>
  <Application>Microsoft Office PowerPoint</Application>
  <PresentationFormat>Personnalisé</PresentationFormat>
  <Paragraphs>126</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ＭＳ Ｐゴシック</vt:lpstr>
      <vt:lpstr>Arial</vt:lpstr>
      <vt:lpstr>Calibri</vt:lpstr>
      <vt:lpstr>Tahoma</vt:lpstr>
      <vt:lpstr>Presentation Arc</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Haute Ecole Arc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Vantieghem Delphine</dc:creator>
  <cp:lastModifiedBy>Gay des Combes Arnaud</cp:lastModifiedBy>
  <cp:revision>148</cp:revision>
  <cp:lastPrinted>2022-01-18T11:39:17Z</cp:lastPrinted>
  <dcterms:created xsi:type="dcterms:W3CDTF">2017-06-21T08:23:56Z</dcterms:created>
  <dcterms:modified xsi:type="dcterms:W3CDTF">2024-12-17T11:30:12Z</dcterms:modified>
</cp:coreProperties>
</file>