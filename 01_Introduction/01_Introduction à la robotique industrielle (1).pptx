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7.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9.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0.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3.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5.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7.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8.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9.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20.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1.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25.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26.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7.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28.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29.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30.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31.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256" r:id="rId2"/>
    <p:sldId id="264" r:id="rId3"/>
    <p:sldId id="265" r:id="rId4"/>
    <p:sldId id="258" r:id="rId5"/>
    <p:sldId id="259" r:id="rId6"/>
    <p:sldId id="275" r:id="rId7"/>
    <p:sldId id="276" r:id="rId8"/>
    <p:sldId id="277" r:id="rId9"/>
    <p:sldId id="279" r:id="rId10"/>
    <p:sldId id="280" r:id="rId11"/>
    <p:sldId id="281" r:id="rId12"/>
    <p:sldId id="282" r:id="rId13"/>
    <p:sldId id="283" r:id="rId14"/>
    <p:sldId id="300" r:id="rId15"/>
    <p:sldId id="285" r:id="rId16"/>
    <p:sldId id="286" r:id="rId17"/>
    <p:sldId id="287" r:id="rId18"/>
    <p:sldId id="288" r:id="rId19"/>
    <p:sldId id="289" r:id="rId20"/>
    <p:sldId id="290" r:id="rId21"/>
    <p:sldId id="291" r:id="rId22"/>
    <p:sldId id="292" r:id="rId23"/>
    <p:sldId id="293" r:id="rId24"/>
    <p:sldId id="305" r:id="rId25"/>
    <p:sldId id="294" r:id="rId26"/>
    <p:sldId id="295" r:id="rId27"/>
    <p:sldId id="296" r:id="rId28"/>
    <p:sldId id="297" r:id="rId29"/>
    <p:sldId id="298" r:id="rId30"/>
    <p:sldId id="302" r:id="rId31"/>
    <p:sldId id="303" r:id="rId32"/>
    <p:sldId id="299" r:id="rId33"/>
    <p:sldId id="304" r:id="rId34"/>
    <p:sldId id="301" r:id="rId35"/>
  </p:sldIdLst>
  <p:sldSz cx="10691813" cy="7559675"/>
  <p:notesSz cx="6797675" cy="9928225"/>
  <p:defaultTextStyle>
    <a:defPPr>
      <a:defRPr lang="fr-FR"/>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5" userDrawn="1">
          <p15:clr>
            <a:srgbClr val="A4A3A4"/>
          </p15:clr>
        </p15:guide>
        <p15:guide id="2" pos="63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0100"/>
    <a:srgbClr val="70717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8" autoAdjust="0"/>
    <p:restoredTop sz="72960" autoAdjust="0"/>
  </p:normalViewPr>
  <p:slideViewPr>
    <p:cSldViewPr>
      <p:cViewPr varScale="1">
        <p:scale>
          <a:sx n="73" d="100"/>
          <a:sy n="73" d="100"/>
        </p:scale>
        <p:origin x="2262" y="72"/>
      </p:cViewPr>
      <p:guideLst>
        <p:guide orient="horz" pos="1655"/>
        <p:guide pos="6316"/>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967"/>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sz="quarter" idx="1"/>
          </p:nvPr>
        </p:nvSpPr>
        <p:spPr>
          <a:xfrm>
            <a:off x="3849688" y="0"/>
            <a:ext cx="2946400" cy="496967"/>
          </a:xfrm>
          <a:prstGeom prst="rect">
            <a:avLst/>
          </a:prstGeom>
        </p:spPr>
        <p:txBody>
          <a:bodyPr vert="horz" lIns="91440" tIns="45720" rIns="91440" bIns="45720" rtlCol="0"/>
          <a:lstStyle>
            <a:lvl1pPr algn="r">
              <a:defRPr sz="1200"/>
            </a:lvl1pPr>
          </a:lstStyle>
          <a:p>
            <a:fld id="{58594FB5-C202-4B63-B1D6-C4202D7D1139}" type="datetimeFigureOut">
              <a:rPr lang="de-CH" smtClean="0"/>
              <a:t>16.09.2024</a:t>
            </a:fld>
            <a:endParaRPr lang="de-CH"/>
          </a:p>
        </p:txBody>
      </p:sp>
      <p:sp>
        <p:nvSpPr>
          <p:cNvPr id="4" name="Fußzeilenplatzhalter 3"/>
          <p:cNvSpPr>
            <a:spLocks noGrp="1"/>
          </p:cNvSpPr>
          <p:nvPr>
            <p:ph type="ftr" sz="quarter" idx="2"/>
          </p:nvPr>
        </p:nvSpPr>
        <p:spPr>
          <a:xfrm>
            <a:off x="0" y="9429671"/>
            <a:ext cx="2946400" cy="496966"/>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p:cNvSpPr>
            <a:spLocks noGrp="1"/>
          </p:cNvSpPr>
          <p:nvPr>
            <p:ph type="sldNum" sz="quarter" idx="3"/>
          </p:nvPr>
        </p:nvSpPr>
        <p:spPr>
          <a:xfrm>
            <a:off x="3849688" y="9429671"/>
            <a:ext cx="2946400" cy="496966"/>
          </a:xfrm>
          <a:prstGeom prst="rect">
            <a:avLst/>
          </a:prstGeom>
        </p:spPr>
        <p:txBody>
          <a:bodyPr vert="horz" lIns="91440" tIns="45720" rIns="91440" bIns="45720" rtlCol="0" anchor="b"/>
          <a:lstStyle>
            <a:lvl1pPr algn="r">
              <a:defRPr sz="1200"/>
            </a:lvl1pPr>
          </a:lstStyle>
          <a:p>
            <a:fld id="{D67FB8E8-A79E-4FBB-8FA9-E88034DDC09A}" type="slidenum">
              <a:rPr lang="de-CH" smtClean="0"/>
              <a:t>‹N°›</a:t>
            </a:fld>
            <a:endParaRPr lang="de-CH"/>
          </a:p>
        </p:txBody>
      </p:sp>
    </p:spTree>
    <p:extLst>
      <p:ext uri="{BB962C8B-B14F-4D97-AF65-F5344CB8AC3E}">
        <p14:creationId xmlns:p14="http://schemas.microsoft.com/office/powerpoint/2010/main" val="4170597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967"/>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idx="1"/>
          </p:nvPr>
        </p:nvSpPr>
        <p:spPr>
          <a:xfrm>
            <a:off x="3849688" y="0"/>
            <a:ext cx="2946400" cy="496967"/>
          </a:xfrm>
          <a:prstGeom prst="rect">
            <a:avLst/>
          </a:prstGeom>
        </p:spPr>
        <p:txBody>
          <a:bodyPr vert="horz" lIns="91440" tIns="45720" rIns="91440" bIns="45720" rtlCol="0"/>
          <a:lstStyle>
            <a:lvl1pPr algn="r">
              <a:defRPr sz="1200"/>
            </a:lvl1pPr>
          </a:lstStyle>
          <a:p>
            <a:fld id="{9DCC87A5-EC57-48A1-98F4-0C433332F050}" type="datetimeFigureOut">
              <a:rPr lang="fr-CH" smtClean="0"/>
              <a:t>16.09.2024</a:t>
            </a:fld>
            <a:endParaRPr lang="fr-CH"/>
          </a:p>
        </p:txBody>
      </p:sp>
      <p:sp>
        <p:nvSpPr>
          <p:cNvPr id="4" name="Folienbildplatzhalter 3"/>
          <p:cNvSpPr>
            <a:spLocks noGrp="1" noRot="1" noChangeAspect="1"/>
          </p:cNvSpPr>
          <p:nvPr>
            <p:ph type="sldImg" idx="2"/>
          </p:nvPr>
        </p:nvSpPr>
        <p:spPr>
          <a:xfrm>
            <a:off x="1030288" y="1241425"/>
            <a:ext cx="4737100" cy="3349625"/>
          </a:xfrm>
          <a:prstGeom prst="rect">
            <a:avLst/>
          </a:prstGeom>
          <a:noFill/>
          <a:ln w="12700">
            <a:solidFill>
              <a:prstClr val="black"/>
            </a:solidFill>
          </a:ln>
        </p:spPr>
        <p:txBody>
          <a:bodyPr vert="horz" lIns="91440" tIns="45720" rIns="91440" bIns="45720" rtlCol="0" anchor="ctr"/>
          <a:lstStyle/>
          <a:p>
            <a:endParaRPr lang="fr-CH"/>
          </a:p>
        </p:txBody>
      </p:sp>
      <p:sp>
        <p:nvSpPr>
          <p:cNvPr id="5" name="Notizenplatzhalter 4"/>
          <p:cNvSpPr>
            <a:spLocks noGrp="1"/>
          </p:cNvSpPr>
          <p:nvPr>
            <p:ph type="body" sz="quarter" idx="3"/>
          </p:nvPr>
        </p:nvSpPr>
        <p:spPr>
          <a:xfrm>
            <a:off x="679450" y="4777552"/>
            <a:ext cx="5438775" cy="39090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fr-CH"/>
          </a:p>
        </p:txBody>
      </p:sp>
      <p:sp>
        <p:nvSpPr>
          <p:cNvPr id="6" name="Fußzeilenplatzhalter 5"/>
          <p:cNvSpPr>
            <a:spLocks noGrp="1"/>
          </p:cNvSpPr>
          <p:nvPr>
            <p:ph type="ftr" sz="quarter" idx="4"/>
          </p:nvPr>
        </p:nvSpPr>
        <p:spPr>
          <a:xfrm>
            <a:off x="0" y="9431258"/>
            <a:ext cx="2946400" cy="496967"/>
          </a:xfrm>
          <a:prstGeom prst="rect">
            <a:avLst/>
          </a:prstGeom>
        </p:spPr>
        <p:txBody>
          <a:bodyPr vert="horz" lIns="91440" tIns="45720" rIns="91440" bIns="45720" rtlCol="0" anchor="b"/>
          <a:lstStyle>
            <a:lvl1pPr algn="l">
              <a:defRPr sz="1200"/>
            </a:lvl1pPr>
          </a:lstStyle>
          <a:p>
            <a:endParaRPr lang="fr-CH"/>
          </a:p>
        </p:txBody>
      </p:sp>
      <p:sp>
        <p:nvSpPr>
          <p:cNvPr id="7" name="Foliennummernplatzhalter 6"/>
          <p:cNvSpPr>
            <a:spLocks noGrp="1"/>
          </p:cNvSpPr>
          <p:nvPr>
            <p:ph type="sldNum" sz="quarter" idx="5"/>
          </p:nvPr>
        </p:nvSpPr>
        <p:spPr>
          <a:xfrm>
            <a:off x="3849688" y="9431258"/>
            <a:ext cx="2946400" cy="496967"/>
          </a:xfrm>
          <a:prstGeom prst="rect">
            <a:avLst/>
          </a:prstGeom>
        </p:spPr>
        <p:txBody>
          <a:bodyPr vert="horz" lIns="91440" tIns="45720" rIns="91440" bIns="45720" rtlCol="0" anchor="b"/>
          <a:lstStyle>
            <a:lvl1pPr algn="r">
              <a:defRPr sz="1200"/>
            </a:lvl1pPr>
          </a:lstStyle>
          <a:p>
            <a:fld id="{F00AB757-58AB-499D-A9D3-311C05BD52E0}" type="slidenum">
              <a:rPr lang="fr-CH" smtClean="0"/>
              <a:t>‹N°›</a:t>
            </a:fld>
            <a:endParaRPr lang="fr-CH"/>
          </a:p>
        </p:txBody>
      </p:sp>
    </p:spTree>
    <p:extLst>
      <p:ext uri="{BB962C8B-B14F-4D97-AF65-F5344CB8AC3E}">
        <p14:creationId xmlns:p14="http://schemas.microsoft.com/office/powerpoint/2010/main" val="268702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a:t>
            </a:fld>
            <a:endParaRPr lang="fr-CH"/>
          </a:p>
        </p:txBody>
      </p:sp>
    </p:spTree>
    <p:extLst>
      <p:ext uri="{BB962C8B-B14F-4D97-AF65-F5344CB8AC3E}">
        <p14:creationId xmlns:p14="http://schemas.microsoft.com/office/powerpoint/2010/main" val="1829561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a:t>
            </a:fld>
            <a:endParaRPr lang="fr-CH"/>
          </a:p>
        </p:txBody>
      </p:sp>
    </p:spTree>
    <p:extLst>
      <p:ext uri="{BB962C8B-B14F-4D97-AF65-F5344CB8AC3E}">
        <p14:creationId xmlns:p14="http://schemas.microsoft.com/office/powerpoint/2010/main" val="3091636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3</a:t>
            </a:fld>
            <a:endParaRPr lang="fr-CH"/>
          </a:p>
        </p:txBody>
      </p:sp>
    </p:spTree>
    <p:extLst>
      <p:ext uri="{BB962C8B-B14F-4D97-AF65-F5344CB8AC3E}">
        <p14:creationId xmlns:p14="http://schemas.microsoft.com/office/powerpoint/2010/main" val="652648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4</a:t>
            </a:fld>
            <a:endParaRPr lang="fr-CH"/>
          </a:p>
        </p:txBody>
      </p:sp>
    </p:spTree>
    <p:extLst>
      <p:ext uri="{BB962C8B-B14F-4D97-AF65-F5344CB8AC3E}">
        <p14:creationId xmlns:p14="http://schemas.microsoft.com/office/powerpoint/2010/main" val="813563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5</a:t>
            </a:fld>
            <a:endParaRPr lang="fr-CH"/>
          </a:p>
        </p:txBody>
      </p:sp>
    </p:spTree>
    <p:extLst>
      <p:ext uri="{BB962C8B-B14F-4D97-AF65-F5344CB8AC3E}">
        <p14:creationId xmlns:p14="http://schemas.microsoft.com/office/powerpoint/2010/main" val="1674053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6</a:t>
            </a:fld>
            <a:endParaRPr lang="fr-CH"/>
          </a:p>
        </p:txBody>
      </p:sp>
    </p:spTree>
    <p:extLst>
      <p:ext uri="{BB962C8B-B14F-4D97-AF65-F5344CB8AC3E}">
        <p14:creationId xmlns:p14="http://schemas.microsoft.com/office/powerpoint/2010/main" val="2945254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On utilise la fonction d’initialisation </a:t>
            </a:r>
            <a:r>
              <a:rPr lang="fr-CH" dirty="0" err="1">
                <a:solidFill>
                  <a:srgbClr val="FF0000"/>
                </a:solidFill>
              </a:rPr>
              <a:t>ExInitMan</a:t>
            </a:r>
            <a:r>
              <a:rPr lang="fr-CH" dirty="0">
                <a:solidFill>
                  <a:srgbClr val="FF0000"/>
                </a:solidFill>
              </a:rPr>
              <a:t>() </a:t>
            </a:r>
            <a:r>
              <a:rPr lang="fr-CH" dirty="0"/>
              <a:t>qui bloque le robot en mode manuel, ce qui limite les vitesse maximum, et oblige l’utilisateur à maintenir</a:t>
            </a:r>
            <a:r>
              <a:rPr lang="fr-CH" baseline="0" dirty="0"/>
              <a:t> la touche </a:t>
            </a:r>
            <a:r>
              <a:rPr lang="fr-CH" baseline="0" dirty="0" err="1"/>
              <a:t>play</a:t>
            </a:r>
            <a:r>
              <a:rPr lang="fr-CH" baseline="0" dirty="0"/>
              <a:t> pour autoriser les mouvements durant toute l’exécution du cycle.</a:t>
            </a:r>
          </a:p>
          <a:p>
            <a:r>
              <a:rPr lang="fr-CH" baseline="0" dirty="0"/>
              <a:t>Dans le cadre de nos laboratoires, tout les programmes seront démarrés avec ce mode.</a:t>
            </a:r>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7</a:t>
            </a:fld>
            <a:endParaRPr lang="fr-CH"/>
          </a:p>
        </p:txBody>
      </p:sp>
    </p:spTree>
    <p:extLst>
      <p:ext uri="{BB962C8B-B14F-4D97-AF65-F5344CB8AC3E}">
        <p14:creationId xmlns:p14="http://schemas.microsoft.com/office/powerpoint/2010/main" val="511342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8</a:t>
            </a:fld>
            <a:endParaRPr lang="fr-CH"/>
          </a:p>
        </p:txBody>
      </p:sp>
    </p:spTree>
    <p:extLst>
      <p:ext uri="{BB962C8B-B14F-4D97-AF65-F5344CB8AC3E}">
        <p14:creationId xmlns:p14="http://schemas.microsoft.com/office/powerpoint/2010/main" val="2405351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CH" b="1" i="0" dirty="0">
                <a:solidFill>
                  <a:srgbClr val="374151"/>
                </a:solidFill>
                <a:effectLst/>
                <a:latin typeface="Söhne"/>
              </a:rPr>
              <a:t>Facteurs de décision :</a:t>
            </a:r>
            <a:endParaRPr lang="fr-CH" b="0" i="0" dirty="0">
              <a:solidFill>
                <a:srgbClr val="374151"/>
              </a:solidFill>
              <a:effectLst/>
              <a:latin typeface="Söhne"/>
            </a:endParaRPr>
          </a:p>
          <a:p>
            <a:pPr algn="l">
              <a:buFont typeface="Arial" panose="020B0604020202020204" pitchFamily="34" charset="0"/>
              <a:buNone/>
            </a:pPr>
            <a:r>
              <a:rPr lang="fr-CH" b="0" i="0" dirty="0">
                <a:solidFill>
                  <a:srgbClr val="374151"/>
                </a:solidFill>
                <a:effectLst/>
                <a:latin typeface="Söhne"/>
              </a:rPr>
              <a:t>Lorsque vous choisissez entre l'assemblage manuel, automatique et robotique, plusieurs facteurs clés doivent être pris en compte. Voici les principaux facteurs à considérer :</a:t>
            </a:r>
          </a:p>
          <a:p>
            <a:pPr marL="742950" lvl="1" indent="-285750" algn="l">
              <a:buFont typeface="Arial" panose="020B0604020202020204" pitchFamily="34" charset="0"/>
              <a:buChar char="•"/>
            </a:pPr>
            <a:r>
              <a:rPr lang="fr-CH" b="1" i="0" dirty="0">
                <a:solidFill>
                  <a:srgbClr val="374151"/>
                </a:solidFill>
                <a:effectLst/>
                <a:latin typeface="Söhne"/>
              </a:rPr>
              <a:t>Complexité de la tâche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Plus la tâche d'assemblage est complexe, avec de nombreuses étapes et des exigences de précision élevées, plus il peut être avantageux d'opter pour l'automatisation ou la robotique. Les tâches simples peuvent être réalisées de manière plus rentable manuellement.</a:t>
            </a:r>
          </a:p>
          <a:p>
            <a:pPr marL="742950" lvl="1" indent="-285750" algn="l">
              <a:buFont typeface="Arial" panose="020B0604020202020204" pitchFamily="34" charset="0"/>
              <a:buChar char="•"/>
            </a:pPr>
            <a:r>
              <a:rPr lang="fr-CH" b="1" i="0" dirty="0">
                <a:solidFill>
                  <a:srgbClr val="374151"/>
                </a:solidFill>
                <a:effectLst/>
                <a:latin typeface="Söhne"/>
              </a:rPr>
              <a:t>Volume de production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Le volume de production est un facteur déterminant. Pour de grandes séries de production, l'automatisation ou la robotique peuvent être rentables en raison de leur vitesse constante. En revanche, pour de petites séries ou des produits personnalisés, l'assemblage manuel est souvent préférable.</a:t>
            </a:r>
          </a:p>
          <a:p>
            <a:pPr marL="742950" lvl="1" indent="-285750" algn="l">
              <a:buFont typeface="Arial" panose="020B0604020202020204" pitchFamily="34" charset="0"/>
              <a:buChar char="•"/>
            </a:pPr>
            <a:r>
              <a:rPr lang="fr-CH" b="1" i="0" dirty="0">
                <a:solidFill>
                  <a:srgbClr val="374151"/>
                </a:solidFill>
                <a:effectLst/>
                <a:latin typeface="Söhne"/>
              </a:rPr>
              <a:t>Flexibilité et adaptation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L'assemblage manuel offre une grande flexibilité pour changer rapidement de tâche ou de produit, ce qui peut être un avantage si votre production nécessite fréquemment des ajustements. L'automatisation et la robotique sont moins flexibles et nécessitent souvent des modifications coûteuses pour changer de tâche.</a:t>
            </a:r>
          </a:p>
          <a:p>
            <a:pPr marL="742950" lvl="1" indent="-285750" algn="l">
              <a:buFont typeface="Arial" panose="020B0604020202020204" pitchFamily="34" charset="0"/>
              <a:buChar char="•"/>
            </a:pPr>
            <a:r>
              <a:rPr lang="fr-CH" b="1" i="0" dirty="0">
                <a:solidFill>
                  <a:srgbClr val="374151"/>
                </a:solidFill>
                <a:effectLst/>
                <a:latin typeface="Söhne"/>
              </a:rPr>
              <a:t>Coûts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Les coûts initiaux et opérationnels doivent être pris en compte. L'assemblage manuel a généralement des coûts initiaux plus faibles, mais des coûts de main-d'œuvre plus élevés à long terme. L'automatisation et la robotique ont des coûts initiaux plus élevés mais peuvent être plus rentables sur de longues séries de production.</a:t>
            </a:r>
          </a:p>
          <a:p>
            <a:pPr marL="742950" lvl="1" indent="-285750" algn="l">
              <a:buFont typeface="Arial" panose="020B0604020202020204" pitchFamily="34" charset="0"/>
              <a:buChar char="•"/>
            </a:pPr>
            <a:r>
              <a:rPr lang="fr-CH" b="1" i="0" dirty="0">
                <a:solidFill>
                  <a:srgbClr val="374151"/>
                </a:solidFill>
                <a:effectLst/>
                <a:latin typeface="Söhne"/>
              </a:rPr>
              <a:t>Qualité et précision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Si la qualité et la précision sont essentielles, l'automatisation et la robotique sont souvent préférables en raison de leur capacité à effectuer des tâches répétitives avec une précision constante. L'assemblage manuel peut être sujet à des variations.</a:t>
            </a:r>
          </a:p>
          <a:p>
            <a:pPr marL="742950" lvl="1" indent="-285750" algn="l">
              <a:buFont typeface="Arial" panose="020B0604020202020204" pitchFamily="34" charset="0"/>
              <a:buChar char="•"/>
            </a:pPr>
            <a:r>
              <a:rPr lang="fr-CH" b="1" i="0" dirty="0">
                <a:solidFill>
                  <a:srgbClr val="374151"/>
                </a:solidFill>
                <a:effectLst/>
                <a:latin typeface="Söhne"/>
              </a:rPr>
              <a:t>Maintenance et fiabilité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L'entretien des systèmes automatisés et robotiques est essentiel pour assurer leur fiabilité. Il faut prévoir des coûts de maintenance et des temps d'arrêt potentiels. L'assemblage manuel nécessite moins de maintenance, mais il est soumis à l'erreur humaine.</a:t>
            </a:r>
          </a:p>
          <a:p>
            <a:pPr marL="742950" lvl="1" indent="-285750" algn="l">
              <a:buFont typeface="Arial" panose="020B0604020202020204" pitchFamily="34" charset="0"/>
              <a:buChar char="•"/>
            </a:pPr>
            <a:r>
              <a:rPr lang="fr-CH" b="1" i="0" dirty="0">
                <a:solidFill>
                  <a:srgbClr val="374151"/>
                </a:solidFill>
                <a:effectLst/>
                <a:latin typeface="Söhne"/>
              </a:rPr>
              <a:t>Évolution de la technologie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La technologie évolue rapidement dans le domaine de l'automatisation et de la robotique. Il est important de suivre les dernières avancées pour tirer parti des améliorations potentielles.</a:t>
            </a:r>
          </a:p>
          <a:p>
            <a:pPr marL="742950" lvl="1" indent="-285750" algn="l">
              <a:buFont typeface="Arial" panose="020B0604020202020204" pitchFamily="34" charset="0"/>
              <a:buChar char="•"/>
            </a:pPr>
            <a:r>
              <a:rPr lang="fr-CH" b="1" i="0" dirty="0">
                <a:solidFill>
                  <a:srgbClr val="374151"/>
                </a:solidFill>
                <a:effectLst/>
                <a:latin typeface="Söhne"/>
              </a:rPr>
              <a:t>Normes et réglementations :</a:t>
            </a:r>
            <a:endParaRPr lang="fr-CH" b="0" i="0" dirty="0">
              <a:solidFill>
                <a:srgbClr val="374151"/>
              </a:solidFill>
              <a:effectLst/>
              <a:latin typeface="Söhne"/>
            </a:endParaRPr>
          </a:p>
          <a:p>
            <a:pPr marL="914400" lvl="2" indent="0" algn="l">
              <a:buFont typeface="Arial" panose="020B0604020202020204" pitchFamily="34" charset="0"/>
              <a:buNone/>
            </a:pPr>
            <a:r>
              <a:rPr lang="fr-CH" b="0" i="0" dirty="0">
                <a:solidFill>
                  <a:srgbClr val="374151"/>
                </a:solidFill>
                <a:effectLst/>
                <a:latin typeface="Söhne"/>
              </a:rPr>
              <a:t>Certaines industries sont soumises à des normes de qualité strictes ou à des réglementations de sécurité. Assurez-vous que la méthode d'assemblage choisie respecte ces exigences.</a:t>
            </a:r>
          </a:p>
          <a:p>
            <a:pPr marL="914400" lvl="2" indent="0" algn="l">
              <a:buFont typeface="Arial" panose="020B0604020202020204" pitchFamily="34" charset="0"/>
              <a:buNone/>
            </a:pPr>
            <a:r>
              <a:rPr lang="de-CH" b="0" i="0" dirty="0">
                <a:solidFill>
                  <a:srgbClr val="374151"/>
                </a:solidFill>
                <a:effectLst/>
                <a:latin typeface="Söhne"/>
              </a:rPr>
              <a:t>{</a:t>
            </a:r>
            <a:r>
              <a:rPr lang="de-CH" b="0" i="0" dirty="0" err="1">
                <a:solidFill>
                  <a:srgbClr val="374151"/>
                </a:solidFill>
                <a:effectLst/>
                <a:latin typeface="Söhne"/>
              </a:rPr>
              <a:t>From</a:t>
            </a:r>
            <a:r>
              <a:rPr lang="de-CH" b="0" i="0" dirty="0">
                <a:solidFill>
                  <a:srgbClr val="374151"/>
                </a:solidFill>
                <a:effectLst/>
                <a:latin typeface="Söhne"/>
              </a:rPr>
              <a:t> </a:t>
            </a:r>
            <a:r>
              <a:rPr lang="de-CH" b="0" i="0" dirty="0" err="1">
                <a:solidFill>
                  <a:srgbClr val="374151"/>
                </a:solidFill>
                <a:effectLst/>
                <a:latin typeface="Söhne"/>
              </a:rPr>
              <a:t>chat</a:t>
            </a:r>
            <a:r>
              <a:rPr lang="de-CH" b="0" i="0" dirty="0">
                <a:solidFill>
                  <a:srgbClr val="374151"/>
                </a:solidFill>
                <a:effectLst/>
                <a:latin typeface="Söhne"/>
              </a:rPr>
              <a:t> GPT}</a:t>
            </a:r>
            <a:endParaRPr lang="fr-CH" b="0" i="0" dirty="0">
              <a:solidFill>
                <a:srgbClr val="374151"/>
              </a:solidFill>
              <a:effectLst/>
              <a:latin typeface="Söhne"/>
            </a:endParaRPr>
          </a:p>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9</a:t>
            </a:fld>
            <a:endParaRPr lang="fr-CH"/>
          </a:p>
        </p:txBody>
      </p:sp>
    </p:spTree>
    <p:extLst>
      <p:ext uri="{BB962C8B-B14F-4D97-AF65-F5344CB8AC3E}">
        <p14:creationId xmlns:p14="http://schemas.microsoft.com/office/powerpoint/2010/main" val="1194805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buFont typeface="Arial" panose="020B0604020202020204" pitchFamily="34" charset="0"/>
              <a:buChar char="•"/>
            </a:pPr>
            <a:r>
              <a:rPr lang="fr-CH" b="0" i="0" dirty="0">
                <a:solidFill>
                  <a:srgbClr val="374151"/>
                </a:solidFill>
                <a:effectLst/>
                <a:latin typeface="Söhne"/>
              </a:rPr>
              <a:t>Pour mieux comprendre l'impact du choix de la méthode d'assemblage, examinons quelques exemples concrets :</a:t>
            </a:r>
          </a:p>
          <a:p>
            <a:pPr marL="742950" lvl="1" indent="-285750" algn="l">
              <a:buFont typeface="Arial" panose="020B0604020202020204" pitchFamily="34" charset="0"/>
              <a:buChar char="•"/>
            </a:pPr>
            <a:r>
              <a:rPr lang="fr-CH" b="1" i="0" dirty="0">
                <a:solidFill>
                  <a:srgbClr val="374151"/>
                </a:solidFill>
                <a:effectLst/>
                <a:latin typeface="Söhne"/>
              </a:rPr>
              <a:t>Automobiles :</a:t>
            </a:r>
            <a:endParaRPr lang="fr-CH" b="0" i="0" dirty="0">
              <a:solidFill>
                <a:srgbClr val="374151"/>
              </a:solidFill>
              <a:effectLst/>
              <a:latin typeface="Söhne"/>
            </a:endParaRPr>
          </a:p>
          <a:p>
            <a:pPr marL="1143000" lvl="2" indent="-228600" algn="l">
              <a:buFont typeface="Arial" panose="020B0604020202020204" pitchFamily="34" charset="0"/>
              <a:buChar char="•"/>
            </a:pPr>
            <a:r>
              <a:rPr lang="fr-CH" b="0" i="0" dirty="0">
                <a:solidFill>
                  <a:srgbClr val="374151"/>
                </a:solidFill>
                <a:effectLst/>
                <a:latin typeface="Söhne"/>
              </a:rPr>
              <a:t>Dans l'industrie automobile, l'assemblage automatisé est couramment utilisé pour les tâches de soudure, de peinture et d'assemblage de composants tels que les moteurs et les transmissions. Cette automatisation permet une grande précision et une production à grande échelle, garantissant la qualité et la cohérence. En revanche, les tâches d'assemblage final, telles que l'installation de l'intérieur, peuvent nécessiter un travail manuel pour s'adapter aux préférences des clients.</a:t>
            </a:r>
          </a:p>
          <a:p>
            <a:pPr marL="742950" lvl="1" indent="-285750" algn="l">
              <a:buFont typeface="Arial" panose="020B0604020202020204" pitchFamily="34" charset="0"/>
              <a:buChar char="•"/>
            </a:pPr>
            <a:r>
              <a:rPr lang="fr-CH" b="1" i="0" dirty="0">
                <a:solidFill>
                  <a:srgbClr val="374151"/>
                </a:solidFill>
                <a:effectLst/>
                <a:latin typeface="Söhne"/>
              </a:rPr>
              <a:t>Électronique grand public :</a:t>
            </a:r>
            <a:endParaRPr lang="fr-CH" b="0" i="0" dirty="0">
              <a:solidFill>
                <a:srgbClr val="374151"/>
              </a:solidFill>
              <a:effectLst/>
              <a:latin typeface="Söhne"/>
            </a:endParaRPr>
          </a:p>
          <a:p>
            <a:pPr marL="1143000" lvl="2" indent="-228600" algn="l">
              <a:buFont typeface="Arial" panose="020B0604020202020204" pitchFamily="34" charset="0"/>
              <a:buChar char="•"/>
            </a:pPr>
            <a:r>
              <a:rPr lang="fr-CH" b="0" i="0" dirty="0">
                <a:solidFill>
                  <a:srgbClr val="374151"/>
                </a:solidFill>
                <a:effectLst/>
                <a:latin typeface="Söhne"/>
              </a:rPr>
              <a:t>L'assemblage robotique est couramment utilisé dans la fabrication de produits électroniques, tels que les smartphones et les tablettes. Les robots peuvent effectuer des soudures délicates et l'assemblage de composants électroniques avec une précision inégalée. Cela garantit la qualité des produits et une production rapide. L'automatisation est également utilisée pour les tests de qualité et l'emballage.</a:t>
            </a:r>
          </a:p>
          <a:p>
            <a:pPr marL="742950" lvl="1" indent="-285750" algn="l">
              <a:buFont typeface="Arial" panose="020B0604020202020204" pitchFamily="34" charset="0"/>
              <a:buChar char="•"/>
            </a:pPr>
            <a:r>
              <a:rPr lang="fr-CH" b="1" i="0" dirty="0">
                <a:solidFill>
                  <a:srgbClr val="374151"/>
                </a:solidFill>
                <a:effectLst/>
                <a:latin typeface="Söhne"/>
              </a:rPr>
              <a:t>Industrie pharmaceutique :</a:t>
            </a:r>
            <a:endParaRPr lang="fr-CH" b="0" i="0" dirty="0">
              <a:solidFill>
                <a:srgbClr val="374151"/>
              </a:solidFill>
              <a:effectLst/>
              <a:latin typeface="Söhne"/>
            </a:endParaRPr>
          </a:p>
          <a:p>
            <a:pPr marL="1143000" lvl="2" indent="-228600" algn="l">
              <a:buFont typeface="Arial" panose="020B0604020202020204" pitchFamily="34" charset="0"/>
              <a:buChar char="•"/>
            </a:pPr>
            <a:r>
              <a:rPr lang="fr-CH" b="0" i="0" dirty="0">
                <a:solidFill>
                  <a:srgbClr val="374151"/>
                </a:solidFill>
                <a:effectLst/>
                <a:latin typeface="Söhne"/>
              </a:rPr>
              <a:t>Dans la production pharmaceutique, l'automatisation est cruciale pour garantir la précision et la traçabilité des médicaments. Les robots sont utilisés pour l'assemblage de dispositifs médicaux, la manipulation de produits chimiques et l'emballage des médicaments. Cela garantit une production conforme aux normes de qualité strictes de l'industrie.</a:t>
            </a:r>
          </a:p>
          <a:p>
            <a:pPr marL="742950" lvl="1" indent="-285750" algn="l">
              <a:buFont typeface="Arial" panose="020B0604020202020204" pitchFamily="34" charset="0"/>
              <a:buChar char="•"/>
            </a:pPr>
            <a:r>
              <a:rPr lang="fr-CH" b="1" i="0" dirty="0">
                <a:solidFill>
                  <a:srgbClr val="374151"/>
                </a:solidFill>
                <a:effectLst/>
                <a:latin typeface="Söhne"/>
              </a:rPr>
              <a:t>Agriculture :</a:t>
            </a:r>
            <a:endParaRPr lang="fr-CH" b="0" i="0" dirty="0">
              <a:solidFill>
                <a:srgbClr val="374151"/>
              </a:solidFill>
              <a:effectLst/>
              <a:latin typeface="Söhne"/>
            </a:endParaRPr>
          </a:p>
          <a:p>
            <a:pPr marL="1143000" lvl="2" indent="-228600" algn="l">
              <a:buFont typeface="Arial" panose="020B0604020202020204" pitchFamily="34" charset="0"/>
              <a:buChar char="•"/>
            </a:pPr>
            <a:r>
              <a:rPr lang="fr-CH" b="0" i="0" dirty="0">
                <a:solidFill>
                  <a:srgbClr val="374151"/>
                </a:solidFill>
                <a:effectLst/>
                <a:latin typeface="Söhne"/>
              </a:rPr>
              <a:t>Dans l'agriculture moderne, les robots sont de plus en plus utilisés pour les tâches d'assemblage, telles que la plantation, la récolte et l'emballage de produits agricoles. Ces robots peuvent travailler de manière autonome dans des environnements extérieurs et effectuer des tâches de manière efficace, ce qui réduit la dépendance à la main-d'œuvre humaine.</a:t>
            </a:r>
          </a:p>
          <a:p>
            <a:pPr marL="742950" lvl="1" indent="-285750" algn="l">
              <a:buFont typeface="Arial" panose="020B0604020202020204" pitchFamily="34" charset="0"/>
              <a:buChar char="•"/>
            </a:pPr>
            <a:r>
              <a:rPr lang="fr-CH" b="1" i="0" dirty="0">
                <a:solidFill>
                  <a:srgbClr val="374151"/>
                </a:solidFill>
                <a:effectLst/>
                <a:latin typeface="Söhne"/>
              </a:rPr>
              <a:t>Industrie aérospatiale :</a:t>
            </a:r>
            <a:endParaRPr lang="fr-CH" b="0" i="0" dirty="0">
              <a:solidFill>
                <a:srgbClr val="374151"/>
              </a:solidFill>
              <a:effectLst/>
              <a:latin typeface="Söhne"/>
            </a:endParaRPr>
          </a:p>
          <a:p>
            <a:pPr marL="1143000" lvl="2" indent="-228600" algn="l">
              <a:buFont typeface="Arial" panose="020B0604020202020204" pitchFamily="34" charset="0"/>
              <a:buChar char="•"/>
            </a:pPr>
            <a:r>
              <a:rPr lang="fr-CH" b="0" i="0" dirty="0">
                <a:solidFill>
                  <a:srgbClr val="374151"/>
                </a:solidFill>
                <a:effectLst/>
                <a:latin typeface="Söhne"/>
              </a:rPr>
              <a:t>L'assemblage de pièces d'aéronefs, telles que les moteurs et les ailes, exige une précision extrême pour garantir la sécurité. Les robots sont utilisés pour effectuer des tâches complexes d'assemblage et de soudage, réduisant ainsi le risque d'erreurs humaines.</a:t>
            </a:r>
          </a:p>
          <a:p>
            <a:pPr marL="742950" lvl="1" indent="-285750" algn="l">
              <a:buFont typeface="Arial" panose="020B0604020202020204" pitchFamily="34" charset="0"/>
              <a:buChar char="•"/>
            </a:pPr>
            <a:r>
              <a:rPr lang="fr-CH" b="1" i="0" dirty="0">
                <a:solidFill>
                  <a:srgbClr val="374151"/>
                </a:solidFill>
                <a:effectLst/>
                <a:latin typeface="Söhne"/>
              </a:rPr>
              <a:t>Industrie alimentaire :</a:t>
            </a:r>
            <a:endParaRPr lang="fr-CH" b="0" i="0" dirty="0">
              <a:solidFill>
                <a:srgbClr val="374151"/>
              </a:solidFill>
              <a:effectLst/>
              <a:latin typeface="Söhne"/>
            </a:endParaRPr>
          </a:p>
          <a:p>
            <a:pPr marL="1143000" lvl="2" indent="-228600" algn="l">
              <a:buFont typeface="Arial" panose="020B0604020202020204" pitchFamily="34" charset="0"/>
              <a:buChar char="•"/>
            </a:pPr>
            <a:r>
              <a:rPr lang="fr-CH" b="0" i="0" dirty="0">
                <a:solidFill>
                  <a:srgbClr val="374151"/>
                </a:solidFill>
                <a:effectLst/>
                <a:latin typeface="Söhne"/>
              </a:rPr>
              <a:t>Dans la fabrication d'aliments emballés, l'automatisation est utilisée pour le remplissage, l'étiquetage, la scellée et l'emballage. Cela garantit la cohérence des portions et la sécurité alimentaire.</a:t>
            </a:r>
          </a:p>
          <a:p>
            <a:pPr algn="l"/>
            <a:r>
              <a:rPr lang="fr-CH" b="0" i="0" dirty="0">
                <a:solidFill>
                  <a:srgbClr val="374151"/>
                </a:solidFill>
                <a:effectLst/>
                <a:latin typeface="Söhne"/>
              </a:rPr>
              <a:t>Ces exemples montrent comment le choix de la méthode d'assemblage peut avoir un impact significatif sur la qualité, la productivité et l'efficacité dans différents secteurs industriels. Chaque cas dépend des besoins spécifiques de l'application et des exigences de qualité propres à l'industrie.</a:t>
            </a:r>
          </a:p>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10</a:t>
            </a:fld>
            <a:endParaRPr lang="fr-CH"/>
          </a:p>
        </p:txBody>
      </p:sp>
    </p:spTree>
    <p:extLst>
      <p:ext uri="{BB962C8B-B14F-4D97-AF65-F5344CB8AC3E}">
        <p14:creationId xmlns:p14="http://schemas.microsoft.com/office/powerpoint/2010/main" val="3954269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11</a:t>
            </a:fld>
            <a:endParaRPr lang="fr-CH"/>
          </a:p>
        </p:txBody>
      </p:sp>
    </p:spTree>
    <p:extLst>
      <p:ext uri="{BB962C8B-B14F-4D97-AF65-F5344CB8AC3E}">
        <p14:creationId xmlns:p14="http://schemas.microsoft.com/office/powerpoint/2010/main" val="351859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12</a:t>
            </a:fld>
            <a:endParaRPr lang="fr-CH"/>
          </a:p>
        </p:txBody>
      </p:sp>
    </p:spTree>
    <p:extLst>
      <p:ext uri="{BB962C8B-B14F-4D97-AF65-F5344CB8AC3E}">
        <p14:creationId xmlns:p14="http://schemas.microsoft.com/office/powerpoint/2010/main" val="3623622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13</a:t>
            </a:fld>
            <a:endParaRPr lang="fr-CH"/>
          </a:p>
        </p:txBody>
      </p:sp>
    </p:spTree>
    <p:extLst>
      <p:ext uri="{BB962C8B-B14F-4D97-AF65-F5344CB8AC3E}">
        <p14:creationId xmlns:p14="http://schemas.microsoft.com/office/powerpoint/2010/main" val="7093822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14</a:t>
            </a:fld>
            <a:endParaRPr lang="fr-CH"/>
          </a:p>
        </p:txBody>
      </p:sp>
    </p:spTree>
    <p:extLst>
      <p:ext uri="{BB962C8B-B14F-4D97-AF65-F5344CB8AC3E}">
        <p14:creationId xmlns:p14="http://schemas.microsoft.com/office/powerpoint/2010/main" val="428045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15</a:t>
            </a:fld>
            <a:endParaRPr lang="fr-CH"/>
          </a:p>
        </p:txBody>
      </p:sp>
    </p:spTree>
    <p:extLst>
      <p:ext uri="{BB962C8B-B14F-4D97-AF65-F5344CB8AC3E}">
        <p14:creationId xmlns:p14="http://schemas.microsoft.com/office/powerpoint/2010/main" val="3630898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Selective Compliance Assembly Robot Arm</a:t>
            </a:r>
            <a:r>
              <a:rPr lang="en-US" sz="1200" dirty="0"/>
              <a:t> </a:t>
            </a:r>
            <a:endParaRPr lang="fr-CH" sz="1200" dirty="0"/>
          </a:p>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16</a:t>
            </a:fld>
            <a:endParaRPr lang="fr-CH"/>
          </a:p>
        </p:txBody>
      </p:sp>
    </p:spTree>
    <p:extLst>
      <p:ext uri="{BB962C8B-B14F-4D97-AF65-F5344CB8AC3E}">
        <p14:creationId xmlns:p14="http://schemas.microsoft.com/office/powerpoint/2010/main" val="3662027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17</a:t>
            </a:fld>
            <a:endParaRPr lang="fr-CH"/>
          </a:p>
        </p:txBody>
      </p:sp>
    </p:spTree>
    <p:extLst>
      <p:ext uri="{BB962C8B-B14F-4D97-AF65-F5344CB8AC3E}">
        <p14:creationId xmlns:p14="http://schemas.microsoft.com/office/powerpoint/2010/main" val="2071399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18</a:t>
            </a:fld>
            <a:endParaRPr lang="fr-CH"/>
          </a:p>
        </p:txBody>
      </p:sp>
    </p:spTree>
    <p:extLst>
      <p:ext uri="{BB962C8B-B14F-4D97-AF65-F5344CB8AC3E}">
        <p14:creationId xmlns:p14="http://schemas.microsoft.com/office/powerpoint/2010/main" val="114562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19</a:t>
            </a:fld>
            <a:endParaRPr lang="fr-CH"/>
          </a:p>
        </p:txBody>
      </p:sp>
    </p:spTree>
    <p:extLst>
      <p:ext uri="{BB962C8B-B14F-4D97-AF65-F5344CB8AC3E}">
        <p14:creationId xmlns:p14="http://schemas.microsoft.com/office/powerpoint/2010/main" val="377336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20</a:t>
            </a:fld>
            <a:endParaRPr lang="fr-CH"/>
          </a:p>
        </p:txBody>
      </p:sp>
    </p:spTree>
    <p:extLst>
      <p:ext uri="{BB962C8B-B14F-4D97-AF65-F5344CB8AC3E}">
        <p14:creationId xmlns:p14="http://schemas.microsoft.com/office/powerpoint/2010/main" val="1878236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21</a:t>
            </a:fld>
            <a:endParaRPr lang="fr-CH"/>
          </a:p>
        </p:txBody>
      </p:sp>
    </p:spTree>
    <p:extLst>
      <p:ext uri="{BB962C8B-B14F-4D97-AF65-F5344CB8AC3E}">
        <p14:creationId xmlns:p14="http://schemas.microsoft.com/office/powerpoint/2010/main" val="20032366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22</a:t>
            </a:fld>
            <a:endParaRPr lang="fr-CH"/>
          </a:p>
        </p:txBody>
      </p:sp>
    </p:spTree>
    <p:extLst>
      <p:ext uri="{BB962C8B-B14F-4D97-AF65-F5344CB8AC3E}">
        <p14:creationId xmlns:p14="http://schemas.microsoft.com/office/powerpoint/2010/main" val="38961856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23</a:t>
            </a:fld>
            <a:endParaRPr lang="fr-CH"/>
          </a:p>
        </p:txBody>
      </p:sp>
    </p:spTree>
    <p:extLst>
      <p:ext uri="{BB962C8B-B14F-4D97-AF65-F5344CB8AC3E}">
        <p14:creationId xmlns:p14="http://schemas.microsoft.com/office/powerpoint/2010/main" val="11966379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5"/>
          </p:nvPr>
        </p:nvSpPr>
        <p:spPr/>
        <p:txBody>
          <a:bodyPr/>
          <a:lstStyle/>
          <a:p>
            <a:fld id="{F00AB757-58AB-499D-A9D3-311C05BD52E0}" type="slidenum">
              <a:rPr lang="fr-CH" smtClean="0"/>
              <a:t>24</a:t>
            </a:fld>
            <a:endParaRPr lang="fr-CH"/>
          </a:p>
        </p:txBody>
      </p:sp>
    </p:spTree>
    <p:extLst>
      <p:ext uri="{BB962C8B-B14F-4D97-AF65-F5344CB8AC3E}">
        <p14:creationId xmlns:p14="http://schemas.microsoft.com/office/powerpoint/2010/main" val="34515379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25</a:t>
            </a:fld>
            <a:endParaRPr lang="fr-CH"/>
          </a:p>
        </p:txBody>
      </p:sp>
    </p:spTree>
    <p:extLst>
      <p:ext uri="{BB962C8B-B14F-4D97-AF65-F5344CB8AC3E}">
        <p14:creationId xmlns:p14="http://schemas.microsoft.com/office/powerpoint/2010/main" val="530503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26</a:t>
            </a:fld>
            <a:endParaRPr lang="fr-CH"/>
          </a:p>
        </p:txBody>
      </p:sp>
    </p:spTree>
    <p:extLst>
      <p:ext uri="{BB962C8B-B14F-4D97-AF65-F5344CB8AC3E}">
        <p14:creationId xmlns:p14="http://schemas.microsoft.com/office/powerpoint/2010/main" val="18169805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27</a:t>
            </a:fld>
            <a:endParaRPr lang="fr-CH"/>
          </a:p>
        </p:txBody>
      </p:sp>
    </p:spTree>
    <p:extLst>
      <p:ext uri="{BB962C8B-B14F-4D97-AF65-F5344CB8AC3E}">
        <p14:creationId xmlns:p14="http://schemas.microsoft.com/office/powerpoint/2010/main" val="16484886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28</a:t>
            </a:fld>
            <a:endParaRPr lang="fr-CH"/>
          </a:p>
        </p:txBody>
      </p:sp>
    </p:spTree>
    <p:extLst>
      <p:ext uri="{BB962C8B-B14F-4D97-AF65-F5344CB8AC3E}">
        <p14:creationId xmlns:p14="http://schemas.microsoft.com/office/powerpoint/2010/main" val="3724552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29</a:t>
            </a:fld>
            <a:endParaRPr lang="fr-CH"/>
          </a:p>
        </p:txBody>
      </p:sp>
    </p:spTree>
    <p:extLst>
      <p:ext uri="{BB962C8B-B14F-4D97-AF65-F5344CB8AC3E}">
        <p14:creationId xmlns:p14="http://schemas.microsoft.com/office/powerpoint/2010/main" val="38966650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30</a:t>
            </a:fld>
            <a:endParaRPr lang="fr-CH"/>
          </a:p>
        </p:txBody>
      </p:sp>
    </p:spTree>
    <p:extLst>
      <p:ext uri="{BB962C8B-B14F-4D97-AF65-F5344CB8AC3E}">
        <p14:creationId xmlns:p14="http://schemas.microsoft.com/office/powerpoint/2010/main" val="3019950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31</a:t>
            </a:fld>
            <a:endParaRPr lang="fr-CH"/>
          </a:p>
        </p:txBody>
      </p:sp>
    </p:spTree>
    <p:extLst>
      <p:ext uri="{BB962C8B-B14F-4D97-AF65-F5344CB8AC3E}">
        <p14:creationId xmlns:p14="http://schemas.microsoft.com/office/powerpoint/2010/main" val="39068264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32</a:t>
            </a:fld>
            <a:endParaRPr lang="fr-CH"/>
          </a:p>
        </p:txBody>
      </p:sp>
    </p:spTree>
    <p:extLst>
      <p:ext uri="{BB962C8B-B14F-4D97-AF65-F5344CB8AC3E}">
        <p14:creationId xmlns:p14="http://schemas.microsoft.com/office/powerpoint/2010/main" val="16571875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Source: Google images</a:t>
            </a:r>
          </a:p>
        </p:txBody>
      </p:sp>
      <p:sp>
        <p:nvSpPr>
          <p:cNvPr id="4" name="Espace réservé du numéro de diapositive 3"/>
          <p:cNvSpPr>
            <a:spLocks noGrp="1"/>
          </p:cNvSpPr>
          <p:nvPr>
            <p:ph type="sldNum" sz="quarter" idx="5"/>
          </p:nvPr>
        </p:nvSpPr>
        <p:spPr/>
        <p:txBody>
          <a:bodyPr/>
          <a:lstStyle/>
          <a:p>
            <a:fld id="{F00AB757-58AB-499D-A9D3-311C05BD52E0}" type="slidenum">
              <a:rPr lang="fr-CH" smtClean="0"/>
              <a:t>33</a:t>
            </a:fld>
            <a:endParaRPr lang="fr-CH"/>
          </a:p>
        </p:txBody>
      </p:sp>
    </p:spTree>
    <p:extLst>
      <p:ext uri="{BB962C8B-B14F-4D97-AF65-F5344CB8AC3E}">
        <p14:creationId xmlns:p14="http://schemas.microsoft.com/office/powerpoint/2010/main" val="40454868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34</a:t>
            </a:fld>
            <a:endParaRPr lang="fr-CH"/>
          </a:p>
        </p:txBody>
      </p:sp>
    </p:spTree>
    <p:extLst>
      <p:ext uri="{BB962C8B-B14F-4D97-AF65-F5344CB8AC3E}">
        <p14:creationId xmlns:p14="http://schemas.microsoft.com/office/powerpoint/2010/main" val="11587118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euil avec photo">
    <p:spTree>
      <p:nvGrpSpPr>
        <p:cNvPr id="1" name=""/>
        <p:cNvGrpSpPr/>
        <p:nvPr/>
      </p:nvGrpSpPr>
      <p:grpSpPr>
        <a:xfrm>
          <a:off x="0" y="0"/>
          <a:ext cx="0" cy="0"/>
          <a:chOff x="0" y="0"/>
          <a:chExt cx="0" cy="0"/>
        </a:xfrm>
      </p:grpSpPr>
      <p:sp>
        <p:nvSpPr>
          <p:cNvPr id="6" name="Bildplatzhalter 5"/>
          <p:cNvSpPr>
            <a:spLocks noGrp="1"/>
          </p:cNvSpPr>
          <p:nvPr>
            <p:ph type="pic" sz="quarter" idx="11" hasCustomPrompt="1"/>
          </p:nvPr>
        </p:nvSpPr>
        <p:spPr>
          <a:xfrm>
            <a:off x="0" y="1259557"/>
            <a:ext cx="10728000" cy="5544616"/>
          </a:xfrm>
          <a:prstGeom prst="rect">
            <a:avLst/>
          </a:prstGeom>
        </p:spPr>
        <p:txBody>
          <a:bodyPr/>
          <a:lstStyle>
            <a:lvl1pPr>
              <a:defRPr/>
            </a:lvl1pPr>
          </a:lstStyle>
          <a:p>
            <a:r>
              <a:rPr lang="fr-CH" dirty="0"/>
              <a:t>Image</a:t>
            </a:r>
          </a:p>
        </p:txBody>
      </p:sp>
      <p:sp>
        <p:nvSpPr>
          <p:cNvPr id="5" name="Espace réservé du texte 4"/>
          <p:cNvSpPr>
            <a:spLocks noGrp="1"/>
          </p:cNvSpPr>
          <p:nvPr>
            <p:ph type="body" sz="quarter" idx="10" hasCustomPrompt="1"/>
          </p:nvPr>
        </p:nvSpPr>
        <p:spPr>
          <a:xfrm>
            <a:off x="593378" y="3985200"/>
            <a:ext cx="9008224" cy="873213"/>
          </a:xfrm>
          <a:prstGeom prst="rect">
            <a:avLst/>
          </a:prstGeom>
        </p:spPr>
        <p:txBody>
          <a:bodyPr anchor="ctr" anchorCtr="0"/>
          <a:lstStyle>
            <a:lvl1pPr>
              <a:buNone/>
              <a:defRPr sz="5400" b="0">
                <a:solidFill>
                  <a:schemeClr val="bg1"/>
                </a:solidFill>
                <a:latin typeface="Tahoma" pitchFamily="34" charset="0"/>
                <a:ea typeface="Tahoma" pitchFamily="34" charset="0"/>
                <a:cs typeface="Tahoma" pitchFamily="34" charset="0"/>
              </a:defRPr>
            </a:lvl1pPr>
          </a:lstStyle>
          <a:p>
            <a:pPr lvl="0"/>
            <a:r>
              <a:rPr lang="fr-FR" dirty="0"/>
              <a:t>Bienvenue!</a:t>
            </a:r>
          </a:p>
        </p:txBody>
      </p:sp>
      <p:pic>
        <p:nvPicPr>
          <p:cNvPr id="4" name="Grafik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386" y="6948189"/>
            <a:ext cx="1107509" cy="288000"/>
          </a:xfrm>
          <a:prstGeom prst="rect">
            <a:avLst/>
          </a:prstGeom>
        </p:spPr>
      </p:pic>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cceuil avec bandeau photo">
    <p:spTree>
      <p:nvGrpSpPr>
        <p:cNvPr id="1" name=""/>
        <p:cNvGrpSpPr/>
        <p:nvPr/>
      </p:nvGrpSpPr>
      <p:grpSpPr>
        <a:xfrm>
          <a:off x="0" y="0"/>
          <a:ext cx="0" cy="0"/>
          <a:chOff x="0" y="0"/>
          <a:chExt cx="0" cy="0"/>
        </a:xfrm>
      </p:grpSpPr>
      <p:sp>
        <p:nvSpPr>
          <p:cNvPr id="6" name="Espace réservé du texte 5"/>
          <p:cNvSpPr>
            <a:spLocks noGrp="1"/>
          </p:cNvSpPr>
          <p:nvPr>
            <p:ph type="body" sz="quarter" idx="10" hasCustomPrompt="1"/>
          </p:nvPr>
        </p:nvSpPr>
        <p:spPr>
          <a:xfrm>
            <a:off x="586154" y="3707829"/>
            <a:ext cx="9008224" cy="794466"/>
          </a:xfrm>
          <a:prstGeom prst="rect">
            <a:avLst/>
          </a:prstGeom>
        </p:spPr>
        <p:txBody>
          <a:bodyPr anchor="ctr" anchorCtr="0"/>
          <a:lstStyle>
            <a:lvl1pPr>
              <a:buNone/>
              <a:defRPr sz="5400" b="0">
                <a:solidFill>
                  <a:srgbClr val="FF0000"/>
                </a:solidFill>
                <a:latin typeface="Tahoma" pitchFamily="34" charset="0"/>
                <a:ea typeface="Tahoma" pitchFamily="34" charset="0"/>
                <a:cs typeface="Tahoma" pitchFamily="34" charset="0"/>
              </a:defRPr>
            </a:lvl1pPr>
          </a:lstStyle>
          <a:p>
            <a:pPr lvl="0"/>
            <a:r>
              <a:rPr lang="fr-FR" dirty="0"/>
              <a:t>Titre de la présentation</a:t>
            </a:r>
          </a:p>
        </p:txBody>
      </p:sp>
      <p:sp>
        <p:nvSpPr>
          <p:cNvPr id="3" name="Espace réservé pour une image  12"/>
          <p:cNvSpPr>
            <a:spLocks noGrp="1"/>
          </p:cNvSpPr>
          <p:nvPr>
            <p:ph type="pic" sz="quarter" idx="12"/>
          </p:nvPr>
        </p:nvSpPr>
        <p:spPr>
          <a:xfrm>
            <a:off x="0" y="1244997"/>
            <a:ext cx="10691813" cy="1568164"/>
          </a:xfrm>
          <a:prstGeom prst="rect">
            <a:avLst/>
          </a:prstGeom>
        </p:spPr>
        <p:txBody>
          <a:bodyPr/>
          <a:lstStyle>
            <a:lvl1pPr>
              <a:buNone/>
              <a:defRPr>
                <a:solidFill>
                  <a:srgbClr val="707173"/>
                </a:solidFill>
              </a:defRPr>
            </a:lvl1pPr>
          </a:lstStyle>
          <a:p>
            <a:r>
              <a:rPr lang="fr-FR"/>
              <a:t>Cliquez sur l'icône pour ajouter une image</a:t>
            </a:r>
            <a:endParaRPr lang="fr-CH" dirty="0"/>
          </a:p>
        </p:txBody>
      </p:sp>
      <p:pic>
        <p:nvPicPr>
          <p:cNvPr id="5"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386" y="6948189"/>
            <a:ext cx="1107509" cy="288000"/>
          </a:xfrm>
          <a:prstGeom prst="rect">
            <a:avLst/>
          </a:prstGeom>
        </p:spPr>
      </p:pic>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avec bandeau photo">
    <p:spTree>
      <p:nvGrpSpPr>
        <p:cNvPr id="1" name=""/>
        <p:cNvGrpSpPr/>
        <p:nvPr/>
      </p:nvGrpSpPr>
      <p:grpSpPr>
        <a:xfrm>
          <a:off x="0" y="0"/>
          <a:ext cx="0" cy="0"/>
          <a:chOff x="0" y="0"/>
          <a:chExt cx="0" cy="0"/>
        </a:xfrm>
      </p:grpSpPr>
      <p:sp>
        <p:nvSpPr>
          <p:cNvPr id="9" name="Espace réservé du texte 8"/>
          <p:cNvSpPr>
            <a:spLocks noGrp="1"/>
          </p:cNvSpPr>
          <p:nvPr>
            <p:ph type="body" sz="quarter" idx="10" hasCustomPrompt="1"/>
          </p:nvPr>
        </p:nvSpPr>
        <p:spPr>
          <a:xfrm>
            <a:off x="565230" y="2915741"/>
            <a:ext cx="5644772" cy="396877"/>
          </a:xfrm>
          <a:prstGeom prst="rect">
            <a:avLst/>
          </a:prstGeom>
        </p:spPr>
        <p:txBody>
          <a:bodyPr/>
          <a:lstStyle>
            <a:lvl1pPr>
              <a:buNone/>
              <a:defRPr sz="2400" b="1" baseline="0">
                <a:solidFill>
                  <a:srgbClr val="FF0000"/>
                </a:solidFill>
                <a:latin typeface="Tahoma" pitchFamily="34" charset="0"/>
                <a:ea typeface="Tahoma" pitchFamily="34" charset="0"/>
                <a:cs typeface="Tahoma" pitchFamily="34" charset="0"/>
              </a:defRPr>
            </a:lvl1pPr>
          </a:lstStyle>
          <a:p>
            <a:pPr lvl="0"/>
            <a:r>
              <a:rPr lang="fr-CH" dirty="0"/>
              <a:t>Titre</a:t>
            </a:r>
          </a:p>
        </p:txBody>
      </p:sp>
      <p:sp>
        <p:nvSpPr>
          <p:cNvPr id="11" name="Espace réservé du texte 10"/>
          <p:cNvSpPr>
            <a:spLocks noGrp="1"/>
          </p:cNvSpPr>
          <p:nvPr>
            <p:ph type="body" sz="quarter" idx="11" hasCustomPrompt="1"/>
          </p:nvPr>
        </p:nvSpPr>
        <p:spPr>
          <a:xfrm>
            <a:off x="565230" y="3496131"/>
            <a:ext cx="5644772" cy="3020010"/>
          </a:xfrm>
          <a:prstGeom prst="rect">
            <a:avLst/>
          </a:prstGeom>
        </p:spPr>
        <p:txBody>
          <a:bodyPr/>
          <a:lstStyle>
            <a:lvl1pPr algn="l">
              <a:buNone/>
              <a:defRPr sz="1600">
                <a:solidFill>
                  <a:srgbClr val="707173"/>
                </a:solidFill>
                <a:latin typeface="Tahoma" pitchFamily="34" charset="0"/>
                <a:ea typeface="Tahoma" pitchFamily="34" charset="0"/>
                <a:cs typeface="Tahoma" pitchFamily="34" charset="0"/>
              </a:defRPr>
            </a:lvl1pPr>
            <a:lvl5pPr>
              <a:buNone/>
              <a:defRPr/>
            </a:lvl5pPr>
          </a:lstStyle>
          <a:p>
            <a:pPr lvl="0"/>
            <a:r>
              <a:rPr lang="fr-CH" dirty="0"/>
              <a:t>Texte</a:t>
            </a:r>
          </a:p>
        </p:txBody>
      </p:sp>
      <p:sp>
        <p:nvSpPr>
          <p:cNvPr id="13" name="Espace réservé pour une image  12"/>
          <p:cNvSpPr>
            <a:spLocks noGrp="1"/>
          </p:cNvSpPr>
          <p:nvPr>
            <p:ph type="pic" sz="quarter" idx="12"/>
          </p:nvPr>
        </p:nvSpPr>
        <p:spPr>
          <a:xfrm>
            <a:off x="-1" y="1245600"/>
            <a:ext cx="10691813" cy="1569600"/>
          </a:xfrm>
          <a:prstGeom prst="rect">
            <a:avLst/>
          </a:prstGeom>
        </p:spPr>
        <p:txBody>
          <a:bodyPr/>
          <a:lstStyle>
            <a:lvl1pPr>
              <a:buNone/>
              <a:defRPr/>
            </a:lvl1pPr>
          </a:lstStyle>
          <a:p>
            <a:r>
              <a:rPr lang="fr-FR"/>
              <a:t>Cliquez sur l'icône pour ajouter une image</a:t>
            </a:r>
            <a:endParaRPr lang="fr-CH" dirty="0"/>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negativ avec bandeau photo">
    <p:spTree>
      <p:nvGrpSpPr>
        <p:cNvPr id="1" name=""/>
        <p:cNvGrpSpPr/>
        <p:nvPr/>
      </p:nvGrpSpPr>
      <p:grpSpPr>
        <a:xfrm>
          <a:off x="0" y="0"/>
          <a:ext cx="0" cy="0"/>
          <a:chOff x="0" y="0"/>
          <a:chExt cx="0" cy="0"/>
        </a:xfrm>
      </p:grpSpPr>
      <p:sp>
        <p:nvSpPr>
          <p:cNvPr id="11" name="Espace réservé du texte 10"/>
          <p:cNvSpPr>
            <a:spLocks noGrp="1"/>
          </p:cNvSpPr>
          <p:nvPr>
            <p:ph type="body" sz="quarter" idx="11" hasCustomPrompt="1"/>
          </p:nvPr>
        </p:nvSpPr>
        <p:spPr>
          <a:xfrm>
            <a:off x="566768" y="3491805"/>
            <a:ext cx="7011386" cy="2808312"/>
          </a:xfrm>
          <a:prstGeom prst="rect">
            <a:avLst/>
          </a:prstGeom>
        </p:spPr>
        <p:txBody>
          <a:bodyPr/>
          <a:lstStyle>
            <a:lvl1pPr marL="0" indent="0" algn="l">
              <a:buNone/>
              <a:defRPr sz="1600">
                <a:solidFill>
                  <a:srgbClr val="707173"/>
                </a:solidFill>
                <a:latin typeface="Tahoma" pitchFamily="34" charset="0"/>
                <a:ea typeface="Tahoma" pitchFamily="34" charset="0"/>
                <a:cs typeface="Tahoma" pitchFamily="34" charset="0"/>
              </a:defRPr>
            </a:lvl1pPr>
            <a:lvl5pPr>
              <a:buNone/>
              <a:defRPr/>
            </a:lvl5pPr>
          </a:lstStyle>
          <a:p>
            <a:pPr lvl="0"/>
            <a:r>
              <a:rPr lang="fr-CH" dirty="0"/>
              <a:t>Texte</a:t>
            </a:r>
          </a:p>
          <a:p>
            <a:pPr lvl="0"/>
            <a:endParaRPr lang="fr-CH" dirty="0"/>
          </a:p>
          <a:p>
            <a:pPr lvl="0"/>
            <a:endParaRPr lang="fr-CH" dirty="0"/>
          </a:p>
        </p:txBody>
      </p:sp>
      <p:sp>
        <p:nvSpPr>
          <p:cNvPr id="13" name="Espace réservé pour une image  12"/>
          <p:cNvSpPr>
            <a:spLocks noGrp="1"/>
          </p:cNvSpPr>
          <p:nvPr>
            <p:ph type="pic" sz="quarter" idx="12"/>
          </p:nvPr>
        </p:nvSpPr>
        <p:spPr>
          <a:xfrm>
            <a:off x="-1" y="1245600"/>
            <a:ext cx="10691813" cy="1569600"/>
          </a:xfrm>
          <a:prstGeom prst="rect">
            <a:avLst/>
          </a:prstGeom>
        </p:spPr>
        <p:txBody>
          <a:bodyPr/>
          <a:lstStyle>
            <a:lvl1pPr>
              <a:buNone/>
              <a:defRPr/>
            </a:lvl1pPr>
          </a:lstStyle>
          <a:p>
            <a:r>
              <a:rPr lang="fr-FR"/>
              <a:t>Cliquez sur l'icône pour ajouter une image</a:t>
            </a:r>
            <a:endParaRPr lang="fr-CH" dirty="0"/>
          </a:p>
        </p:txBody>
      </p:sp>
      <p:sp>
        <p:nvSpPr>
          <p:cNvPr id="5" name="Rechteck 4"/>
          <p:cNvSpPr/>
          <p:nvPr userDrawn="1"/>
        </p:nvSpPr>
        <p:spPr>
          <a:xfrm>
            <a:off x="-17315" y="2814951"/>
            <a:ext cx="10691813" cy="5328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9" name="Espace réservé du texte 8"/>
          <p:cNvSpPr>
            <a:spLocks noGrp="1"/>
          </p:cNvSpPr>
          <p:nvPr>
            <p:ph type="body" sz="quarter" idx="10" hasCustomPrompt="1"/>
          </p:nvPr>
        </p:nvSpPr>
        <p:spPr>
          <a:xfrm>
            <a:off x="572797" y="2843733"/>
            <a:ext cx="5644772" cy="396877"/>
          </a:xfrm>
          <a:prstGeom prst="rect">
            <a:avLst/>
          </a:prstGeom>
        </p:spPr>
        <p:txBody>
          <a:bodyPr/>
          <a:lstStyle>
            <a:lvl1pPr>
              <a:buNone/>
              <a:defRPr sz="2400" b="1" baseline="0">
                <a:solidFill>
                  <a:schemeClr val="bg1"/>
                </a:solidFill>
                <a:latin typeface="Tahoma" pitchFamily="34" charset="0"/>
                <a:ea typeface="Tahoma" pitchFamily="34" charset="0"/>
                <a:cs typeface="Tahoma" pitchFamily="34" charset="0"/>
              </a:defRPr>
            </a:lvl1pPr>
          </a:lstStyle>
          <a:p>
            <a:pPr lvl="0"/>
            <a:r>
              <a:rPr lang="fr-CH" dirty="0"/>
              <a:t>Titre</a:t>
            </a:r>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623032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9" name="Espace réservé du texte 8"/>
          <p:cNvSpPr>
            <a:spLocks noGrp="1"/>
          </p:cNvSpPr>
          <p:nvPr>
            <p:ph type="body" sz="quarter" idx="10" hasCustomPrompt="1"/>
          </p:nvPr>
        </p:nvSpPr>
        <p:spPr>
          <a:xfrm>
            <a:off x="576000" y="1257978"/>
            <a:ext cx="9008063"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Sommaire</a:t>
            </a:r>
          </a:p>
        </p:txBody>
      </p:sp>
      <p:sp>
        <p:nvSpPr>
          <p:cNvPr id="13" name="Espace réservé du texte 12"/>
          <p:cNvSpPr>
            <a:spLocks noGrp="1"/>
          </p:cNvSpPr>
          <p:nvPr>
            <p:ph type="body" sz="quarter" idx="11" hasCustomPrompt="1"/>
          </p:nvPr>
        </p:nvSpPr>
        <p:spPr>
          <a:xfrm>
            <a:off x="576000" y="2411685"/>
            <a:ext cx="3047588" cy="3672408"/>
          </a:xfrm>
          <a:prstGeom prst="rect">
            <a:avLst/>
          </a:prstGeom>
        </p:spPr>
        <p:txBody>
          <a:bodyPr/>
          <a:lstStyle>
            <a:lvl1pPr indent="-360000">
              <a:lnSpc>
                <a:spcPct val="150000"/>
              </a:lnSpc>
              <a:spcBef>
                <a:spcPts val="0"/>
              </a:spcBef>
              <a:buFont typeface="+mj-lt"/>
              <a:buAutoNum type="arabicPeriod"/>
              <a:defRPr sz="1600" b="1">
                <a:solidFill>
                  <a:srgbClr val="707173"/>
                </a:solidFill>
                <a:latin typeface="Tahoma" pitchFamily="34" charset="0"/>
                <a:ea typeface="Tahoma" pitchFamily="34" charset="0"/>
                <a:cs typeface="Tahoma" pitchFamily="34" charset="0"/>
              </a:defRPr>
            </a:lvl1pPr>
            <a:lvl2pPr marL="1188000">
              <a:buFontTx/>
              <a:buNone/>
              <a:defRPr sz="1200" b="0">
                <a:solidFill>
                  <a:srgbClr val="707173"/>
                </a:solidFill>
                <a:latin typeface="Tahoma" pitchFamily="34" charset="0"/>
                <a:ea typeface="Tahoma" pitchFamily="34" charset="0"/>
                <a:cs typeface="Tahoma" pitchFamily="34" charset="0"/>
              </a:defRPr>
            </a:lvl2pPr>
            <a:lvl3pPr>
              <a:buFontTx/>
              <a:buNone/>
              <a:defRPr sz="1100" b="1">
                <a:solidFill>
                  <a:srgbClr val="707173"/>
                </a:solidFill>
                <a:latin typeface="Tahoma" pitchFamily="34" charset="0"/>
                <a:ea typeface="Tahoma" pitchFamily="34" charset="0"/>
                <a:cs typeface="Tahoma" pitchFamily="34" charset="0"/>
              </a:defRPr>
            </a:lvl3pPr>
          </a:lstStyle>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endParaRPr lang="fr-CH" dirty="0"/>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texte simple">
    <p:spTree>
      <p:nvGrpSpPr>
        <p:cNvPr id="1" name=""/>
        <p:cNvGrpSpPr/>
        <p:nvPr/>
      </p:nvGrpSpPr>
      <p:grpSpPr>
        <a:xfrm>
          <a:off x="0" y="0"/>
          <a:ext cx="0" cy="0"/>
          <a:chOff x="0" y="0"/>
          <a:chExt cx="0" cy="0"/>
        </a:xfrm>
      </p:grpSpPr>
      <p:sp>
        <p:nvSpPr>
          <p:cNvPr id="4" name="Espace réservé du texte 4"/>
          <p:cNvSpPr>
            <a:spLocks noGrp="1"/>
          </p:cNvSpPr>
          <p:nvPr>
            <p:ph type="body" sz="quarter" idx="10" hasCustomPrompt="1"/>
          </p:nvPr>
        </p:nvSpPr>
        <p:spPr>
          <a:xfrm>
            <a:off x="586084" y="1239822"/>
            <a:ext cx="9008063"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Titre</a:t>
            </a:r>
            <a:endParaRPr lang="fr-CH" dirty="0"/>
          </a:p>
        </p:txBody>
      </p:sp>
      <p:sp>
        <p:nvSpPr>
          <p:cNvPr id="6" name="Espace réservé du texte 5"/>
          <p:cNvSpPr>
            <a:spLocks noGrp="1"/>
          </p:cNvSpPr>
          <p:nvPr>
            <p:ph type="body" sz="quarter" idx="11" hasCustomPrompt="1"/>
          </p:nvPr>
        </p:nvSpPr>
        <p:spPr>
          <a:xfrm>
            <a:off x="586315" y="2269887"/>
            <a:ext cx="9008063" cy="4523900"/>
          </a:xfrm>
          <a:prstGeom prst="rect">
            <a:avLst/>
          </a:prstGeom>
        </p:spPr>
        <p:txBody>
          <a:bodyPr/>
          <a:lstStyle>
            <a:lvl1pPr marL="0" indent="0">
              <a:buNone/>
              <a:defRPr sz="2400">
                <a:solidFill>
                  <a:srgbClr val="707173"/>
                </a:solidFill>
                <a:latin typeface="Tahoma" pitchFamily="34" charset="0"/>
                <a:ea typeface="Tahoma" pitchFamily="34" charset="0"/>
                <a:cs typeface="Tahoma" pitchFamily="34" charset="0"/>
              </a:defRPr>
            </a:lvl1pPr>
          </a:lstStyle>
          <a:p>
            <a:pPr lvl="0"/>
            <a:r>
              <a:rPr lang="fr-CH" dirty="0"/>
              <a:t>Texte</a:t>
            </a:r>
          </a:p>
          <a:p>
            <a:pPr lvl="0"/>
            <a:endParaRPr lang="fr-CH" dirty="0"/>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lonnes énumération">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énumération </a:t>
            </a:r>
            <a:endParaRPr lang="fr-CH" dirty="0"/>
          </a:p>
        </p:txBody>
      </p:sp>
      <p:sp>
        <p:nvSpPr>
          <p:cNvPr id="9" name="Espace réservé du texte 8"/>
          <p:cNvSpPr>
            <a:spLocks noGrp="1"/>
          </p:cNvSpPr>
          <p:nvPr>
            <p:ph type="body" sz="quarter" idx="11" hasCustomPrompt="1"/>
          </p:nvPr>
        </p:nvSpPr>
        <p:spPr>
          <a:xfrm>
            <a:off x="594179" y="2411685"/>
            <a:ext cx="3653738" cy="3744415"/>
          </a:xfrm>
          <a:prstGeom prst="rect">
            <a:avLst/>
          </a:prstGeom>
        </p:spPr>
        <p:txBody>
          <a:bodyPr/>
          <a:lstStyle>
            <a:lvl1pPr>
              <a:buFont typeface="Tahoma" pitchFamily="34" charset="0"/>
              <a:buChar char="—"/>
              <a:defRPr sz="1600" b="1" baseline="0">
                <a:solidFill>
                  <a:srgbClr val="707173"/>
                </a:solidFill>
                <a:latin typeface="Tahoma" pitchFamily="34" charset="0"/>
                <a:ea typeface="Tahoma" pitchFamily="34" charset="0"/>
                <a:cs typeface="Tahoma" pitchFamily="34" charset="0"/>
              </a:defRPr>
            </a:lvl1pPr>
            <a:lvl2pPr marL="648000">
              <a:buNone/>
              <a:defRPr sz="1200">
                <a:solidFill>
                  <a:srgbClr val="707173"/>
                </a:solidFill>
                <a:latin typeface="Tahoma" pitchFamily="34" charset="0"/>
                <a:ea typeface="Tahoma" pitchFamily="34" charset="0"/>
                <a:cs typeface="Tahoma" pitchFamily="34" charset="0"/>
              </a:defRPr>
            </a:lvl2pPr>
          </a:lstStyle>
          <a:p>
            <a:pPr lvl="0"/>
            <a:r>
              <a:rPr lang="fr-FR" dirty="0"/>
              <a:t>Titre 1</a:t>
            </a:r>
          </a:p>
          <a:p>
            <a:pPr lvl="1"/>
            <a:r>
              <a:rPr lang="fr-FR" dirty="0"/>
              <a:t>Texte 1</a:t>
            </a:r>
          </a:p>
          <a:p>
            <a:pPr lvl="1"/>
            <a:endParaRPr lang="fr-FR" dirty="0"/>
          </a:p>
          <a:p>
            <a:pPr lvl="0"/>
            <a:r>
              <a:rPr lang="fr-CH" dirty="0"/>
              <a:t>Titre 2</a:t>
            </a:r>
          </a:p>
          <a:p>
            <a:pPr lvl="1"/>
            <a:r>
              <a:rPr lang="fr-CH" dirty="0"/>
              <a:t>Texte 2</a:t>
            </a:r>
          </a:p>
          <a:p>
            <a:pPr lvl="1"/>
            <a:endParaRPr lang="fr-CH" dirty="0"/>
          </a:p>
          <a:p>
            <a:pPr lvl="0"/>
            <a:r>
              <a:rPr lang="fr-CH" dirty="0"/>
              <a:t>Titre 3</a:t>
            </a:r>
          </a:p>
          <a:p>
            <a:pPr lvl="1"/>
            <a:r>
              <a:rPr lang="fr-CH" dirty="0"/>
              <a:t>Texte 3</a:t>
            </a:r>
          </a:p>
        </p:txBody>
      </p:sp>
      <p:sp>
        <p:nvSpPr>
          <p:cNvPr id="15" name="Espace réservé du texte 14"/>
          <p:cNvSpPr>
            <a:spLocks noGrp="1"/>
          </p:cNvSpPr>
          <p:nvPr>
            <p:ph type="body" sz="quarter" idx="12" hasCustomPrompt="1"/>
          </p:nvPr>
        </p:nvSpPr>
        <p:spPr>
          <a:xfrm>
            <a:off x="4500479" y="2411685"/>
            <a:ext cx="3653738" cy="3744416"/>
          </a:xfrm>
          <a:prstGeom prst="rect">
            <a:avLst/>
          </a:prstGeom>
        </p:spPr>
        <p:txBody>
          <a:bodyPr/>
          <a:lstStyle>
            <a:lvl1pPr>
              <a:buFont typeface="Tahoma" pitchFamily="34" charset="0"/>
              <a:buChar char="—"/>
              <a:defRPr sz="1600" b="1">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Titre 4</a:t>
            </a:r>
          </a:p>
          <a:p>
            <a:pPr lvl="1"/>
            <a:r>
              <a:rPr lang="fr-CH" sz="1000" dirty="0">
                <a:solidFill>
                  <a:srgbClr val="707173"/>
                </a:solidFill>
                <a:latin typeface="Tahoma" pitchFamily="34" charset="0"/>
                <a:ea typeface="Tahoma" pitchFamily="34" charset="0"/>
                <a:cs typeface="Tahoma" pitchFamily="34" charset="0"/>
              </a:rPr>
              <a:t>Texte 4</a:t>
            </a:r>
          </a:p>
          <a:p>
            <a:pPr lvl="1"/>
            <a:endParaRPr lang="fr-CH" sz="1000" dirty="0">
              <a:solidFill>
                <a:srgbClr val="707173"/>
              </a:solidFill>
              <a:latin typeface="Tahoma" pitchFamily="34" charset="0"/>
              <a:ea typeface="Tahoma" pitchFamily="34" charset="0"/>
              <a:cs typeface="Tahoma" pitchFamily="34" charset="0"/>
            </a:endParaRPr>
          </a:p>
          <a:p>
            <a:pPr lvl="0"/>
            <a:r>
              <a:rPr lang="fr-CH" dirty="0"/>
              <a:t>Titre 5</a:t>
            </a:r>
          </a:p>
          <a:p>
            <a:pPr lvl="1"/>
            <a:r>
              <a:rPr lang="fr-CH" dirty="0"/>
              <a:t>Texte 5</a:t>
            </a:r>
          </a:p>
          <a:p>
            <a:pPr lvl="1"/>
            <a:endParaRPr lang="fr-CH" dirty="0"/>
          </a:p>
          <a:p>
            <a:pPr lvl="0"/>
            <a:r>
              <a:rPr lang="fr-CH" dirty="0"/>
              <a:t>Titre 6</a:t>
            </a:r>
          </a:p>
          <a:p>
            <a:pPr lvl="1"/>
            <a:r>
              <a:rPr lang="fr-CH" dirty="0"/>
              <a:t>Texte 6</a:t>
            </a:r>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e et photo">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photo</a:t>
            </a:r>
            <a:endParaRPr lang="fr-CH" dirty="0"/>
          </a:p>
        </p:txBody>
      </p:sp>
      <p:sp>
        <p:nvSpPr>
          <p:cNvPr id="15" name="Espace réservé du texte 14"/>
          <p:cNvSpPr>
            <a:spLocks noGrp="1"/>
          </p:cNvSpPr>
          <p:nvPr>
            <p:ph type="body" sz="quarter" idx="12" hasCustomPrompt="1"/>
          </p:nvPr>
        </p:nvSpPr>
        <p:spPr>
          <a:xfrm>
            <a:off x="4605666"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a:p>
            <a:pPr lvl="0"/>
            <a:endParaRPr lang="fr-FR" dirty="0"/>
          </a:p>
        </p:txBody>
      </p:sp>
      <p:sp>
        <p:nvSpPr>
          <p:cNvPr id="3" name="Bildplatzhalter 2"/>
          <p:cNvSpPr>
            <a:spLocks noGrp="1"/>
          </p:cNvSpPr>
          <p:nvPr>
            <p:ph type="pic" sz="quarter" idx="13" hasCustomPrompt="1"/>
          </p:nvPr>
        </p:nvSpPr>
        <p:spPr>
          <a:xfrm>
            <a:off x="665386" y="2413148"/>
            <a:ext cx="3652838" cy="3600450"/>
          </a:xfrm>
          <a:prstGeom prst="rect">
            <a:avLst/>
          </a:prstGeom>
        </p:spPr>
        <p:txBody>
          <a:bodyPr/>
          <a:lstStyle>
            <a:lvl1pPr>
              <a:defRPr/>
            </a:lvl1pPr>
          </a:lstStyle>
          <a:p>
            <a:r>
              <a:rPr lang="fr-CH" dirty="0"/>
              <a:t>Photo</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947829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e et diagramme">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diagramme</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4" name="Diagrammplatzhalter 3"/>
          <p:cNvSpPr>
            <a:spLocks noGrp="1"/>
          </p:cNvSpPr>
          <p:nvPr>
            <p:ph type="chart" sz="quarter" idx="13" hasCustomPrompt="1"/>
          </p:nvPr>
        </p:nvSpPr>
        <p:spPr>
          <a:xfrm>
            <a:off x="665386" y="2411561"/>
            <a:ext cx="3652838" cy="3602037"/>
          </a:xfrm>
          <a:prstGeom prst="rect">
            <a:avLst/>
          </a:prstGeom>
        </p:spPr>
        <p:txBody>
          <a:bodyPr/>
          <a:lstStyle>
            <a:lvl1pPr>
              <a:defRPr/>
            </a:lvl1pPr>
          </a:lstStyle>
          <a:p>
            <a:r>
              <a:rPr lang="fr-CH" dirty="0"/>
              <a:t>Diagramme</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530565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e et Excel">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a:t>
            </a:r>
            <a:r>
              <a:rPr lang="fr-FR" dirty="0" err="1"/>
              <a:t>excel</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3" name="Tabellenplatzhalter 2"/>
          <p:cNvSpPr>
            <a:spLocks noGrp="1"/>
          </p:cNvSpPr>
          <p:nvPr>
            <p:ph type="tbl" sz="quarter" idx="13" hasCustomPrompt="1"/>
          </p:nvPr>
        </p:nvSpPr>
        <p:spPr>
          <a:xfrm>
            <a:off x="665386" y="2411685"/>
            <a:ext cx="3652838" cy="3602037"/>
          </a:xfrm>
          <a:prstGeom prst="rect">
            <a:avLst/>
          </a:prstGeom>
        </p:spPr>
        <p:txBody>
          <a:bodyPr/>
          <a:lstStyle>
            <a:lvl1pPr>
              <a:defRPr/>
            </a:lvl1pPr>
          </a:lstStyle>
          <a:p>
            <a:r>
              <a:rPr lang="fr-CH" dirty="0"/>
              <a:t>Tableau</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45280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e et clip">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500" b="1">
                <a:solidFill>
                  <a:srgbClr val="FF0000"/>
                </a:solidFill>
                <a:latin typeface="Tahoma" pitchFamily="34" charset="0"/>
                <a:ea typeface="Tahoma" pitchFamily="34" charset="0"/>
                <a:cs typeface="Tahoma" pitchFamily="34" charset="0"/>
              </a:defRPr>
            </a:lvl1pPr>
          </a:lstStyle>
          <a:p>
            <a:pPr lvl="0"/>
            <a:r>
              <a:rPr lang="fr-FR" dirty="0"/>
              <a:t>Deux colonnes avec média</a:t>
            </a:r>
            <a:endParaRPr lang="fr-CH" dirty="0"/>
          </a:p>
        </p:txBody>
      </p:sp>
      <p:sp>
        <p:nvSpPr>
          <p:cNvPr id="15" name="Espace réservé du texte 14"/>
          <p:cNvSpPr>
            <a:spLocks noGrp="1"/>
          </p:cNvSpPr>
          <p:nvPr>
            <p:ph type="body" sz="quarter" idx="12" hasCustomPrompt="1"/>
          </p:nvPr>
        </p:nvSpPr>
        <p:spPr>
          <a:xfrm>
            <a:off x="4601771"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4" name="Medienplatzhalter 3"/>
          <p:cNvSpPr>
            <a:spLocks noGrp="1"/>
          </p:cNvSpPr>
          <p:nvPr>
            <p:ph type="media" sz="quarter" idx="13" hasCustomPrompt="1"/>
          </p:nvPr>
        </p:nvSpPr>
        <p:spPr>
          <a:xfrm>
            <a:off x="665386" y="2411685"/>
            <a:ext cx="3652838" cy="3602037"/>
          </a:xfrm>
          <a:prstGeom prst="rect">
            <a:avLst/>
          </a:prstGeom>
        </p:spPr>
        <p:txBody>
          <a:bodyPr/>
          <a:lstStyle>
            <a:lvl1pPr>
              <a:defRPr/>
            </a:lvl1pPr>
          </a:lstStyle>
          <a:p>
            <a:r>
              <a:rPr lang="fr-CH" dirty="0"/>
              <a:t>Média</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287320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e et image online">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Image Online</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3" name="Onlinebild-Platzhalter 2"/>
          <p:cNvSpPr>
            <a:spLocks noGrp="1"/>
          </p:cNvSpPr>
          <p:nvPr>
            <p:ph type="clipArt" sz="quarter" idx="13" hasCustomPrompt="1"/>
          </p:nvPr>
        </p:nvSpPr>
        <p:spPr>
          <a:xfrm>
            <a:off x="665386" y="2411561"/>
            <a:ext cx="3652838" cy="3602037"/>
          </a:xfrm>
          <a:prstGeom prst="rect">
            <a:avLst/>
          </a:prstGeom>
        </p:spPr>
        <p:txBody>
          <a:bodyPr/>
          <a:lstStyle>
            <a:lvl1pPr>
              <a:defRPr/>
            </a:lvl1pPr>
          </a:lstStyle>
          <a:p>
            <a:r>
              <a:rPr lang="fr-CH" dirty="0"/>
              <a:t>Image Online</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236904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grande image">
    <p:spTree>
      <p:nvGrpSpPr>
        <p:cNvPr id="1" name=""/>
        <p:cNvGrpSpPr/>
        <p:nvPr/>
      </p:nvGrpSpPr>
      <p:grpSpPr>
        <a:xfrm>
          <a:off x="0" y="0"/>
          <a:ext cx="0" cy="0"/>
          <a:chOff x="0" y="0"/>
          <a:chExt cx="0" cy="0"/>
        </a:xfrm>
      </p:grpSpPr>
      <p:sp>
        <p:nvSpPr>
          <p:cNvPr id="5" name="Espace réservé du texte 4"/>
          <p:cNvSpPr>
            <a:spLocks noGrp="1"/>
          </p:cNvSpPr>
          <p:nvPr>
            <p:ph type="body" sz="quarter" idx="10" hasCustomPrompt="1"/>
          </p:nvPr>
        </p:nvSpPr>
        <p:spPr>
          <a:xfrm>
            <a:off x="558650" y="1239822"/>
            <a:ext cx="939576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Image</a:t>
            </a:r>
            <a:endParaRPr lang="fr-CH" dirty="0"/>
          </a:p>
        </p:txBody>
      </p:sp>
      <p:sp>
        <p:nvSpPr>
          <p:cNvPr id="3" name="Bildplatzhalter 2"/>
          <p:cNvSpPr>
            <a:spLocks noGrp="1"/>
          </p:cNvSpPr>
          <p:nvPr>
            <p:ph type="pic" sz="quarter" idx="11"/>
          </p:nvPr>
        </p:nvSpPr>
        <p:spPr>
          <a:xfrm>
            <a:off x="665386" y="2339975"/>
            <a:ext cx="9396412" cy="4608513"/>
          </a:xfrm>
          <a:prstGeom prst="rect">
            <a:avLst/>
          </a:prstGeom>
        </p:spPr>
        <p:txBody>
          <a:bodyPr/>
          <a:lstStyle/>
          <a:p>
            <a:r>
              <a:rPr lang="fr-FR"/>
              <a:t>Cliquez sur l'icône pour ajouter une image</a:t>
            </a:r>
            <a:endParaRPr lang="fr-CH"/>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 ">
    <p:spTree>
      <p:nvGrpSpPr>
        <p:cNvPr id="1" name=""/>
        <p:cNvGrpSpPr/>
        <p:nvPr/>
      </p:nvGrpSpPr>
      <p:grpSpPr>
        <a:xfrm>
          <a:off x="0" y="0"/>
          <a:ext cx="0" cy="0"/>
          <a:chOff x="0" y="0"/>
          <a:chExt cx="0" cy="0"/>
        </a:xfrm>
      </p:grpSpPr>
      <p:sp>
        <p:nvSpPr>
          <p:cNvPr id="4" name="Rectangle 3"/>
          <p:cNvSpPr/>
          <p:nvPr userDrawn="1"/>
        </p:nvSpPr>
        <p:spPr>
          <a:xfrm>
            <a:off x="0" y="0"/>
            <a:ext cx="10691813" cy="7559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sz="2053"/>
          </a:p>
        </p:txBody>
      </p:sp>
      <p:sp>
        <p:nvSpPr>
          <p:cNvPr id="2" name="Espace réservé du numéro de diapositive 1"/>
          <p:cNvSpPr>
            <a:spLocks noGrp="1"/>
          </p:cNvSpPr>
          <p:nvPr>
            <p:ph type="sldNum" sz="quarter" idx="10"/>
          </p:nvPr>
        </p:nvSpPr>
        <p:spPr>
          <a:xfrm>
            <a:off x="4143375" y="7007225"/>
            <a:ext cx="2405062" cy="401638"/>
          </a:xfrm>
        </p:spPr>
        <p:txBody>
          <a:bodyPr/>
          <a:lstStyle/>
          <a:p>
            <a:fld id="{4F439F28-9AED-4E6F-B87B-0A4D16674C0E}" type="slidenum">
              <a:rPr lang="fr-CH" smtClean="0"/>
              <a:t>‹N°›</a:t>
            </a:fld>
            <a:endParaRPr lang="fr-C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Grafik 1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306346" y="6943614"/>
            <a:ext cx="720000" cy="292607"/>
          </a:xfrm>
          <a:prstGeom prst="rect">
            <a:avLst/>
          </a:prstGeom>
        </p:spPr>
      </p:pic>
      <p:pic>
        <p:nvPicPr>
          <p:cNvPr id="4" name="Image 3"/>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6467091" y="251445"/>
            <a:ext cx="3559304" cy="756000"/>
          </a:xfrm>
          <a:prstGeom prst="rect">
            <a:avLst/>
          </a:prstGeom>
        </p:spPr>
      </p:pic>
      <p:sp>
        <p:nvSpPr>
          <p:cNvPr id="2" name="Espace réservé du numéro de diapositive 1"/>
          <p:cNvSpPr>
            <a:spLocks noGrp="1"/>
          </p:cNvSpPr>
          <p:nvPr>
            <p:ph type="sldNum" sz="quarter" idx="4"/>
          </p:nvPr>
        </p:nvSpPr>
        <p:spPr>
          <a:xfrm>
            <a:off x="4143375" y="6978599"/>
            <a:ext cx="2405062"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fld id="{4F439F28-9AED-4E6F-B87B-0A4D16674C0E}" type="slidenum">
              <a:rPr lang="fr-CH" smtClean="0"/>
              <a:pPr/>
              <a:t>‹N°›</a:t>
            </a:fld>
            <a:endParaRPr lang="fr-CH"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8" r:id="rId4"/>
    <p:sldLayoutId id="2147483651" r:id="rId5"/>
    <p:sldLayoutId id="2147483655" r:id="rId6"/>
    <p:sldLayoutId id="2147483653" r:id="rId7"/>
    <p:sldLayoutId id="2147483659" r:id="rId8"/>
    <p:sldLayoutId id="2147483660" r:id="rId9"/>
    <p:sldLayoutId id="2147483661" r:id="rId10"/>
    <p:sldLayoutId id="2147483662" r:id="rId11"/>
    <p:sldLayoutId id="2147483663" r:id="rId12"/>
    <p:sldLayoutId id="2147483652" r:id="rId13"/>
    <p:sldLayoutId id="2147483656" r:id="rId1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8" userDrawn="1">
          <p15:clr>
            <a:srgbClr val="F26B43"/>
          </p15:clr>
        </p15:guide>
        <p15:guide id="2" pos="63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4.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jp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mailto:frederic.mathez@he-arc.ch" TargetMode="External"/><Relationship Id="rId3" Type="http://schemas.openxmlformats.org/officeDocument/2006/relationships/tags" Target="../tags/tag8.xml"/><Relationship Id="rId7" Type="http://schemas.openxmlformats.org/officeDocument/2006/relationships/hyperlink" Target="mailto:arnaud.gaydescombes@he-arc.ch" TargetMode="Externa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4.xml"/><Relationship Id="rId4"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notesSlide" Target="../notesSlides/notesSlide5.xml"/><Relationship Id="rId4"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notesSlide" Target="../notesSlides/notesSlide6.xml"/><Relationship Id="rId4"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notesSlide" Target="../notesSlides/notesSlide7.xml"/><Relationship Id="rId4"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notesSlide" Target="../notesSlides/notesSlide8.xml"/><Relationship Id="rId4"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notesSlide" Target="../notesSlides/notesSlide10.xml"/><Relationship Id="rId4"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image" Target="../media/image6.emf"/><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notesSlide" Target="../notesSlides/notesSlide11.xml"/><Relationship Id="rId5" Type="http://schemas.openxmlformats.org/officeDocument/2006/relationships/slideLayout" Target="../slideLayouts/slideLayout6.xml"/><Relationship Id="rId4" Type="http://schemas.openxmlformats.org/officeDocument/2006/relationships/tags" Target="../tags/tag33.xml"/></Relationships>
</file>

<file path=ppt/slides/_rels/slide12.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7.emf"/><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12.xml"/><Relationship Id="rId5" Type="http://schemas.openxmlformats.org/officeDocument/2006/relationships/slideLayout" Target="../slideLayouts/slideLayout6.xml"/><Relationship Id="rId4" Type="http://schemas.openxmlformats.org/officeDocument/2006/relationships/tags" Target="../tags/tag37.xml"/></Relationships>
</file>

<file path=ppt/slides/_rels/slide13.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8.emf"/><Relationship Id="rId5" Type="http://schemas.openxmlformats.org/officeDocument/2006/relationships/notesSlide" Target="../notesSlides/notesSlide13.xml"/><Relationship Id="rId4"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notesSlide" Target="../notesSlides/notesSlide14.xml"/><Relationship Id="rId4"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image" Target="../media/image9.emf"/><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15.xml"/><Relationship Id="rId5" Type="http://schemas.openxmlformats.org/officeDocument/2006/relationships/slideLayout" Target="../slideLayouts/slideLayout6.xml"/><Relationship Id="rId4" Type="http://schemas.openxmlformats.org/officeDocument/2006/relationships/tags" Target="../tags/tag47.xml"/></Relationships>
</file>

<file path=ppt/slides/_rels/slide16.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image" Target="../media/image10.jp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notesSlide" Target="../notesSlides/notesSlide16.xml"/><Relationship Id="rId5" Type="http://schemas.openxmlformats.org/officeDocument/2006/relationships/slideLayout" Target="../slideLayouts/slideLayout6.xml"/><Relationship Id="rId4" Type="http://schemas.openxmlformats.org/officeDocument/2006/relationships/tags" Target="../tags/tag51.xml"/></Relationships>
</file>

<file path=ppt/slides/_rels/slide17.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image" Target="../media/image11.gif"/><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notesSlide" Target="../notesSlides/notesSlide17.xml"/><Relationship Id="rId5" Type="http://schemas.openxmlformats.org/officeDocument/2006/relationships/slideLayout" Target="../slideLayouts/slideLayout6.xml"/><Relationship Id="rId4" Type="http://schemas.openxmlformats.org/officeDocument/2006/relationships/tags" Target="../tags/tag55.xml"/></Relationships>
</file>

<file path=ppt/slides/_rels/slide18.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image" Target="../media/image12.jp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notesSlide" Target="../notesSlides/notesSlide18.xml"/><Relationship Id="rId5" Type="http://schemas.openxmlformats.org/officeDocument/2006/relationships/slideLayout" Target="../slideLayouts/slideLayout6.xml"/><Relationship Id="rId4" Type="http://schemas.openxmlformats.org/officeDocument/2006/relationships/tags" Target="../tags/tag59.xml"/></Relationships>
</file>

<file path=ppt/slides/_rels/slide19.xml.rels><?xml version="1.0" encoding="UTF-8" standalone="yes"?>
<Relationships xmlns="http://schemas.openxmlformats.org/package/2006/relationships"><Relationship Id="rId3" Type="http://schemas.openxmlformats.org/officeDocument/2006/relationships/tags" Target="../tags/tag62.xml"/><Relationship Id="rId7" Type="http://schemas.openxmlformats.org/officeDocument/2006/relationships/hyperlink" Target="https://www.youtube.com/watch?v=zzpOtrI-qPc" TargetMode="Externa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hyperlink" Target="https://www.youtube.com/watch?v=aQBeTSCpQ6k" TargetMode="External"/><Relationship Id="rId5" Type="http://schemas.openxmlformats.org/officeDocument/2006/relationships/notesSlide" Target="../notesSlides/notesSlide19.xml"/><Relationship Id="rId4"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image" Target="../media/image13.jp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20.xml"/><Relationship Id="rId5" Type="http://schemas.openxmlformats.org/officeDocument/2006/relationships/slideLayout" Target="../slideLayouts/slideLayout6.xml"/><Relationship Id="rId4" Type="http://schemas.openxmlformats.org/officeDocument/2006/relationships/tags" Target="../tags/tag66.xml"/></Relationships>
</file>

<file path=ppt/slides/_rels/slide21.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image" Target="../media/image14.emf"/><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notesSlide" Target="../notesSlides/notesSlide21.xml"/><Relationship Id="rId5" Type="http://schemas.openxmlformats.org/officeDocument/2006/relationships/slideLayout" Target="../slideLayouts/slideLayout6.xml"/><Relationship Id="rId4" Type="http://schemas.openxmlformats.org/officeDocument/2006/relationships/tags" Target="../tags/tag70.xml"/></Relationships>
</file>

<file path=ppt/slides/_rels/slide22.xml.rels><?xml version="1.0" encoding="UTF-8" standalone="yes"?>
<Relationships xmlns="http://schemas.openxmlformats.org/package/2006/relationships"><Relationship Id="rId3" Type="http://schemas.openxmlformats.org/officeDocument/2006/relationships/tags" Target="../tags/tag73.xml"/><Relationship Id="rId7" Type="http://schemas.openxmlformats.org/officeDocument/2006/relationships/image" Target="../media/image15.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notesSlide" Target="../notesSlides/notesSlide22.xml"/><Relationship Id="rId5" Type="http://schemas.openxmlformats.org/officeDocument/2006/relationships/slideLayout" Target="../slideLayouts/slideLayout6.xml"/><Relationship Id="rId4" Type="http://schemas.openxmlformats.org/officeDocument/2006/relationships/tags" Target="../tags/tag74.xml"/></Relationships>
</file>

<file path=ppt/slides/_rels/slide23.xml.rels><?xml version="1.0" encoding="UTF-8" standalone="yes"?>
<Relationships xmlns="http://schemas.openxmlformats.org/package/2006/relationships"><Relationship Id="rId8" Type="http://schemas.openxmlformats.org/officeDocument/2006/relationships/hyperlink" Target="https://www.youtube.com/watch?v=tAt0k8LPd-Y" TargetMode="External"/><Relationship Id="rId3" Type="http://schemas.openxmlformats.org/officeDocument/2006/relationships/tags" Target="../tags/tag77.xml"/><Relationship Id="rId7" Type="http://schemas.openxmlformats.org/officeDocument/2006/relationships/hyperlink" Target="https://www.youtube.com/watch?v=8_lfxPI5ObM" TargetMode="Externa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hyperlink" Target="https://www.youtube.com/watch?v=gqZNzUQoSMA" TargetMode="External"/><Relationship Id="rId5" Type="http://schemas.openxmlformats.org/officeDocument/2006/relationships/notesSlide" Target="../notesSlides/notesSlide23.xml"/><Relationship Id="rId4"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17.jp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notesSlide" Target="../notesSlides/notesSlide25.xml"/><Relationship Id="rId5" Type="http://schemas.openxmlformats.org/officeDocument/2006/relationships/slideLayout" Target="../slideLayouts/slideLayout6.xml"/><Relationship Id="rId4" Type="http://schemas.openxmlformats.org/officeDocument/2006/relationships/tags" Target="../tags/tag81.xml"/></Relationships>
</file>

<file path=ppt/slides/_rels/slide26.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image" Target="../media/image18.emf"/><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notesSlide" Target="../notesSlides/notesSlide26.xml"/><Relationship Id="rId5" Type="http://schemas.openxmlformats.org/officeDocument/2006/relationships/slideLayout" Target="../slideLayouts/slideLayout6.xml"/><Relationship Id="rId4" Type="http://schemas.openxmlformats.org/officeDocument/2006/relationships/tags" Target="../tags/tag85.xml"/></Relationships>
</file>

<file path=ppt/slides/_rels/slide27.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hyperlink" Target="https://www.youtube.com/watch?v=v9oeOYMRvuQ" TargetMode="External"/><Relationship Id="rId5" Type="http://schemas.openxmlformats.org/officeDocument/2006/relationships/notesSlide" Target="../notesSlides/notesSlide27.xml"/><Relationship Id="rId4"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91.xml"/><Relationship Id="rId7" Type="http://schemas.openxmlformats.org/officeDocument/2006/relationships/notesSlide" Target="../notesSlides/notesSlide28.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slideLayout" Target="../slideLayouts/slideLayout6.xml"/><Relationship Id="rId5" Type="http://schemas.openxmlformats.org/officeDocument/2006/relationships/tags" Target="../tags/tag93.xml"/><Relationship Id="rId4" Type="http://schemas.openxmlformats.org/officeDocument/2006/relationships/tags" Target="../tags/tag92.xml"/><Relationship Id="rId9" Type="http://schemas.openxmlformats.org/officeDocument/2006/relationships/image" Target="../media/image20.emf"/></Relationships>
</file>

<file path=ppt/slides/_rels/slide29.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21.png"/><Relationship Id="rId5" Type="http://schemas.openxmlformats.org/officeDocument/2006/relationships/notesSlide" Target="../notesSlides/notesSlide29.xml"/><Relationship Id="rId4"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notesSlide" Target="../notesSlides/notesSlide30.xml"/><Relationship Id="rId5" Type="http://schemas.openxmlformats.org/officeDocument/2006/relationships/slideLayout" Target="../slideLayouts/slideLayout6.xml"/><Relationship Id="rId4" Type="http://schemas.openxmlformats.org/officeDocument/2006/relationships/tags" Target="../tags/tag100.xml"/></Relationships>
</file>

<file path=ppt/slides/_rels/slide31.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5" Type="http://schemas.openxmlformats.org/officeDocument/2006/relationships/notesSlide" Target="../notesSlides/notesSlide31.xml"/><Relationship Id="rId4"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tags" Target="../tags/tag106.xml"/><Relationship Id="rId7" Type="http://schemas.openxmlformats.org/officeDocument/2006/relationships/hyperlink" Target="https://www.youtube.com/watch?v=r7gU74Yv9Es" TargetMode="Externa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hyperlink" Target="https://www.youtube.com/watch?v=PEft1BTHBQU" TargetMode="External"/><Relationship Id="rId5" Type="http://schemas.openxmlformats.org/officeDocument/2006/relationships/notesSlide" Target="../notesSlides/notesSlide32.xml"/><Relationship Id="rId4"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23.emf"/><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notesSlide" Target="../notesSlides/notesSlide34.xml"/><Relationship Id="rId5" Type="http://schemas.openxmlformats.org/officeDocument/2006/relationships/slideLayout" Target="../slideLayouts/slideLayout6.xml"/><Relationship Id="rId4" Type="http://schemas.openxmlformats.org/officeDocument/2006/relationships/tags" Target="../tags/tag1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Bildplatzhalter 16"/>
          <p:cNvPicPr>
            <a:picLocks noGrp="1" noChangeAspect="1"/>
          </p:cNvPicPr>
          <p:nvPr>
            <p:ph type="pic" sz="quarter" idx="11"/>
            <p:custDataLst>
              <p:tags r:id="rId1"/>
            </p:custDataLst>
          </p:nvPr>
        </p:nvPicPr>
        <p:blipFill>
          <a:blip r:embed="rId5">
            <a:extLst>
              <a:ext uri="{28A0092B-C50C-407E-A947-70E740481C1C}">
                <a14:useLocalDpi xmlns:a14="http://schemas.microsoft.com/office/drawing/2010/main" val="0"/>
              </a:ext>
            </a:extLst>
          </a:blip>
          <a:srcRect t="7348" b="7348"/>
          <a:stretch>
            <a:fillRect/>
          </a:stretch>
        </p:blipFill>
        <p:spPr>
          <a:xfrm>
            <a:off x="0" y="1259557"/>
            <a:ext cx="10691813" cy="5544616"/>
          </a:xfrm>
        </p:spPr>
      </p:pic>
      <p:sp>
        <p:nvSpPr>
          <p:cNvPr id="2" name="Espace réservé du texte 1"/>
          <p:cNvSpPr>
            <a:spLocks noGrp="1"/>
          </p:cNvSpPr>
          <p:nvPr>
            <p:ph type="body" sz="quarter" idx="10"/>
            <p:custDataLst>
              <p:tags r:id="rId2"/>
            </p:custDataLst>
          </p:nvPr>
        </p:nvSpPr>
        <p:spPr/>
        <p:txBody>
          <a:bodyPr/>
          <a:lstStyle/>
          <a:p>
            <a:r>
              <a:rPr lang="fr-CH" b="0" dirty="0"/>
              <a:t>Bienvenue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Introduction à la robotique industrielle</a:t>
            </a:r>
          </a:p>
        </p:txBody>
      </p:sp>
      <p:pic>
        <p:nvPicPr>
          <p:cNvPr id="8" name="Bildplatzhalter 7"/>
          <p:cNvPicPr>
            <a:picLocks noGrp="1" noChangeAspect="1"/>
          </p:cNvPicPr>
          <p:nvPr>
            <p:ph type="pic" sz="quarter" idx="12"/>
            <p:custDataLst>
              <p:tags r:id="rId2"/>
            </p:custDataLst>
          </p:nvPr>
        </p:nvPicPr>
        <p:blipFill>
          <a:blip r:embed="rId6">
            <a:extLst>
              <a:ext uri="{28A0092B-C50C-407E-A947-70E740481C1C}">
                <a14:useLocalDpi xmlns:a14="http://schemas.microsoft.com/office/drawing/2010/main" val="0"/>
              </a:ext>
            </a:extLst>
          </a:blip>
          <a:srcRect t="39033" b="39033"/>
          <a:stretch>
            <a:fillRect/>
          </a:stretch>
        </p:blipFill>
        <p:spPr/>
      </p:pic>
      <p:sp>
        <p:nvSpPr>
          <p:cNvPr id="2" name="Espace réservé du numéro de diapositive 1"/>
          <p:cNvSpPr>
            <a:spLocks noGrp="1"/>
          </p:cNvSpPr>
          <p:nvPr>
            <p:ph type="sldNum" sz="quarter" idx="13"/>
            <p:custDataLst>
              <p:tags r:id="rId3"/>
            </p:custDataLst>
          </p:nvPr>
        </p:nvSpPr>
        <p:spPr>
          <a:xfrm>
            <a:off x="4143375" y="6978599"/>
            <a:ext cx="2405062" cy="401638"/>
          </a:xfrm>
        </p:spPr>
        <p:txBody>
          <a:bodyPr/>
          <a:lstStyle/>
          <a:p>
            <a:pPr algn="ctr"/>
            <a:fld id="{4F439F28-9AED-4E6F-B87B-0A4D16674C0E}" type="slidenum">
              <a:rPr lang="fr-CH" smtClean="0"/>
              <a:pPr algn="ctr"/>
              <a:t>2</a:t>
            </a:fld>
            <a:endParaRPr lang="fr-CH" dirty="0"/>
          </a:p>
        </p:txBody>
      </p:sp>
    </p:spTree>
    <p:extLst>
      <p:ext uri="{BB962C8B-B14F-4D97-AF65-F5344CB8AC3E}">
        <p14:creationId xmlns:p14="http://schemas.microsoft.com/office/powerpoint/2010/main" val="166840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0"/>
            <p:custDataLst>
              <p:tags r:id="rId1"/>
            </p:custDataLst>
          </p:nvPr>
        </p:nvSpPr>
        <p:spPr/>
        <p:txBody>
          <a:bodyPr/>
          <a:lstStyle/>
          <a:p>
            <a:r>
              <a:rPr lang="fr-CH" dirty="0"/>
              <a:t>Présentation des intervenants</a:t>
            </a:r>
          </a:p>
        </p:txBody>
      </p:sp>
      <p:sp>
        <p:nvSpPr>
          <p:cNvPr id="3" name="Textplatzhalter 2"/>
          <p:cNvSpPr>
            <a:spLocks noGrp="1"/>
          </p:cNvSpPr>
          <p:nvPr>
            <p:ph type="body" sz="quarter" idx="11"/>
            <p:custDataLst>
              <p:tags r:id="rId2"/>
            </p:custDataLst>
          </p:nvPr>
        </p:nvSpPr>
        <p:spPr>
          <a:xfrm>
            <a:off x="594178" y="2411685"/>
            <a:ext cx="4607712" cy="3744415"/>
          </a:xfrm>
        </p:spPr>
        <p:txBody>
          <a:bodyPr/>
          <a:lstStyle/>
          <a:p>
            <a:r>
              <a:rPr lang="fr-CH" sz="2000" dirty="0"/>
              <a:t>Arnaud Gay des Combes (AGC)</a:t>
            </a:r>
          </a:p>
          <a:p>
            <a:r>
              <a:rPr lang="fr-CH" sz="2000" dirty="0">
                <a:hlinkClick r:id="rId7"/>
              </a:rPr>
              <a:t>arnaud.gaydescombes@he-arc.ch</a:t>
            </a:r>
            <a:endParaRPr lang="fr-CH" sz="2000" dirty="0"/>
          </a:p>
          <a:p>
            <a:r>
              <a:rPr lang="fr-CH" sz="2000" dirty="0"/>
              <a:t>Tél: +41 32 930 22 70</a:t>
            </a:r>
          </a:p>
          <a:p>
            <a:r>
              <a:rPr lang="fr-CH" sz="2000" dirty="0"/>
              <a:t>Site principal: Saint-Imier</a:t>
            </a:r>
          </a:p>
        </p:txBody>
      </p:sp>
      <p:sp>
        <p:nvSpPr>
          <p:cNvPr id="4" name="Textplatzhalter 3"/>
          <p:cNvSpPr>
            <a:spLocks noGrp="1"/>
          </p:cNvSpPr>
          <p:nvPr>
            <p:ph type="body" sz="quarter" idx="12"/>
            <p:custDataLst>
              <p:tags r:id="rId3"/>
            </p:custDataLst>
          </p:nvPr>
        </p:nvSpPr>
        <p:spPr>
          <a:xfrm>
            <a:off x="5489922" y="2411684"/>
            <a:ext cx="4373819" cy="3744416"/>
          </a:xfrm>
        </p:spPr>
        <p:txBody>
          <a:bodyPr/>
          <a:lstStyle/>
          <a:p>
            <a:r>
              <a:rPr lang="fr-CH" sz="2000" dirty="0"/>
              <a:t>Frédéric Mathez (FMA)</a:t>
            </a:r>
          </a:p>
          <a:p>
            <a:r>
              <a:rPr lang="fr-CH" sz="2000" dirty="0">
                <a:hlinkClick r:id="rId8"/>
              </a:rPr>
              <a:t>frederic.mathez@he-arc.ch</a:t>
            </a:r>
            <a:endParaRPr lang="fr-CH" sz="2000" dirty="0"/>
          </a:p>
          <a:p>
            <a:r>
              <a:rPr lang="fr-CH" sz="2000" dirty="0"/>
              <a:t>Tél: +41 32 930 14 08</a:t>
            </a:r>
          </a:p>
          <a:p>
            <a:r>
              <a:rPr lang="fr-CH" sz="2000" dirty="0"/>
              <a:t>Site principal: Saint-Imier</a:t>
            </a:r>
          </a:p>
        </p:txBody>
      </p:sp>
      <p:sp>
        <p:nvSpPr>
          <p:cNvPr id="5" name="Espace réservé du numéro de diapositive 4"/>
          <p:cNvSpPr>
            <a:spLocks noGrp="1"/>
          </p:cNvSpPr>
          <p:nvPr>
            <p:ph type="sldNum" sz="quarter" idx="13"/>
            <p:custDataLst>
              <p:tags r:id="rId4"/>
            </p:custDataLst>
          </p:nvPr>
        </p:nvSpPr>
        <p:spPr>
          <a:xfrm>
            <a:off x="4143375" y="6978599"/>
            <a:ext cx="2405062" cy="401638"/>
          </a:xfrm>
        </p:spPr>
        <p:txBody>
          <a:bodyPr/>
          <a:lstStyle/>
          <a:p>
            <a:pPr algn="ctr"/>
            <a:fld id="{4F439F28-9AED-4E6F-B87B-0A4D16674C0E}" type="slidenum">
              <a:rPr lang="fr-CH" smtClean="0"/>
              <a:pPr algn="ctr"/>
              <a:t>3</a:t>
            </a:fld>
            <a:endParaRPr lang="fr-CH" dirty="0"/>
          </a:p>
        </p:txBody>
      </p:sp>
    </p:spTree>
    <p:extLst>
      <p:ext uri="{BB962C8B-B14F-4D97-AF65-F5344CB8AC3E}">
        <p14:creationId xmlns:p14="http://schemas.microsoft.com/office/powerpoint/2010/main" val="1593222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p:cNvSpPr>
            <a:spLocks noGrp="1"/>
          </p:cNvSpPr>
          <p:nvPr>
            <p:ph type="body" sz="quarter" idx="10"/>
            <p:custDataLst>
              <p:tags r:id="rId1"/>
            </p:custDataLst>
          </p:nvPr>
        </p:nvSpPr>
        <p:spPr/>
        <p:txBody>
          <a:bodyPr/>
          <a:lstStyle/>
          <a:p>
            <a:r>
              <a:rPr lang="fr-CH" dirty="0"/>
              <a:t>Sommaire </a:t>
            </a:r>
          </a:p>
        </p:txBody>
      </p:sp>
      <p:sp>
        <p:nvSpPr>
          <p:cNvPr id="9" name="Textplatzhalter 8"/>
          <p:cNvSpPr>
            <a:spLocks noGrp="1"/>
          </p:cNvSpPr>
          <p:nvPr>
            <p:ph type="body" sz="quarter" idx="11"/>
            <p:custDataLst>
              <p:tags r:id="rId2"/>
            </p:custDataLst>
          </p:nvPr>
        </p:nvSpPr>
        <p:spPr>
          <a:xfrm>
            <a:off x="576000" y="2411685"/>
            <a:ext cx="6858138" cy="3672408"/>
          </a:xfrm>
        </p:spPr>
        <p:txBody>
          <a:bodyPr/>
          <a:lstStyle/>
          <a:p>
            <a:r>
              <a:rPr lang="fr-CH" sz="2000" dirty="0"/>
              <a:t>Sécurité</a:t>
            </a:r>
          </a:p>
          <a:p>
            <a:r>
              <a:rPr lang="fr-CH" sz="2000" dirty="0"/>
              <a:t>La robotique industrielle</a:t>
            </a:r>
          </a:p>
          <a:p>
            <a:r>
              <a:rPr lang="fr-CH" sz="2000" dirty="0"/>
              <a:t>Terminologie</a:t>
            </a:r>
          </a:p>
          <a:p>
            <a:r>
              <a:rPr lang="fr-CH" sz="2000" dirty="0"/>
              <a:t>Types de robots et architectures</a:t>
            </a:r>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4</a:t>
            </a:fld>
            <a:endParaRPr lang="fr-CH" dirty="0"/>
          </a:p>
        </p:txBody>
      </p:sp>
    </p:spTree>
    <p:extLst>
      <p:ext uri="{BB962C8B-B14F-4D97-AF65-F5344CB8AC3E}">
        <p14:creationId xmlns:p14="http://schemas.microsoft.com/office/powerpoint/2010/main" val="3240864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Sécurité dans les laboratoires</a:t>
            </a:r>
          </a:p>
        </p:txBody>
      </p:sp>
      <p:sp>
        <p:nvSpPr>
          <p:cNvPr id="5" name="Textplatzhalter 4"/>
          <p:cNvSpPr>
            <a:spLocks noGrp="1"/>
          </p:cNvSpPr>
          <p:nvPr>
            <p:ph type="body" sz="quarter" idx="11"/>
            <p:custDataLst>
              <p:tags r:id="rId2"/>
            </p:custDataLst>
          </p:nvPr>
        </p:nvSpPr>
        <p:spPr>
          <a:xfrm>
            <a:off x="586084" y="2051444"/>
            <a:ext cx="9008063" cy="4523900"/>
          </a:xfrm>
        </p:spPr>
        <p:txBody>
          <a:bodyPr/>
          <a:lstStyle/>
          <a:p>
            <a:pPr marL="457200" indent="-457200">
              <a:buFont typeface="+mj-lt"/>
              <a:buAutoNum type="arabicPeriod"/>
            </a:pPr>
            <a:r>
              <a:rPr lang="fr-CH" sz="2000" dirty="0"/>
              <a:t>Un robot est une machine dangereuse</a:t>
            </a:r>
          </a:p>
          <a:p>
            <a:pPr marL="457200" indent="-457200">
              <a:buFont typeface="+mj-lt"/>
              <a:buAutoNum type="arabicPeriod"/>
            </a:pPr>
            <a:endParaRPr lang="fr-CH" sz="2000" dirty="0"/>
          </a:p>
          <a:p>
            <a:pPr marL="457200" indent="-457200">
              <a:buFont typeface="+mj-lt"/>
              <a:buAutoNum type="arabicPeriod"/>
            </a:pPr>
            <a:r>
              <a:rPr lang="fr-CH" sz="2000" dirty="0"/>
              <a:t>Ne jamais laisser un robot seul sous puissance</a:t>
            </a:r>
          </a:p>
          <a:p>
            <a:pPr marL="457200" indent="-457200">
              <a:buFont typeface="+mj-lt"/>
              <a:buAutoNum type="arabicPeriod"/>
            </a:pPr>
            <a:endParaRPr lang="fr-CH" sz="2000" dirty="0"/>
          </a:p>
          <a:p>
            <a:pPr marL="457200" indent="-457200">
              <a:buFont typeface="+mj-lt"/>
              <a:buAutoNum type="arabicPeriod"/>
            </a:pPr>
            <a:r>
              <a:rPr lang="fr-CH" sz="2000" dirty="0"/>
              <a:t>Ne jamais s’asseoir, ni lire, ni écrire sur les tables des robots</a:t>
            </a:r>
          </a:p>
          <a:p>
            <a:pPr marL="457200" indent="-457200">
              <a:buFont typeface="+mj-lt"/>
              <a:buAutoNum type="arabicPeriod"/>
            </a:pPr>
            <a:endParaRPr lang="fr-CH" sz="2000" dirty="0"/>
          </a:p>
          <a:p>
            <a:pPr marL="457200" indent="-457200">
              <a:buFont typeface="+mj-lt"/>
              <a:buAutoNum type="arabicPeriod"/>
            </a:pPr>
            <a:r>
              <a:rPr lang="fr-CH" sz="2000" dirty="0"/>
              <a:t>Tester les boutons d’</a:t>
            </a:r>
            <a:r>
              <a:rPr lang="fr-CH" sz="2000" dirty="0">
                <a:solidFill>
                  <a:srgbClr val="FF0000"/>
                </a:solidFill>
              </a:rPr>
              <a:t>ARRÊT D’URGENCE </a:t>
            </a:r>
            <a:r>
              <a:rPr lang="fr-CH" sz="2000" dirty="0"/>
              <a:t>lors de la mise en puissance</a:t>
            </a:r>
          </a:p>
          <a:p>
            <a:pPr marL="457200" indent="-457200">
              <a:buFont typeface="+mj-lt"/>
              <a:buAutoNum type="arabicPeriod"/>
            </a:pPr>
            <a:endParaRPr lang="fr-CH" sz="2000" dirty="0"/>
          </a:p>
          <a:p>
            <a:pPr marL="457200" indent="-457200">
              <a:buFont typeface="+mj-lt"/>
              <a:buAutoNum type="arabicPeriod"/>
            </a:pPr>
            <a:r>
              <a:rPr lang="fr-CH" sz="2000" dirty="0"/>
              <a:t>Imposer dès le départ une vitesse très réduite</a:t>
            </a:r>
          </a:p>
          <a:p>
            <a:pPr marL="457200" indent="-457200">
              <a:buFont typeface="+mj-lt"/>
              <a:buAutoNum type="arabicPeriod"/>
            </a:pPr>
            <a:endParaRPr lang="fr-CH" sz="2000" dirty="0"/>
          </a:p>
          <a:p>
            <a:pPr marL="457200" indent="-457200">
              <a:buFont typeface="+mj-lt"/>
              <a:buAutoNum type="arabicPeriod"/>
            </a:pPr>
            <a:r>
              <a:rPr lang="fr-CH" sz="2000" dirty="0"/>
              <a:t>Avoir la main sur le bouton d’</a:t>
            </a:r>
            <a:r>
              <a:rPr lang="fr-CH" sz="2000" dirty="0">
                <a:solidFill>
                  <a:srgbClr val="FF0000"/>
                </a:solidFill>
              </a:rPr>
              <a:t>ARRÊT D’URGENCE</a:t>
            </a:r>
            <a:r>
              <a:rPr lang="fr-CH" sz="2000" dirty="0"/>
              <a:t> lors de chaque déplacement du robot</a:t>
            </a:r>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5</a:t>
            </a:fld>
            <a:endParaRPr lang="fr-CH" dirty="0"/>
          </a:p>
        </p:txBody>
      </p:sp>
    </p:spTree>
    <p:extLst>
      <p:ext uri="{BB962C8B-B14F-4D97-AF65-F5344CB8AC3E}">
        <p14:creationId xmlns:p14="http://schemas.microsoft.com/office/powerpoint/2010/main" val="725683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Sécurité dans les laboratoires</a:t>
            </a:r>
          </a:p>
        </p:txBody>
      </p:sp>
      <p:sp>
        <p:nvSpPr>
          <p:cNvPr id="5" name="Textplatzhalter 4"/>
          <p:cNvSpPr>
            <a:spLocks noGrp="1"/>
          </p:cNvSpPr>
          <p:nvPr>
            <p:ph type="body" sz="quarter" idx="11"/>
            <p:custDataLst>
              <p:tags r:id="rId2"/>
            </p:custDataLst>
          </p:nvPr>
        </p:nvSpPr>
        <p:spPr>
          <a:xfrm>
            <a:off x="586084" y="2036929"/>
            <a:ext cx="9008063" cy="4523900"/>
          </a:xfrm>
        </p:spPr>
        <p:txBody>
          <a:bodyPr/>
          <a:lstStyle/>
          <a:p>
            <a:pPr marL="457200" indent="-457200">
              <a:buFont typeface="+mj-lt"/>
              <a:buAutoNum type="arabicPeriod" startAt="7"/>
            </a:pPr>
            <a:r>
              <a:rPr lang="fr-CH" sz="2000" dirty="0"/>
              <a:t>Ne jamais se trouver dans la zone de volume de préhension du robot lorsque ce dernier exécute un programme</a:t>
            </a:r>
          </a:p>
          <a:p>
            <a:pPr marL="457200" indent="-457200">
              <a:buFont typeface="+mj-lt"/>
              <a:buAutoNum type="arabicPeriod" startAt="7"/>
            </a:pPr>
            <a:endParaRPr lang="fr-CH" sz="2000" dirty="0"/>
          </a:p>
          <a:p>
            <a:pPr marL="457200" indent="-457200">
              <a:buFont typeface="+mj-lt"/>
              <a:buAutoNum type="arabicPeriod" startAt="7"/>
            </a:pPr>
            <a:r>
              <a:rPr lang="fr-CH" sz="2000" dirty="0"/>
              <a:t>Réfléchir aux conséquences des actions déclenchées avec le clavier ou la souris, et veiller aux autres personnes présentes près de l’application.</a:t>
            </a:r>
          </a:p>
          <a:p>
            <a:pPr marL="457200" indent="-457200">
              <a:buFont typeface="+mj-lt"/>
              <a:buAutoNum type="arabicPeriod" startAt="7"/>
            </a:pPr>
            <a:endParaRPr lang="fr-CH" sz="2000" dirty="0"/>
          </a:p>
          <a:p>
            <a:pPr marL="457200" indent="-457200">
              <a:buFont typeface="+mj-lt"/>
              <a:buAutoNum type="arabicPeriod" startAt="7"/>
            </a:pPr>
            <a:r>
              <a:rPr lang="fr-CH" sz="2000" dirty="0"/>
              <a:t>Ne pas exécuter des programmes autres que les siens sans autorisation préalable.</a:t>
            </a:r>
          </a:p>
          <a:p>
            <a:pPr marL="457200" indent="-457200">
              <a:buFont typeface="+mj-lt"/>
              <a:buAutoNum type="arabicPeriod" startAt="7"/>
            </a:pPr>
            <a:endParaRPr lang="fr-CH" sz="2000" dirty="0"/>
          </a:p>
          <a:p>
            <a:pPr marL="457200" indent="-457200">
              <a:buFont typeface="+mj-lt"/>
              <a:buAutoNum type="arabicPeriod" startAt="7"/>
            </a:pPr>
            <a:r>
              <a:rPr lang="fr-CH" sz="2000" dirty="0"/>
              <a:t>Avertir immédiatement les responsables lors d’incidents, </a:t>
            </a:r>
            <a:r>
              <a:rPr lang="fr-CH" sz="2000" u="sng" dirty="0"/>
              <a:t>même mineurs</a:t>
            </a:r>
          </a:p>
          <a:p>
            <a:pPr marL="457200" indent="-457200">
              <a:buFont typeface="+mj-lt"/>
              <a:buAutoNum type="arabicPeriod" startAt="7"/>
            </a:pPr>
            <a:endParaRPr lang="fr-CH" sz="2000" u="sng" dirty="0"/>
          </a:p>
          <a:p>
            <a:pPr marL="457200" indent="-457200">
              <a:buFont typeface="+mj-lt"/>
              <a:buAutoNum type="arabicPeriod" startAt="7"/>
            </a:pPr>
            <a:r>
              <a:rPr lang="fr-CH" sz="2000" dirty="0"/>
              <a:t>Aucunes modifications sur le câblage autorisées</a:t>
            </a:r>
          </a:p>
          <a:p>
            <a:pPr marL="457200" indent="-457200">
              <a:buFont typeface="+mj-lt"/>
              <a:buAutoNum type="arabicPeriod" startAt="7"/>
            </a:pPr>
            <a:endParaRPr lang="fr-CH" sz="2000" dirty="0"/>
          </a:p>
          <a:p>
            <a:pPr marL="457200" indent="-457200">
              <a:buFont typeface="+mj-lt"/>
              <a:buAutoNum type="arabicPeriod" startAt="7"/>
            </a:pPr>
            <a:r>
              <a:rPr lang="fr-CH" sz="2000" dirty="0"/>
              <a:t>Ne jamais travailler seul sur une installation</a:t>
            </a:r>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6</a:t>
            </a:fld>
            <a:endParaRPr lang="fr-CH" dirty="0"/>
          </a:p>
        </p:txBody>
      </p:sp>
    </p:spTree>
    <p:extLst>
      <p:ext uri="{BB962C8B-B14F-4D97-AF65-F5344CB8AC3E}">
        <p14:creationId xmlns:p14="http://schemas.microsoft.com/office/powerpoint/2010/main" val="53091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Sécurité dans les laboratoires</a:t>
            </a:r>
          </a:p>
        </p:txBody>
      </p:sp>
      <p:sp>
        <p:nvSpPr>
          <p:cNvPr id="5" name="Textplatzhalter 4"/>
          <p:cNvSpPr>
            <a:spLocks noGrp="1"/>
          </p:cNvSpPr>
          <p:nvPr>
            <p:ph type="body" sz="quarter" idx="11"/>
            <p:custDataLst>
              <p:tags r:id="rId2"/>
            </p:custDataLst>
          </p:nvPr>
        </p:nvSpPr>
        <p:spPr>
          <a:xfrm>
            <a:off x="586084" y="2051444"/>
            <a:ext cx="9008063" cy="4523900"/>
          </a:xfrm>
        </p:spPr>
        <p:txBody>
          <a:bodyPr/>
          <a:lstStyle/>
          <a:p>
            <a:endParaRPr lang="fr-CH" sz="2000" dirty="0"/>
          </a:p>
          <a:p>
            <a:r>
              <a:rPr lang="fr-CH" sz="2000" dirty="0"/>
              <a:t>Une installation industrielle est toujours </a:t>
            </a:r>
            <a:r>
              <a:rPr lang="fr-CH" sz="2000" dirty="0">
                <a:solidFill>
                  <a:srgbClr val="FF0000"/>
                </a:solidFill>
              </a:rPr>
              <a:t>carénée</a:t>
            </a:r>
            <a:r>
              <a:rPr lang="fr-CH" sz="2000" dirty="0"/>
              <a:t>, empêchant toute interférence entre le robot et les utilisateurs.</a:t>
            </a:r>
          </a:p>
          <a:p>
            <a:endParaRPr lang="fr-CH" sz="2000" dirty="0"/>
          </a:p>
          <a:p>
            <a:r>
              <a:rPr lang="fr-CH" sz="2000" dirty="0"/>
              <a:t>•Lors des opérations de réglage et de maintenance, avec les portes ouvertes, un robot peut fonctionner en mode </a:t>
            </a:r>
            <a:r>
              <a:rPr lang="fr-CH" sz="2000" b="1" dirty="0"/>
              <a:t>manuel</a:t>
            </a:r>
            <a:r>
              <a:rPr lang="fr-CH" sz="2000" dirty="0"/>
              <a:t>. La vitesse de chaque axe est alors limitée, et la vitesse tangentielle maximale très faible (~250 mm/s)</a:t>
            </a:r>
          </a:p>
          <a:p>
            <a:endParaRPr lang="fr-CH" sz="2000" dirty="0"/>
          </a:p>
          <a:p>
            <a:r>
              <a:rPr lang="fr-CH" sz="2000" dirty="0"/>
              <a:t>•</a:t>
            </a:r>
            <a:r>
              <a:rPr lang="fr-CH" sz="2000" b="1" dirty="0"/>
              <a:t>Au laboratoire, les robots peuvent fonctionner en mode automatique, à 100% de leur capacité, et sans carénage !!</a:t>
            </a:r>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7</a:t>
            </a:fld>
            <a:endParaRPr lang="fr-CH" dirty="0"/>
          </a:p>
        </p:txBody>
      </p:sp>
    </p:spTree>
    <p:extLst>
      <p:ext uri="{BB962C8B-B14F-4D97-AF65-F5344CB8AC3E}">
        <p14:creationId xmlns:p14="http://schemas.microsoft.com/office/powerpoint/2010/main" val="3235198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Robotique industrielle</a:t>
            </a:r>
          </a:p>
        </p:txBody>
      </p:sp>
      <p:sp>
        <p:nvSpPr>
          <p:cNvPr id="5" name="Textplatzhalter 4"/>
          <p:cNvSpPr>
            <a:spLocks noGrp="1"/>
          </p:cNvSpPr>
          <p:nvPr>
            <p:ph type="body" sz="quarter" idx="11"/>
            <p:custDataLst>
              <p:tags r:id="rId2"/>
            </p:custDataLst>
          </p:nvPr>
        </p:nvSpPr>
        <p:spPr>
          <a:xfrm>
            <a:off x="586084" y="2051444"/>
            <a:ext cx="9008063" cy="4523900"/>
          </a:xfrm>
        </p:spPr>
        <p:txBody>
          <a:bodyPr/>
          <a:lstStyle/>
          <a:p>
            <a:endParaRPr lang="fr-CH" sz="2000" dirty="0"/>
          </a:p>
          <a:p>
            <a:pPr marL="342900" indent="-342900">
              <a:buFont typeface="Arial" panose="020B0604020202020204" pitchFamily="34" charset="0"/>
              <a:buChar char="•"/>
            </a:pPr>
            <a:r>
              <a:rPr lang="fr-CH" sz="2000" dirty="0">
                <a:solidFill>
                  <a:srgbClr val="FF0000"/>
                </a:solidFill>
              </a:rPr>
              <a:t>Généralités : </a:t>
            </a:r>
            <a:r>
              <a:rPr lang="fr-CH" sz="2000" dirty="0"/>
              <a:t>Types d’assemblages (production), composants d’une cellule robotique, périphériques …</a:t>
            </a:r>
          </a:p>
          <a:p>
            <a:endParaRPr lang="fr-CH" sz="2000" dirty="0"/>
          </a:p>
          <a:p>
            <a:pPr marL="342900" indent="-342900">
              <a:buFont typeface="Arial" panose="020B0604020202020204" pitchFamily="34" charset="0"/>
              <a:buChar char="•"/>
            </a:pPr>
            <a:r>
              <a:rPr lang="fr-CH" sz="2000" dirty="0">
                <a:solidFill>
                  <a:srgbClr val="FF0000"/>
                </a:solidFill>
              </a:rPr>
              <a:t>Architecture :</a:t>
            </a:r>
            <a:r>
              <a:rPr lang="fr-CH" sz="2000" dirty="0"/>
              <a:t> série (cartésien, SCARA, anthropomorphe), parallèle, hybride</a:t>
            </a:r>
          </a:p>
          <a:p>
            <a:pPr marL="342900" indent="-342900">
              <a:buFont typeface="Arial" panose="020B0604020202020204" pitchFamily="34" charset="0"/>
              <a:buChar char="•"/>
            </a:pPr>
            <a:endParaRPr lang="fr-CH" sz="2000" dirty="0"/>
          </a:p>
          <a:p>
            <a:pPr marL="342900" indent="-342900">
              <a:buFont typeface="Arial" panose="020B0604020202020204" pitchFamily="34" charset="0"/>
              <a:buChar char="•"/>
            </a:pPr>
            <a:r>
              <a:rPr lang="fr-CH" sz="2000" dirty="0">
                <a:solidFill>
                  <a:srgbClr val="FF0000"/>
                </a:solidFill>
              </a:rPr>
              <a:t>Robots collaboratifs</a:t>
            </a:r>
          </a:p>
          <a:p>
            <a:pPr marL="342900" indent="-342900">
              <a:buFont typeface="Arial" panose="020B0604020202020204" pitchFamily="34" charset="0"/>
              <a:buChar char="•"/>
            </a:pPr>
            <a:endParaRPr lang="fr-CH" sz="2000" dirty="0">
              <a:solidFill>
                <a:srgbClr val="FF0000"/>
              </a:solidFill>
            </a:endParaRPr>
          </a:p>
          <a:p>
            <a:pPr marL="342900" indent="-342900">
              <a:buFont typeface="Arial" panose="020B0604020202020204" pitchFamily="34" charset="0"/>
              <a:buChar char="•"/>
            </a:pPr>
            <a:r>
              <a:rPr lang="fr-CH" sz="2000" dirty="0">
                <a:solidFill>
                  <a:srgbClr val="FF0000"/>
                </a:solidFill>
              </a:rPr>
              <a:t>Caractéristiques des robots :</a:t>
            </a:r>
            <a:r>
              <a:rPr lang="fr-CH" sz="2000" dirty="0"/>
              <a:t> degrés de liberté, répétabilité, enveloppe de travail, charge nominale et maximale, vitesses, environnement de travail, système de commande</a:t>
            </a:r>
          </a:p>
          <a:p>
            <a:pPr marL="342900" indent="-342900">
              <a:buFont typeface="Arial" panose="020B0604020202020204" pitchFamily="34" charset="0"/>
              <a:buChar char="•"/>
            </a:pPr>
            <a:endParaRPr lang="fr-CH" sz="2000" dirty="0">
              <a:solidFill>
                <a:srgbClr val="FF0000"/>
              </a:solidFill>
            </a:endParaRPr>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8</a:t>
            </a:fld>
            <a:endParaRPr lang="fr-CH" dirty="0"/>
          </a:p>
        </p:txBody>
      </p:sp>
    </p:spTree>
    <p:extLst>
      <p:ext uri="{BB962C8B-B14F-4D97-AF65-F5344CB8AC3E}">
        <p14:creationId xmlns:p14="http://schemas.microsoft.com/office/powerpoint/2010/main" val="3324354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a:xfrm>
            <a:off x="305346" y="834184"/>
            <a:ext cx="9008063" cy="793667"/>
          </a:xfrm>
        </p:spPr>
        <p:txBody>
          <a:bodyPr/>
          <a:lstStyle/>
          <a:p>
            <a:r>
              <a:rPr lang="fr-CH" dirty="0"/>
              <a:t>Types d’assemblage: Avantages et inconvénients</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9</a:t>
            </a:fld>
            <a:endParaRPr lang="fr-CH" dirty="0"/>
          </a:p>
        </p:txBody>
      </p:sp>
    </p:spTree>
    <p:extLst>
      <p:ext uri="{BB962C8B-B14F-4D97-AF65-F5344CB8AC3E}">
        <p14:creationId xmlns:p14="http://schemas.microsoft.com/office/powerpoint/2010/main" val="1995173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a:xfrm>
            <a:off x="305346" y="834184"/>
            <a:ext cx="9008063" cy="793667"/>
          </a:xfrm>
        </p:spPr>
        <p:txBody>
          <a:bodyPr/>
          <a:lstStyle/>
          <a:p>
            <a:r>
              <a:rPr lang="fr-CH" dirty="0"/>
              <a:t>Types d’assemblage: Avantages et inconvénients</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10</a:t>
            </a:fld>
            <a:endParaRPr lang="fr-CH" dirty="0"/>
          </a:p>
        </p:txBody>
      </p:sp>
      <p:graphicFrame>
        <p:nvGraphicFramePr>
          <p:cNvPr id="6" name="Tableau 5"/>
          <p:cNvGraphicFramePr>
            <a:graphicFrameLocks noGrp="1"/>
          </p:cNvGraphicFramePr>
          <p:nvPr>
            <p:custDataLst>
              <p:tags r:id="rId3"/>
            </p:custDataLst>
            <p:extLst>
              <p:ext uri="{D42A27DB-BD31-4B8C-83A1-F6EECF244321}">
                <p14:modId xmlns:p14="http://schemas.microsoft.com/office/powerpoint/2010/main" val="2123527129"/>
              </p:ext>
            </p:extLst>
          </p:nvPr>
        </p:nvGraphicFramePr>
        <p:xfrm>
          <a:off x="487015" y="1627851"/>
          <a:ext cx="9717782" cy="5720735"/>
        </p:xfrm>
        <a:graphic>
          <a:graphicData uri="http://schemas.openxmlformats.org/drawingml/2006/table">
            <a:tbl>
              <a:tblPr firstRow="1" bandRow="1">
                <a:tableStyleId>{5C22544A-7EE6-4342-B048-85BDC9FD1C3A}</a:tableStyleId>
              </a:tblPr>
              <a:tblGrid>
                <a:gridCol w="2304304">
                  <a:extLst>
                    <a:ext uri="{9D8B030D-6E8A-4147-A177-3AD203B41FA5}">
                      <a16:colId xmlns:a16="http://schemas.microsoft.com/office/drawing/2014/main" val="20000"/>
                    </a:ext>
                  </a:extLst>
                </a:gridCol>
                <a:gridCol w="3518541">
                  <a:extLst>
                    <a:ext uri="{9D8B030D-6E8A-4147-A177-3AD203B41FA5}">
                      <a16:colId xmlns:a16="http://schemas.microsoft.com/office/drawing/2014/main" val="20001"/>
                    </a:ext>
                  </a:extLst>
                </a:gridCol>
                <a:gridCol w="3894937">
                  <a:extLst>
                    <a:ext uri="{9D8B030D-6E8A-4147-A177-3AD203B41FA5}">
                      <a16:colId xmlns:a16="http://schemas.microsoft.com/office/drawing/2014/main" val="20002"/>
                    </a:ext>
                  </a:extLst>
                </a:gridCol>
              </a:tblGrid>
              <a:tr h="608257">
                <a:tc>
                  <a:txBody>
                    <a:bodyPr/>
                    <a:lstStyle/>
                    <a:p>
                      <a:pPr algn="ctr"/>
                      <a:r>
                        <a:rPr lang="fr-CH" sz="1400" dirty="0"/>
                        <a:t>Type d’assemblage</a:t>
                      </a:r>
                    </a:p>
                  </a:txBody>
                  <a:tcPr/>
                </a:tc>
                <a:tc>
                  <a:txBody>
                    <a:bodyPr/>
                    <a:lstStyle/>
                    <a:p>
                      <a:pPr algn="ctr"/>
                      <a:r>
                        <a:rPr lang="fr-CH" sz="1400" dirty="0"/>
                        <a:t>Avantages</a:t>
                      </a:r>
                    </a:p>
                  </a:txBody>
                  <a:tcPr/>
                </a:tc>
                <a:tc>
                  <a:txBody>
                    <a:bodyPr/>
                    <a:lstStyle/>
                    <a:p>
                      <a:pPr algn="ctr"/>
                      <a:r>
                        <a:rPr lang="fr-CH" sz="1400" dirty="0"/>
                        <a:t>Inconvénients</a:t>
                      </a:r>
                    </a:p>
                  </a:txBody>
                  <a:tcPr/>
                </a:tc>
                <a:extLst>
                  <a:ext uri="{0D108BD9-81ED-4DB2-BD59-A6C34878D82A}">
                    <a16:rowId xmlns:a16="http://schemas.microsoft.com/office/drawing/2014/main" val="10000"/>
                  </a:ext>
                </a:extLst>
              </a:tr>
              <a:tr h="357798">
                <a:tc rowSpan="3">
                  <a:txBody>
                    <a:bodyPr/>
                    <a:lstStyle/>
                    <a:p>
                      <a:pPr algn="ctr"/>
                      <a:r>
                        <a:rPr lang="fr-CH" sz="1400" dirty="0"/>
                        <a:t>Manuel</a:t>
                      </a:r>
                    </a:p>
                  </a:txBody>
                  <a:tcPr anchor="ctr"/>
                </a:tc>
                <a:tc>
                  <a:txBody>
                    <a:bodyPr/>
                    <a:lstStyle/>
                    <a:p>
                      <a:r>
                        <a:rPr lang="fr-CH" sz="1400" dirty="0"/>
                        <a:t>Temps</a:t>
                      </a:r>
                      <a:r>
                        <a:rPr lang="fr-CH" sz="1400" baseline="0" dirty="0"/>
                        <a:t> de mise en œuvre rapide</a:t>
                      </a:r>
                      <a:endParaRPr lang="fr-CH" sz="1400" dirty="0"/>
                    </a:p>
                  </a:txBody>
                  <a:tcPr/>
                </a:tc>
                <a:tc>
                  <a:txBody>
                    <a:bodyPr/>
                    <a:lstStyle/>
                    <a:p>
                      <a:r>
                        <a:rPr lang="fr-CH" sz="1400" dirty="0"/>
                        <a:t>Cadence lente </a:t>
                      </a:r>
                    </a:p>
                  </a:txBody>
                  <a:tcPr/>
                </a:tc>
                <a:extLst>
                  <a:ext uri="{0D108BD9-81ED-4DB2-BD59-A6C34878D82A}">
                    <a16:rowId xmlns:a16="http://schemas.microsoft.com/office/drawing/2014/main" val="10001"/>
                  </a:ext>
                </a:extLst>
              </a:tr>
              <a:tr h="357798">
                <a:tc vMerge="1">
                  <a:txBody>
                    <a:bodyPr/>
                    <a:lstStyle/>
                    <a:p>
                      <a:endParaRPr lang="fr-CH" dirty="0"/>
                    </a:p>
                  </a:txBody>
                  <a:tcPr/>
                </a:tc>
                <a:tc>
                  <a:txBody>
                    <a:bodyPr/>
                    <a:lstStyle/>
                    <a:p>
                      <a:r>
                        <a:rPr lang="fr-CH" sz="1400" dirty="0"/>
                        <a:t>Flexible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400" dirty="0"/>
                        <a:t>Qualité</a:t>
                      </a:r>
                      <a:r>
                        <a:rPr lang="fr-CH" sz="1400" baseline="0" dirty="0"/>
                        <a:t> pas constante</a:t>
                      </a:r>
                      <a:endParaRPr lang="fr-CH" sz="1400" dirty="0"/>
                    </a:p>
                  </a:txBody>
                  <a:tcPr/>
                </a:tc>
                <a:extLst>
                  <a:ext uri="{0D108BD9-81ED-4DB2-BD59-A6C34878D82A}">
                    <a16:rowId xmlns:a16="http://schemas.microsoft.com/office/drawing/2014/main" val="10002"/>
                  </a:ext>
                </a:extLst>
              </a:tr>
              <a:tr h="608257">
                <a:tc vMerge="1">
                  <a:txBody>
                    <a:bodyPr/>
                    <a:lstStyle/>
                    <a:p>
                      <a:endParaRPr lang="fr-CH" dirty="0"/>
                    </a:p>
                  </a:txBody>
                  <a:tcPr/>
                </a:tc>
                <a:tc>
                  <a:txBody>
                    <a:bodyPr/>
                    <a:lstStyle/>
                    <a:p>
                      <a:r>
                        <a:rPr lang="fr-CH" sz="1400" dirty="0"/>
                        <a:t>Coût</a:t>
                      </a:r>
                      <a:r>
                        <a:rPr lang="fr-CH" sz="1400" baseline="0" dirty="0"/>
                        <a:t> d’investissement à court terme bas</a:t>
                      </a:r>
                      <a:endParaRPr lang="fr-CH" sz="1400" dirty="0"/>
                    </a:p>
                  </a:txBody>
                  <a:tcPr/>
                </a:tc>
                <a:tc>
                  <a:txBody>
                    <a:bodyPr/>
                    <a:lstStyle/>
                    <a:p>
                      <a:r>
                        <a:rPr lang="fr-CH" sz="1400" dirty="0"/>
                        <a:t>Coût de la main d’œuvre</a:t>
                      </a:r>
                    </a:p>
                  </a:txBody>
                  <a:tcPr/>
                </a:tc>
                <a:extLst>
                  <a:ext uri="{0D108BD9-81ED-4DB2-BD59-A6C34878D82A}">
                    <a16:rowId xmlns:a16="http://schemas.microsoft.com/office/drawing/2014/main" val="10003"/>
                  </a:ext>
                </a:extLst>
              </a:tr>
              <a:tr h="465138">
                <a:tc gridSpan="3">
                  <a:txBody>
                    <a:bodyPr/>
                    <a:lstStyle/>
                    <a:p>
                      <a:pPr algn="ctr"/>
                      <a:r>
                        <a:rPr lang="fr-CH" sz="2000" dirty="0">
                          <a:solidFill>
                            <a:srgbClr val="FF0000"/>
                          </a:solidFill>
                        </a:rPr>
                        <a:t>Analyse coûts/bénéfices à partir d’un certain volume</a:t>
                      </a:r>
                    </a:p>
                  </a:txBody>
                  <a:tcPr anchor="ctr"/>
                </a:tc>
                <a:tc hMerge="1">
                  <a:txBody>
                    <a:bodyPr/>
                    <a:lstStyle/>
                    <a:p>
                      <a:endParaRPr lang="fr-CH" sz="1400" dirty="0"/>
                    </a:p>
                  </a:txBody>
                  <a:tcPr/>
                </a:tc>
                <a:tc hMerge="1">
                  <a:txBody>
                    <a:bodyPr/>
                    <a:lstStyle/>
                    <a:p>
                      <a:endParaRPr lang="fr-CH" sz="1400" dirty="0"/>
                    </a:p>
                  </a:txBody>
                  <a:tcPr/>
                </a:tc>
                <a:extLst>
                  <a:ext uri="{0D108BD9-81ED-4DB2-BD59-A6C34878D82A}">
                    <a16:rowId xmlns:a16="http://schemas.microsoft.com/office/drawing/2014/main" val="10004"/>
                  </a:ext>
                </a:extLst>
              </a:tr>
              <a:tr h="357798">
                <a:tc rowSpan="3">
                  <a:txBody>
                    <a:bodyPr/>
                    <a:lstStyle/>
                    <a:p>
                      <a:pPr algn="ctr"/>
                      <a:r>
                        <a:rPr lang="fr-CH" sz="1400" dirty="0"/>
                        <a:t>Automatique</a:t>
                      </a:r>
                    </a:p>
                  </a:txBody>
                  <a:tcPr anchor="ctr"/>
                </a:tc>
                <a:tc>
                  <a:txBody>
                    <a:bodyPr/>
                    <a:lstStyle/>
                    <a:p>
                      <a:r>
                        <a:rPr lang="fr-CH" sz="1400" dirty="0"/>
                        <a:t>Cadence très rapide</a:t>
                      </a:r>
                    </a:p>
                  </a:txBody>
                  <a:tcPr/>
                </a:tc>
                <a:tc>
                  <a:txBody>
                    <a:bodyPr/>
                    <a:lstStyle/>
                    <a:p>
                      <a:r>
                        <a:rPr lang="fr-CH" sz="1400" dirty="0"/>
                        <a:t>Temps de mise en œuvre élevé</a:t>
                      </a:r>
                    </a:p>
                  </a:txBody>
                  <a:tcPr/>
                </a:tc>
                <a:extLst>
                  <a:ext uri="{0D108BD9-81ED-4DB2-BD59-A6C34878D82A}">
                    <a16:rowId xmlns:a16="http://schemas.microsoft.com/office/drawing/2014/main" val="10005"/>
                  </a:ext>
                </a:extLst>
              </a:tr>
              <a:tr h="608257">
                <a:tc vMerge="1">
                  <a:txBody>
                    <a:bodyPr/>
                    <a:lstStyle/>
                    <a:p>
                      <a:endParaRPr lang="fr-CH" dirty="0"/>
                    </a:p>
                  </a:txBody>
                  <a:tcPr/>
                </a:tc>
                <a:tc>
                  <a:txBody>
                    <a:bodyPr/>
                    <a:lstStyle/>
                    <a:p>
                      <a:r>
                        <a:rPr lang="fr-CH" sz="1400" dirty="0"/>
                        <a:t>Qualité constante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400" dirty="0"/>
                        <a:t>Coût</a:t>
                      </a:r>
                      <a:r>
                        <a:rPr lang="fr-CH" sz="1400" baseline="0" dirty="0"/>
                        <a:t> d’investissement à court terme élevé</a:t>
                      </a:r>
                      <a:endParaRPr lang="fr-CH" sz="1400" dirty="0"/>
                    </a:p>
                  </a:txBody>
                  <a:tcPr/>
                </a:tc>
                <a:extLst>
                  <a:ext uri="{0D108BD9-81ED-4DB2-BD59-A6C34878D82A}">
                    <a16:rowId xmlns:a16="http://schemas.microsoft.com/office/drawing/2014/main" val="10006"/>
                  </a:ext>
                </a:extLst>
              </a:tr>
              <a:tr h="1033579">
                <a:tc vMerge="1">
                  <a:txBody>
                    <a:bodyPr/>
                    <a:lstStyle/>
                    <a:p>
                      <a:endParaRPr lang="fr-CH" dirty="0"/>
                    </a:p>
                  </a:txBody>
                  <a:tcPr/>
                </a:tc>
                <a:tc>
                  <a:txBody>
                    <a:bodyPr/>
                    <a:lstStyle/>
                    <a:p>
                      <a:r>
                        <a:rPr lang="fr-CH" sz="1400" dirty="0"/>
                        <a:t>Travail 24/24h 3x8h</a:t>
                      </a:r>
                    </a:p>
                  </a:txBody>
                  <a:tcPr/>
                </a:tc>
                <a:tc>
                  <a:txBody>
                    <a:bodyPr/>
                    <a:lstStyle/>
                    <a:p>
                      <a:r>
                        <a:rPr lang="fr-CH" sz="1400" dirty="0"/>
                        <a:t>Dédié</a:t>
                      </a:r>
                      <a:r>
                        <a:rPr lang="fr-CH" sz="1400" baseline="0" dirty="0"/>
                        <a:t> à un produit</a:t>
                      </a:r>
                      <a:endParaRPr lang="fr-CH" sz="1400" dirty="0"/>
                    </a:p>
                  </a:txBody>
                  <a:tcPr/>
                </a:tc>
                <a:extLst>
                  <a:ext uri="{0D108BD9-81ED-4DB2-BD59-A6C34878D82A}">
                    <a16:rowId xmlns:a16="http://schemas.microsoft.com/office/drawing/2014/main" val="10007"/>
                  </a:ext>
                </a:extLst>
              </a:tr>
              <a:tr h="357798">
                <a:tc rowSpan="3">
                  <a:txBody>
                    <a:bodyPr/>
                    <a:lstStyle/>
                    <a:p>
                      <a:pPr algn="ctr"/>
                      <a:r>
                        <a:rPr lang="fr-CH" sz="1400" dirty="0"/>
                        <a:t>Robotique</a:t>
                      </a:r>
                    </a:p>
                  </a:txBody>
                  <a:tcPr anchor="ctr"/>
                </a:tc>
                <a:tc>
                  <a:txBody>
                    <a:bodyPr/>
                    <a:lstStyle/>
                    <a:p>
                      <a:r>
                        <a:rPr lang="fr-CH" sz="1400" dirty="0"/>
                        <a:t>Flexible</a:t>
                      </a:r>
                    </a:p>
                  </a:txBody>
                  <a:tcPr/>
                </a:tc>
                <a:tc>
                  <a:txBody>
                    <a:bodyPr/>
                    <a:lstStyle/>
                    <a:p>
                      <a:r>
                        <a:rPr lang="fr-CH" sz="1400" dirty="0"/>
                        <a:t>Cadence lente</a:t>
                      </a:r>
                    </a:p>
                  </a:txBody>
                  <a:tcPr/>
                </a:tc>
                <a:extLst>
                  <a:ext uri="{0D108BD9-81ED-4DB2-BD59-A6C34878D82A}">
                    <a16:rowId xmlns:a16="http://schemas.microsoft.com/office/drawing/2014/main" val="10008"/>
                  </a:ext>
                </a:extLst>
              </a:tr>
              <a:tr h="357798">
                <a:tc vMerge="1">
                  <a:txBody>
                    <a:bodyPr/>
                    <a:lstStyle/>
                    <a:p>
                      <a:endParaRPr lang="fr-CH" dirty="0"/>
                    </a:p>
                  </a:txBody>
                  <a:tcPr/>
                </a:tc>
                <a:tc>
                  <a:txBody>
                    <a:bodyPr/>
                    <a:lstStyle/>
                    <a:p>
                      <a:r>
                        <a:rPr lang="fr-CH" sz="1400" dirty="0"/>
                        <a:t>Qualité constante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400" dirty="0"/>
                        <a:t>Temps de mise en œuvre élevé</a:t>
                      </a:r>
                    </a:p>
                  </a:txBody>
                  <a:tcPr/>
                </a:tc>
                <a:extLst>
                  <a:ext uri="{0D108BD9-81ED-4DB2-BD59-A6C34878D82A}">
                    <a16:rowId xmlns:a16="http://schemas.microsoft.com/office/drawing/2014/main" val="10009"/>
                  </a:ext>
                </a:extLst>
              </a:tr>
              <a:tr h="608257">
                <a:tc vMerge="1">
                  <a:txBody>
                    <a:bodyPr/>
                    <a:lstStyle/>
                    <a:p>
                      <a:endParaRPr lang="fr-C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400" dirty="0"/>
                        <a:t>24/24h 3x8h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400" dirty="0"/>
                        <a:t>Coût</a:t>
                      </a:r>
                      <a:r>
                        <a:rPr lang="fr-CH" sz="1400" baseline="0" dirty="0"/>
                        <a:t> d’investissement à court terme élevé</a:t>
                      </a:r>
                      <a:endParaRPr lang="fr-CH" sz="1400"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417526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custDataLst>
              <p:tags r:id="rId1"/>
            </p:custDataLst>
          </p:nvPr>
        </p:nvPicPr>
        <p:blipFill>
          <a:blip r:embed="rId7"/>
          <a:stretch>
            <a:fillRect/>
          </a:stretch>
        </p:blipFill>
        <p:spPr>
          <a:xfrm>
            <a:off x="3746991" y="1620659"/>
            <a:ext cx="5832648" cy="4954685"/>
          </a:xfrm>
          <a:prstGeom prst="rect">
            <a:avLst/>
          </a:prstGeom>
        </p:spPr>
      </p:pic>
      <p:sp>
        <p:nvSpPr>
          <p:cNvPr id="4" name="Textplatzhalter 3"/>
          <p:cNvSpPr>
            <a:spLocks noGrp="1"/>
          </p:cNvSpPr>
          <p:nvPr>
            <p:ph type="body" sz="quarter" idx="10"/>
            <p:custDataLst>
              <p:tags r:id="rId2"/>
            </p:custDataLst>
          </p:nvPr>
        </p:nvSpPr>
        <p:spPr/>
        <p:txBody>
          <a:bodyPr/>
          <a:lstStyle/>
          <a:p>
            <a:r>
              <a:rPr lang="fr-CH" dirty="0"/>
              <a:t>Composants d’une cellule robotique - Robot</a:t>
            </a:r>
          </a:p>
        </p:txBody>
      </p:sp>
      <p:sp>
        <p:nvSpPr>
          <p:cNvPr id="5" name="Textplatzhalter 4"/>
          <p:cNvSpPr>
            <a:spLocks noGrp="1"/>
          </p:cNvSpPr>
          <p:nvPr>
            <p:ph type="body" sz="quarter" idx="11"/>
            <p:custDataLst>
              <p:tags r:id="rId3"/>
            </p:custDataLst>
          </p:nvPr>
        </p:nvSpPr>
        <p:spPr>
          <a:xfrm>
            <a:off x="586084" y="2051444"/>
            <a:ext cx="9008063" cy="4523900"/>
          </a:xfrm>
        </p:spPr>
        <p:txBody>
          <a:bodyPr/>
          <a:lstStyle/>
          <a:p>
            <a:endParaRPr lang="fr-CH" sz="2000" dirty="0"/>
          </a:p>
          <a:p>
            <a:pPr marL="342900" indent="-342900">
              <a:buFont typeface="Arial" panose="020B0604020202020204" pitchFamily="34" charset="0"/>
              <a:buChar char="•"/>
            </a:pPr>
            <a:r>
              <a:rPr lang="fr-CH" sz="2000" dirty="0">
                <a:solidFill>
                  <a:srgbClr val="FF0000"/>
                </a:solidFill>
              </a:rPr>
              <a:t>Le contrôleur</a:t>
            </a:r>
          </a:p>
          <a:p>
            <a:pPr marL="342900" indent="-342900">
              <a:buFont typeface="Arial" panose="020B0604020202020204" pitchFamily="34" charset="0"/>
              <a:buChar char="•"/>
            </a:pPr>
            <a:r>
              <a:rPr lang="fr-CH" sz="2000" dirty="0">
                <a:solidFill>
                  <a:srgbClr val="FF0000"/>
                </a:solidFill>
              </a:rPr>
              <a:t>Bras robotisé</a:t>
            </a:r>
          </a:p>
          <a:p>
            <a:pPr marL="342900" indent="-342900">
              <a:buFont typeface="Arial" panose="020B0604020202020204" pitchFamily="34" charset="0"/>
              <a:buChar char="•"/>
            </a:pPr>
            <a:r>
              <a:rPr lang="fr-CH" sz="2000" dirty="0">
                <a:solidFill>
                  <a:srgbClr val="FF0000"/>
                </a:solidFill>
              </a:rPr>
              <a:t>Boîtier de commande</a:t>
            </a:r>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p:txBody>
      </p:sp>
      <p:sp>
        <p:nvSpPr>
          <p:cNvPr id="2" name="Espace réservé du numéro de diapositive 1"/>
          <p:cNvSpPr>
            <a:spLocks noGrp="1"/>
          </p:cNvSpPr>
          <p:nvPr>
            <p:ph type="sldNum" sz="quarter" idx="12"/>
            <p:custDataLst>
              <p:tags r:id="rId4"/>
            </p:custDataLst>
          </p:nvPr>
        </p:nvSpPr>
        <p:spPr>
          <a:xfrm>
            <a:off x="4143375" y="6978599"/>
            <a:ext cx="2405062" cy="401638"/>
          </a:xfrm>
        </p:spPr>
        <p:txBody>
          <a:bodyPr/>
          <a:lstStyle/>
          <a:p>
            <a:pPr algn="ctr"/>
            <a:fld id="{4F439F28-9AED-4E6F-B87B-0A4D16674C0E}" type="slidenum">
              <a:rPr lang="fr-CH" smtClean="0"/>
              <a:pPr algn="ctr"/>
              <a:t>11</a:t>
            </a:fld>
            <a:endParaRPr lang="fr-CH" dirty="0"/>
          </a:p>
        </p:txBody>
      </p:sp>
    </p:spTree>
    <p:extLst>
      <p:ext uri="{BB962C8B-B14F-4D97-AF65-F5344CB8AC3E}">
        <p14:creationId xmlns:p14="http://schemas.microsoft.com/office/powerpoint/2010/main" val="4099518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Composants d’une cellule robotique - Communication</a:t>
            </a:r>
          </a:p>
        </p:txBody>
      </p:sp>
      <p:sp>
        <p:nvSpPr>
          <p:cNvPr id="5" name="Textplatzhalter 4"/>
          <p:cNvSpPr>
            <a:spLocks noGrp="1"/>
          </p:cNvSpPr>
          <p:nvPr>
            <p:ph type="body" sz="quarter" idx="11"/>
            <p:custDataLst>
              <p:tags r:id="rId2"/>
            </p:custDataLst>
          </p:nvPr>
        </p:nvSpPr>
        <p:spPr>
          <a:xfrm>
            <a:off x="586084" y="2051444"/>
            <a:ext cx="9008063" cy="4523900"/>
          </a:xfrm>
        </p:spPr>
        <p:txBody>
          <a:bodyPr/>
          <a:lstStyle/>
          <a:p>
            <a:endParaRPr lang="fr-CH" sz="2000" dirty="0"/>
          </a:p>
          <a:p>
            <a:r>
              <a:rPr lang="fr-CH" sz="2000" dirty="0"/>
              <a:t>Ethernet : - Réseau machine</a:t>
            </a:r>
          </a:p>
          <a:p>
            <a:r>
              <a:rPr lang="fr-CH" sz="2000" dirty="0"/>
              <a:t>	    - Réseau entreprise</a:t>
            </a:r>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r>
              <a:rPr lang="fr-CH" sz="2000" dirty="0"/>
              <a:t>Périphérie : - </a:t>
            </a:r>
            <a:r>
              <a:rPr lang="fr-CH" sz="2000" dirty="0" err="1"/>
              <a:t>EtherCAT</a:t>
            </a:r>
            <a:r>
              <a:rPr lang="fr-CH" sz="2000" dirty="0"/>
              <a:t>, </a:t>
            </a:r>
            <a:r>
              <a:rPr lang="fr-CH" sz="2000" dirty="0" err="1"/>
              <a:t>Modbus</a:t>
            </a:r>
            <a:r>
              <a:rPr lang="fr-CH" sz="2000" dirty="0"/>
              <a:t>, </a:t>
            </a:r>
            <a:r>
              <a:rPr lang="fr-CH" sz="2000" dirty="0" err="1"/>
              <a:t>Profinet</a:t>
            </a:r>
            <a:r>
              <a:rPr lang="fr-CH" sz="2000" dirty="0"/>
              <a:t>, </a:t>
            </a:r>
            <a:r>
              <a:rPr lang="fr-CH" sz="2000" dirty="0" err="1"/>
              <a:t>Profibus</a:t>
            </a:r>
            <a:r>
              <a:rPr lang="fr-CH" sz="2000" dirty="0"/>
              <a:t>, etc.</a:t>
            </a:r>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a:p>
            <a:endParaRPr lang="fr-CH" sz="2000" dirty="0"/>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12</a:t>
            </a:fld>
            <a:endParaRPr lang="fr-CH" dirty="0"/>
          </a:p>
        </p:txBody>
      </p:sp>
      <p:pic>
        <p:nvPicPr>
          <p:cNvPr id="7" name="Image 6"/>
          <p:cNvPicPr>
            <a:picLocks noChangeAspect="1"/>
          </p:cNvPicPr>
          <p:nvPr>
            <p:custDataLst>
              <p:tags r:id="rId4"/>
            </p:custDataLst>
          </p:nvPr>
        </p:nvPicPr>
        <p:blipFill>
          <a:blip r:embed="rId7"/>
          <a:stretch>
            <a:fillRect/>
          </a:stretch>
        </p:blipFill>
        <p:spPr>
          <a:xfrm>
            <a:off x="1929185" y="3203773"/>
            <a:ext cx="6833442" cy="2795258"/>
          </a:xfrm>
          <a:prstGeom prst="rect">
            <a:avLst/>
          </a:prstGeom>
        </p:spPr>
      </p:pic>
    </p:spTree>
    <p:extLst>
      <p:ext uri="{BB962C8B-B14F-4D97-AF65-F5344CB8AC3E}">
        <p14:creationId xmlns:p14="http://schemas.microsoft.com/office/powerpoint/2010/main" val="194943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Composants d’une cellule robotique - Périphériques</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13</a:t>
            </a:fld>
            <a:endParaRPr lang="fr-CH" dirty="0"/>
          </a:p>
        </p:txBody>
      </p:sp>
      <p:pic>
        <p:nvPicPr>
          <p:cNvPr id="5" name="Image 4"/>
          <p:cNvPicPr>
            <a:picLocks noChangeAspect="1"/>
          </p:cNvPicPr>
          <p:nvPr>
            <p:custDataLst>
              <p:tags r:id="rId3"/>
            </p:custDataLst>
          </p:nvPr>
        </p:nvPicPr>
        <p:blipFill>
          <a:blip r:embed="rId6"/>
          <a:stretch>
            <a:fillRect/>
          </a:stretch>
        </p:blipFill>
        <p:spPr>
          <a:xfrm>
            <a:off x="1385466" y="2127263"/>
            <a:ext cx="7409298" cy="4757562"/>
          </a:xfrm>
          <a:prstGeom prst="rect">
            <a:avLst/>
          </a:prstGeom>
        </p:spPr>
      </p:pic>
    </p:spTree>
    <p:extLst>
      <p:ext uri="{BB962C8B-B14F-4D97-AF65-F5344CB8AC3E}">
        <p14:creationId xmlns:p14="http://schemas.microsoft.com/office/powerpoint/2010/main" val="2277437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Terminologie – Caractéristiques des robots industriels</a:t>
            </a:r>
          </a:p>
        </p:txBody>
      </p:sp>
      <p:sp>
        <p:nvSpPr>
          <p:cNvPr id="5" name="Textplatzhalter 4"/>
          <p:cNvSpPr>
            <a:spLocks noGrp="1"/>
          </p:cNvSpPr>
          <p:nvPr>
            <p:ph type="body" sz="quarter" idx="11"/>
            <p:custDataLst>
              <p:tags r:id="rId2"/>
            </p:custDataLst>
          </p:nvPr>
        </p:nvSpPr>
        <p:spPr>
          <a:xfrm>
            <a:off x="586084" y="2051444"/>
            <a:ext cx="9008063" cy="4523900"/>
          </a:xfrm>
        </p:spPr>
        <p:txBody>
          <a:bodyPr/>
          <a:lstStyle/>
          <a:p>
            <a:endParaRPr lang="fr-CH" dirty="0">
              <a:solidFill>
                <a:schemeClr val="tx2"/>
              </a:solidFill>
            </a:endParaRPr>
          </a:p>
          <a:p>
            <a:pPr marL="342900" indent="-342900">
              <a:buFont typeface="Arial" panose="020B0604020202020204" pitchFamily="34" charset="0"/>
              <a:buChar char="•"/>
            </a:pPr>
            <a:r>
              <a:rPr lang="fr-CH" dirty="0">
                <a:solidFill>
                  <a:schemeClr val="tx2"/>
                </a:solidFill>
              </a:rPr>
              <a:t>Le nombre de degrés de libertés</a:t>
            </a:r>
          </a:p>
          <a:p>
            <a:pPr marL="342900" indent="-342900">
              <a:buFont typeface="Arial" panose="020B0604020202020204" pitchFamily="34" charset="0"/>
              <a:buChar char="•"/>
            </a:pPr>
            <a:r>
              <a:rPr lang="fr-CH" dirty="0">
                <a:solidFill>
                  <a:schemeClr val="tx2"/>
                </a:solidFill>
              </a:rPr>
              <a:t>La répétabilité</a:t>
            </a:r>
          </a:p>
          <a:p>
            <a:pPr marL="342900" indent="-342900">
              <a:buFont typeface="Arial" panose="020B0604020202020204" pitchFamily="34" charset="0"/>
              <a:buChar char="•"/>
            </a:pPr>
            <a:r>
              <a:rPr lang="fr-CH" dirty="0">
                <a:solidFill>
                  <a:schemeClr val="tx2"/>
                </a:solidFill>
              </a:rPr>
              <a:t>L’enveloppe de travail</a:t>
            </a:r>
          </a:p>
          <a:p>
            <a:pPr marL="342900" indent="-342900">
              <a:buFont typeface="Arial" panose="020B0604020202020204" pitchFamily="34" charset="0"/>
              <a:buChar char="•"/>
            </a:pPr>
            <a:r>
              <a:rPr lang="fr-CH" dirty="0">
                <a:solidFill>
                  <a:schemeClr val="tx2"/>
                </a:solidFill>
              </a:rPr>
              <a:t>La charge transportable admise</a:t>
            </a:r>
          </a:p>
          <a:p>
            <a:pPr marL="342900" indent="-342900">
              <a:buFont typeface="Arial" panose="020B0604020202020204" pitchFamily="34" charset="0"/>
              <a:buChar char="•"/>
            </a:pPr>
            <a:r>
              <a:rPr lang="fr-CH" dirty="0">
                <a:solidFill>
                  <a:schemeClr val="tx2"/>
                </a:solidFill>
              </a:rPr>
              <a:t>Vitesse maximum (par axes -&gt; °/s ou cartésien -&gt; m/s)</a:t>
            </a:r>
          </a:p>
          <a:p>
            <a:pPr marL="342900" indent="-342900">
              <a:buFont typeface="Arial" panose="020B0604020202020204" pitchFamily="34" charset="0"/>
              <a:buChar char="•"/>
            </a:pPr>
            <a:r>
              <a:rPr lang="fr-CH" dirty="0">
                <a:solidFill>
                  <a:schemeClr val="tx2"/>
                </a:solidFill>
              </a:rPr>
              <a:t>L’environnement de travail</a:t>
            </a:r>
          </a:p>
          <a:p>
            <a:pPr marL="342900" indent="-342900">
              <a:buFont typeface="Arial" panose="020B0604020202020204" pitchFamily="34" charset="0"/>
              <a:buChar char="•"/>
            </a:pPr>
            <a:r>
              <a:rPr lang="fr-CH" dirty="0">
                <a:solidFill>
                  <a:schemeClr val="tx2"/>
                </a:solidFill>
              </a:rPr>
              <a:t>La compliance (ou rigidité)</a:t>
            </a:r>
          </a:p>
          <a:p>
            <a:pPr marL="342900" indent="-342900">
              <a:buFont typeface="Arial" panose="020B0604020202020204" pitchFamily="34" charset="0"/>
              <a:buChar char="•"/>
            </a:pPr>
            <a:r>
              <a:rPr lang="fr-CH" dirty="0">
                <a:solidFill>
                  <a:schemeClr val="tx2"/>
                </a:solidFill>
              </a:rPr>
              <a:t>Le système de commande</a:t>
            </a:r>
            <a:endParaRPr lang="fr-CH" dirty="0"/>
          </a:p>
          <a:p>
            <a:endParaRPr lang="fr-CH" dirty="0"/>
          </a:p>
          <a:p>
            <a:endParaRPr lang="fr-CH" dirty="0"/>
          </a:p>
          <a:p>
            <a:endParaRPr lang="fr-CH" dirty="0"/>
          </a:p>
          <a:p>
            <a:endParaRPr lang="fr-CH" dirty="0"/>
          </a:p>
          <a:p>
            <a:endParaRPr lang="fr-CH" dirty="0"/>
          </a:p>
          <a:p>
            <a:endParaRPr lang="fr-CH" dirty="0"/>
          </a:p>
          <a:p>
            <a:endParaRPr lang="fr-CH" dirty="0"/>
          </a:p>
          <a:p>
            <a:endParaRPr lang="fr-CH" dirty="0"/>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14</a:t>
            </a:fld>
            <a:endParaRPr lang="fr-CH" dirty="0"/>
          </a:p>
        </p:txBody>
      </p:sp>
    </p:spTree>
    <p:extLst>
      <p:ext uri="{BB962C8B-B14F-4D97-AF65-F5344CB8AC3E}">
        <p14:creationId xmlns:p14="http://schemas.microsoft.com/office/powerpoint/2010/main" val="3266342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custDataLst>
              <p:tags r:id="rId1"/>
            </p:custDataLst>
          </p:nvPr>
        </p:nvPicPr>
        <p:blipFill>
          <a:blip r:embed="rId7"/>
          <a:stretch>
            <a:fillRect/>
          </a:stretch>
        </p:blipFill>
        <p:spPr>
          <a:xfrm>
            <a:off x="3134281" y="1968328"/>
            <a:ext cx="6828312" cy="5211090"/>
          </a:xfrm>
          <a:prstGeom prst="rect">
            <a:avLst/>
          </a:prstGeom>
        </p:spPr>
      </p:pic>
      <p:sp>
        <p:nvSpPr>
          <p:cNvPr id="2" name="Espace réservé du texte 1"/>
          <p:cNvSpPr>
            <a:spLocks noGrp="1"/>
          </p:cNvSpPr>
          <p:nvPr>
            <p:ph type="body" sz="quarter" idx="10"/>
            <p:custDataLst>
              <p:tags r:id="rId2"/>
            </p:custDataLst>
          </p:nvPr>
        </p:nvSpPr>
        <p:spPr/>
        <p:txBody>
          <a:bodyPr/>
          <a:lstStyle/>
          <a:p>
            <a:r>
              <a:rPr lang="fr-CH" dirty="0"/>
              <a:t>Famille d’architecture de robots : Série</a:t>
            </a:r>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15</a:t>
            </a:fld>
            <a:endParaRPr lang="fr-CH" dirty="0"/>
          </a:p>
        </p:txBody>
      </p:sp>
      <p:sp>
        <p:nvSpPr>
          <p:cNvPr id="6" name="Textplatzhalter 4"/>
          <p:cNvSpPr>
            <a:spLocks noGrp="1"/>
          </p:cNvSpPr>
          <p:nvPr>
            <p:ph type="body" sz="quarter" idx="11"/>
            <p:custDataLst>
              <p:tags r:id="rId4"/>
            </p:custDataLst>
          </p:nvPr>
        </p:nvSpPr>
        <p:spPr>
          <a:xfrm>
            <a:off x="586084" y="2051444"/>
            <a:ext cx="9008063" cy="4523900"/>
          </a:xfrm>
        </p:spPr>
        <p:txBody>
          <a:bodyPr/>
          <a:lstStyle/>
          <a:p>
            <a:endParaRPr lang="fr-CH" dirty="0"/>
          </a:p>
          <a:p>
            <a:r>
              <a:rPr lang="fr-CH" dirty="0">
                <a:solidFill>
                  <a:srgbClr val="FF0000"/>
                </a:solidFill>
              </a:rPr>
              <a:t>Robot Cartésien</a:t>
            </a:r>
            <a:endParaRPr lang="fr-CH" dirty="0"/>
          </a:p>
          <a:p>
            <a:endParaRPr lang="fr-CH" dirty="0"/>
          </a:p>
          <a:p>
            <a:endParaRPr lang="fr-CH" dirty="0"/>
          </a:p>
          <a:p>
            <a:endParaRPr lang="fr-CH" dirty="0"/>
          </a:p>
          <a:p>
            <a:endParaRPr lang="fr-CH" dirty="0"/>
          </a:p>
          <a:p>
            <a:endParaRPr lang="fr-CH" dirty="0"/>
          </a:p>
          <a:p>
            <a:endParaRPr lang="fr-CH" dirty="0"/>
          </a:p>
          <a:p>
            <a:endParaRPr lang="fr-CH" dirty="0"/>
          </a:p>
          <a:p>
            <a:endParaRPr lang="fr-CH" dirty="0"/>
          </a:p>
        </p:txBody>
      </p:sp>
    </p:spTree>
    <p:extLst>
      <p:ext uri="{BB962C8B-B14F-4D97-AF65-F5344CB8AC3E}">
        <p14:creationId xmlns:p14="http://schemas.microsoft.com/office/powerpoint/2010/main" val="2384951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2240118" y="1680088"/>
            <a:ext cx="7642292" cy="5731720"/>
          </a:xfrm>
          <a:prstGeom prst="rect">
            <a:avLst/>
          </a:prstGeom>
        </p:spPr>
      </p:pic>
      <p:sp>
        <p:nvSpPr>
          <p:cNvPr id="2" name="Espace réservé du texte 1"/>
          <p:cNvSpPr>
            <a:spLocks noGrp="1"/>
          </p:cNvSpPr>
          <p:nvPr>
            <p:ph type="body" sz="quarter" idx="10"/>
            <p:custDataLst>
              <p:tags r:id="rId2"/>
            </p:custDataLst>
          </p:nvPr>
        </p:nvSpPr>
        <p:spPr/>
        <p:txBody>
          <a:bodyPr/>
          <a:lstStyle/>
          <a:p>
            <a:r>
              <a:rPr lang="fr-CH" dirty="0"/>
              <a:t>Famille d’architecture de robots : Série</a:t>
            </a:r>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16</a:t>
            </a:fld>
            <a:endParaRPr lang="fr-CH" dirty="0"/>
          </a:p>
        </p:txBody>
      </p:sp>
      <p:sp>
        <p:nvSpPr>
          <p:cNvPr id="6" name="Textplatzhalter 4"/>
          <p:cNvSpPr>
            <a:spLocks noGrp="1"/>
          </p:cNvSpPr>
          <p:nvPr>
            <p:ph type="body" sz="quarter" idx="11"/>
            <p:custDataLst>
              <p:tags r:id="rId4"/>
            </p:custDataLst>
          </p:nvPr>
        </p:nvSpPr>
        <p:spPr>
          <a:xfrm>
            <a:off x="586084" y="2051444"/>
            <a:ext cx="9008063" cy="4523900"/>
          </a:xfrm>
        </p:spPr>
        <p:txBody>
          <a:bodyPr/>
          <a:lstStyle/>
          <a:p>
            <a:r>
              <a:rPr lang="fr-CH" dirty="0" err="1">
                <a:solidFill>
                  <a:srgbClr val="FF0000"/>
                </a:solidFill>
              </a:rPr>
              <a:t>Scara</a:t>
            </a:r>
            <a:endParaRPr lang="fr-CH" dirty="0"/>
          </a:p>
          <a:p>
            <a:endParaRPr lang="fr-CH" dirty="0"/>
          </a:p>
          <a:p>
            <a:endParaRPr lang="fr-CH" dirty="0"/>
          </a:p>
          <a:p>
            <a:endParaRPr lang="fr-CH" dirty="0"/>
          </a:p>
          <a:p>
            <a:endParaRPr lang="fr-CH" dirty="0"/>
          </a:p>
          <a:p>
            <a:endParaRPr lang="fr-CH" dirty="0"/>
          </a:p>
          <a:p>
            <a:endParaRPr lang="fr-CH" dirty="0"/>
          </a:p>
          <a:p>
            <a:endParaRPr lang="fr-CH" dirty="0"/>
          </a:p>
          <a:p>
            <a:endParaRPr lang="fr-CH" dirty="0"/>
          </a:p>
        </p:txBody>
      </p:sp>
    </p:spTree>
    <p:extLst>
      <p:ext uri="{BB962C8B-B14F-4D97-AF65-F5344CB8AC3E}">
        <p14:creationId xmlns:p14="http://schemas.microsoft.com/office/powerpoint/2010/main" val="2467777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Robot </a:t>
            </a:r>
            <a:r>
              <a:rPr lang="fr-CH" dirty="0" err="1"/>
              <a:t>Scara</a:t>
            </a:r>
            <a:r>
              <a:rPr lang="fr-CH" dirty="0"/>
              <a:t> : Degrés de liberté</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17</a:t>
            </a:fld>
            <a:endParaRPr lang="fr-CH" dirty="0"/>
          </a:p>
        </p:txBody>
      </p:sp>
      <p:sp>
        <p:nvSpPr>
          <p:cNvPr id="6" name="Textplatzhalter 4"/>
          <p:cNvSpPr>
            <a:spLocks noGrp="1"/>
          </p:cNvSpPr>
          <p:nvPr>
            <p:ph type="body" sz="quarter" idx="11"/>
            <p:custDataLst>
              <p:tags r:id="rId3"/>
            </p:custDataLst>
          </p:nvPr>
        </p:nvSpPr>
        <p:spPr>
          <a:xfrm>
            <a:off x="586084" y="2051444"/>
            <a:ext cx="9008063" cy="4523900"/>
          </a:xfrm>
        </p:spPr>
        <p:txBody>
          <a:bodyPr/>
          <a:lstStyle/>
          <a:p>
            <a:endParaRPr lang="fr-CH" dirty="0"/>
          </a:p>
          <a:p>
            <a:endParaRPr lang="fr-CH" dirty="0"/>
          </a:p>
          <a:p>
            <a:endParaRPr lang="fr-CH" dirty="0"/>
          </a:p>
          <a:p>
            <a:endParaRPr lang="fr-CH" dirty="0"/>
          </a:p>
          <a:p>
            <a:endParaRPr lang="fr-CH" dirty="0"/>
          </a:p>
          <a:p>
            <a:endParaRPr lang="fr-CH" dirty="0"/>
          </a:p>
          <a:p>
            <a:endParaRPr lang="fr-CH" dirty="0"/>
          </a:p>
          <a:p>
            <a:endParaRPr lang="fr-CH" dirty="0"/>
          </a:p>
          <a:p>
            <a:endParaRPr lang="fr-CH" dirty="0"/>
          </a:p>
        </p:txBody>
      </p:sp>
      <p:pic>
        <p:nvPicPr>
          <p:cNvPr id="7" name="Image 6"/>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1903513" y="1913409"/>
            <a:ext cx="6373204" cy="4799970"/>
          </a:xfrm>
          <a:prstGeom prst="rect">
            <a:avLst/>
          </a:prstGeom>
        </p:spPr>
      </p:pic>
    </p:spTree>
    <p:extLst>
      <p:ext uri="{BB962C8B-B14F-4D97-AF65-F5344CB8AC3E}">
        <p14:creationId xmlns:p14="http://schemas.microsoft.com/office/powerpoint/2010/main" val="357700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2177554" y="1837611"/>
            <a:ext cx="6336704" cy="5373014"/>
          </a:xfrm>
          <a:prstGeom prst="rect">
            <a:avLst/>
          </a:prstGeom>
        </p:spPr>
      </p:pic>
      <p:sp>
        <p:nvSpPr>
          <p:cNvPr id="2" name="Espace réservé du texte 1"/>
          <p:cNvSpPr>
            <a:spLocks noGrp="1"/>
          </p:cNvSpPr>
          <p:nvPr>
            <p:ph type="body" sz="quarter" idx="10"/>
            <p:custDataLst>
              <p:tags r:id="rId2"/>
            </p:custDataLst>
          </p:nvPr>
        </p:nvSpPr>
        <p:spPr/>
        <p:txBody>
          <a:bodyPr/>
          <a:lstStyle/>
          <a:p>
            <a:r>
              <a:rPr lang="fr-CH" dirty="0"/>
              <a:t>Robot </a:t>
            </a:r>
            <a:r>
              <a:rPr lang="fr-CH" dirty="0" err="1"/>
              <a:t>Scara</a:t>
            </a:r>
            <a:r>
              <a:rPr lang="fr-CH" dirty="0"/>
              <a:t> : Enveloppe de travail</a:t>
            </a:r>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18</a:t>
            </a:fld>
            <a:endParaRPr lang="fr-CH" dirty="0"/>
          </a:p>
        </p:txBody>
      </p:sp>
      <p:sp>
        <p:nvSpPr>
          <p:cNvPr id="6" name="Textplatzhalter 4"/>
          <p:cNvSpPr>
            <a:spLocks noGrp="1"/>
          </p:cNvSpPr>
          <p:nvPr>
            <p:ph type="body" sz="quarter" idx="11"/>
            <p:custDataLst>
              <p:tags r:id="rId4"/>
            </p:custDataLst>
          </p:nvPr>
        </p:nvSpPr>
        <p:spPr>
          <a:xfrm>
            <a:off x="586084" y="2051444"/>
            <a:ext cx="9008063" cy="4523900"/>
          </a:xfrm>
        </p:spPr>
        <p:txBody>
          <a:bodyPr/>
          <a:lstStyle/>
          <a:p>
            <a:endParaRPr lang="fr-CH" dirty="0"/>
          </a:p>
          <a:p>
            <a:endParaRPr lang="fr-CH" dirty="0"/>
          </a:p>
          <a:p>
            <a:endParaRPr lang="fr-CH" dirty="0"/>
          </a:p>
          <a:p>
            <a:endParaRPr lang="fr-CH" dirty="0"/>
          </a:p>
          <a:p>
            <a:endParaRPr lang="fr-CH" dirty="0"/>
          </a:p>
          <a:p>
            <a:endParaRPr lang="fr-CH" dirty="0"/>
          </a:p>
          <a:p>
            <a:endParaRPr lang="fr-CH" dirty="0"/>
          </a:p>
          <a:p>
            <a:endParaRPr lang="fr-CH" dirty="0"/>
          </a:p>
          <a:p>
            <a:endParaRPr lang="fr-CH" dirty="0"/>
          </a:p>
        </p:txBody>
      </p:sp>
    </p:spTree>
    <p:extLst>
      <p:ext uri="{BB962C8B-B14F-4D97-AF65-F5344CB8AC3E}">
        <p14:creationId xmlns:p14="http://schemas.microsoft.com/office/powerpoint/2010/main" val="615272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Robot </a:t>
            </a:r>
            <a:r>
              <a:rPr lang="fr-CH" dirty="0" err="1"/>
              <a:t>Scara</a:t>
            </a:r>
            <a:r>
              <a:rPr lang="fr-CH" dirty="0"/>
              <a:t> : Exemple</a:t>
            </a:r>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19</a:t>
            </a:fld>
            <a:endParaRPr lang="fr-CH" dirty="0"/>
          </a:p>
        </p:txBody>
      </p:sp>
      <p:sp>
        <p:nvSpPr>
          <p:cNvPr id="6" name="Textplatzhalter 4"/>
          <p:cNvSpPr>
            <a:spLocks noGrp="1"/>
          </p:cNvSpPr>
          <p:nvPr>
            <p:ph type="body" sz="quarter" idx="11"/>
            <p:custDataLst>
              <p:tags r:id="rId3"/>
            </p:custDataLst>
          </p:nvPr>
        </p:nvSpPr>
        <p:spPr>
          <a:xfrm>
            <a:off x="586084" y="2051444"/>
            <a:ext cx="9008063" cy="4523900"/>
          </a:xfrm>
        </p:spPr>
        <p:txBody>
          <a:bodyPr/>
          <a:lstStyle/>
          <a:p>
            <a:r>
              <a:rPr lang="fr-CH" dirty="0">
                <a:hlinkClick r:id="rId6"/>
              </a:rPr>
              <a:t>https://www.youtube.com/watch?v=aQBeTSCpQ6k</a:t>
            </a:r>
            <a:endParaRPr lang="fr-CH" dirty="0"/>
          </a:p>
          <a:p>
            <a:endParaRPr lang="fr-CH" dirty="0"/>
          </a:p>
          <a:p>
            <a:r>
              <a:rPr lang="fr-CH" dirty="0">
                <a:hlinkClick r:id="rId7"/>
              </a:rPr>
              <a:t>https://www.youtube.com/watch?v=zzpOtrI-qPc</a:t>
            </a:r>
            <a:endParaRPr lang="fr-CH" dirty="0"/>
          </a:p>
        </p:txBody>
      </p:sp>
    </p:spTree>
    <p:extLst>
      <p:ext uri="{BB962C8B-B14F-4D97-AF65-F5344CB8AC3E}">
        <p14:creationId xmlns:p14="http://schemas.microsoft.com/office/powerpoint/2010/main" val="82002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4460205" y="1578565"/>
            <a:ext cx="4176464" cy="5400034"/>
          </a:xfrm>
          <a:prstGeom prst="rect">
            <a:avLst/>
          </a:prstGeom>
        </p:spPr>
      </p:pic>
      <p:sp>
        <p:nvSpPr>
          <p:cNvPr id="2" name="Espace réservé du texte 1"/>
          <p:cNvSpPr>
            <a:spLocks noGrp="1"/>
          </p:cNvSpPr>
          <p:nvPr>
            <p:ph type="body" sz="quarter" idx="10"/>
            <p:custDataLst>
              <p:tags r:id="rId2"/>
            </p:custDataLst>
          </p:nvPr>
        </p:nvSpPr>
        <p:spPr/>
        <p:txBody>
          <a:bodyPr/>
          <a:lstStyle/>
          <a:p>
            <a:r>
              <a:rPr lang="fr-CH" dirty="0"/>
              <a:t>Famille d’architecture de robots : Série</a:t>
            </a:r>
          </a:p>
        </p:txBody>
      </p:sp>
      <p:sp>
        <p:nvSpPr>
          <p:cNvPr id="3" name="Espace réservé du texte 2"/>
          <p:cNvSpPr>
            <a:spLocks noGrp="1"/>
          </p:cNvSpPr>
          <p:nvPr>
            <p:ph type="body" sz="quarter" idx="11"/>
            <p:custDataLst>
              <p:tags r:id="rId3"/>
            </p:custDataLst>
          </p:nvPr>
        </p:nvSpPr>
        <p:spPr/>
        <p:txBody>
          <a:bodyPr/>
          <a:lstStyle/>
          <a:p>
            <a:r>
              <a:rPr lang="fr-CH" dirty="0">
                <a:solidFill>
                  <a:srgbClr val="FF0000"/>
                </a:solidFill>
              </a:rPr>
              <a:t>Anthropomorphe</a:t>
            </a:r>
          </a:p>
          <a:p>
            <a:endParaRPr lang="fr-CH" dirty="0"/>
          </a:p>
        </p:txBody>
      </p:sp>
      <p:sp>
        <p:nvSpPr>
          <p:cNvPr id="4" name="Espace réservé du numéro de diapositive 3"/>
          <p:cNvSpPr>
            <a:spLocks noGrp="1"/>
          </p:cNvSpPr>
          <p:nvPr>
            <p:ph type="sldNum" sz="quarter" idx="12"/>
            <p:custDataLst>
              <p:tags r:id="rId4"/>
            </p:custDataLst>
          </p:nvPr>
        </p:nvSpPr>
        <p:spPr/>
        <p:txBody>
          <a:bodyPr/>
          <a:lstStyle/>
          <a:p>
            <a:fld id="{4F439F28-9AED-4E6F-B87B-0A4D16674C0E}" type="slidenum">
              <a:rPr lang="fr-CH" smtClean="0"/>
              <a:t>20</a:t>
            </a:fld>
            <a:endParaRPr lang="fr-CH" dirty="0"/>
          </a:p>
        </p:txBody>
      </p:sp>
    </p:spTree>
    <p:extLst>
      <p:ext uri="{BB962C8B-B14F-4D97-AF65-F5344CB8AC3E}">
        <p14:creationId xmlns:p14="http://schemas.microsoft.com/office/powerpoint/2010/main" val="271053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Robot anthropomorphe – Degrés de libertés</a:t>
            </a:r>
          </a:p>
        </p:txBody>
      </p:sp>
      <p:sp>
        <p:nvSpPr>
          <p:cNvPr id="3" name="Espace réservé du texte 2"/>
          <p:cNvSpPr>
            <a:spLocks noGrp="1"/>
          </p:cNvSpPr>
          <p:nvPr>
            <p:ph type="body" sz="quarter" idx="11"/>
            <p:custDataLst>
              <p:tags r:id="rId2"/>
            </p:custDataLst>
          </p:nvPr>
        </p:nvSpPr>
        <p:spPr/>
        <p:txBody>
          <a:bodyPr/>
          <a:lstStyle/>
          <a:p>
            <a:endParaRPr lang="fr-CH"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21</a:t>
            </a:fld>
            <a:endParaRPr lang="fr-CH" dirty="0"/>
          </a:p>
        </p:txBody>
      </p:sp>
      <p:pic>
        <p:nvPicPr>
          <p:cNvPr id="6" name="Image 5"/>
          <p:cNvPicPr>
            <a:picLocks noChangeAspect="1"/>
          </p:cNvPicPr>
          <p:nvPr>
            <p:custDataLst>
              <p:tags r:id="rId4"/>
            </p:custDataLst>
          </p:nvPr>
        </p:nvPicPr>
        <p:blipFill>
          <a:blip r:embed="rId7"/>
          <a:stretch>
            <a:fillRect/>
          </a:stretch>
        </p:blipFill>
        <p:spPr>
          <a:xfrm>
            <a:off x="1060623" y="2054126"/>
            <a:ext cx="8058984" cy="4811760"/>
          </a:xfrm>
          <a:prstGeom prst="rect">
            <a:avLst/>
          </a:prstGeom>
        </p:spPr>
      </p:pic>
    </p:spTree>
    <p:extLst>
      <p:ext uri="{BB962C8B-B14F-4D97-AF65-F5344CB8AC3E}">
        <p14:creationId xmlns:p14="http://schemas.microsoft.com/office/powerpoint/2010/main" val="253249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2609602" y="1515148"/>
            <a:ext cx="5472608" cy="5740874"/>
          </a:xfrm>
          <a:prstGeom prst="rect">
            <a:avLst/>
          </a:prstGeom>
        </p:spPr>
      </p:pic>
      <p:sp>
        <p:nvSpPr>
          <p:cNvPr id="2" name="Espace réservé du texte 1"/>
          <p:cNvSpPr>
            <a:spLocks noGrp="1"/>
          </p:cNvSpPr>
          <p:nvPr>
            <p:ph type="body" sz="quarter" idx="10"/>
            <p:custDataLst>
              <p:tags r:id="rId2"/>
            </p:custDataLst>
          </p:nvPr>
        </p:nvSpPr>
        <p:spPr/>
        <p:txBody>
          <a:bodyPr/>
          <a:lstStyle/>
          <a:p>
            <a:r>
              <a:rPr lang="fr-CH" dirty="0"/>
              <a:t>Robot anthropomorphe – Enveloppe de travail</a:t>
            </a:r>
          </a:p>
        </p:txBody>
      </p:sp>
      <p:sp>
        <p:nvSpPr>
          <p:cNvPr id="3" name="Espace réservé du texte 2"/>
          <p:cNvSpPr>
            <a:spLocks noGrp="1"/>
          </p:cNvSpPr>
          <p:nvPr>
            <p:ph type="body" sz="quarter" idx="11"/>
            <p:custDataLst>
              <p:tags r:id="rId3"/>
            </p:custDataLst>
          </p:nvPr>
        </p:nvSpPr>
        <p:spPr/>
        <p:txBody>
          <a:bodyPr/>
          <a:lstStyle/>
          <a:p>
            <a:endParaRPr lang="fr-CH" dirty="0"/>
          </a:p>
        </p:txBody>
      </p:sp>
      <p:sp>
        <p:nvSpPr>
          <p:cNvPr id="4" name="Espace réservé du numéro de diapositive 3"/>
          <p:cNvSpPr>
            <a:spLocks noGrp="1"/>
          </p:cNvSpPr>
          <p:nvPr>
            <p:ph type="sldNum" sz="quarter" idx="12"/>
            <p:custDataLst>
              <p:tags r:id="rId4"/>
            </p:custDataLst>
          </p:nvPr>
        </p:nvSpPr>
        <p:spPr/>
        <p:txBody>
          <a:bodyPr/>
          <a:lstStyle/>
          <a:p>
            <a:fld id="{4F439F28-9AED-4E6F-B87B-0A4D16674C0E}" type="slidenum">
              <a:rPr lang="fr-CH" smtClean="0"/>
              <a:t>22</a:t>
            </a:fld>
            <a:endParaRPr lang="fr-CH" dirty="0"/>
          </a:p>
        </p:txBody>
      </p:sp>
    </p:spTree>
    <p:extLst>
      <p:ext uri="{BB962C8B-B14F-4D97-AF65-F5344CB8AC3E}">
        <p14:creationId xmlns:p14="http://schemas.microsoft.com/office/powerpoint/2010/main" val="2206664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Robot anthropomorphe – Exemple</a:t>
            </a:r>
          </a:p>
        </p:txBody>
      </p:sp>
      <p:sp>
        <p:nvSpPr>
          <p:cNvPr id="3" name="Espace réservé du texte 2"/>
          <p:cNvSpPr>
            <a:spLocks noGrp="1"/>
          </p:cNvSpPr>
          <p:nvPr>
            <p:ph type="body" sz="quarter" idx="11"/>
            <p:custDataLst>
              <p:tags r:id="rId2"/>
            </p:custDataLst>
          </p:nvPr>
        </p:nvSpPr>
        <p:spPr/>
        <p:txBody>
          <a:bodyPr/>
          <a:lstStyle/>
          <a:p>
            <a:r>
              <a:rPr lang="fr-CH" dirty="0">
                <a:solidFill>
                  <a:srgbClr val="FF0000"/>
                </a:solidFill>
              </a:rPr>
              <a:t>Transport:</a:t>
            </a:r>
          </a:p>
          <a:p>
            <a:r>
              <a:rPr lang="fr-CH" dirty="0">
                <a:hlinkClick r:id="rId6"/>
              </a:rPr>
              <a:t>https://www.youtube.com/watch?v=gqZNzUQoSMA</a:t>
            </a:r>
            <a:endParaRPr lang="fr-CH" dirty="0"/>
          </a:p>
          <a:p>
            <a:endParaRPr lang="fr-CH" dirty="0">
              <a:solidFill>
                <a:srgbClr val="FF0000"/>
              </a:solidFill>
            </a:endParaRPr>
          </a:p>
          <a:p>
            <a:r>
              <a:rPr lang="fr-CH" dirty="0">
                <a:solidFill>
                  <a:srgbClr val="FF0000"/>
                </a:solidFill>
              </a:rPr>
              <a:t>Usine d’assemblage Tesla:</a:t>
            </a:r>
          </a:p>
          <a:p>
            <a:r>
              <a:rPr lang="fr-CH" dirty="0">
                <a:hlinkClick r:id="rId7"/>
              </a:rPr>
              <a:t>https://www.youtube.com/watch?v=8_lfxPI5ObM</a:t>
            </a:r>
            <a:endParaRPr lang="fr-CH" dirty="0"/>
          </a:p>
          <a:p>
            <a:endParaRPr lang="fr-CH" dirty="0">
              <a:solidFill>
                <a:srgbClr val="FF0000"/>
              </a:solidFill>
            </a:endParaRPr>
          </a:p>
          <a:p>
            <a:r>
              <a:rPr lang="fr-CH" dirty="0">
                <a:solidFill>
                  <a:srgbClr val="FF0000"/>
                </a:solidFill>
              </a:rPr>
              <a:t>Terminaison de pièce:</a:t>
            </a:r>
          </a:p>
          <a:p>
            <a:r>
              <a:rPr lang="fr-CH" dirty="0">
                <a:hlinkClick r:id="rId8"/>
              </a:rPr>
              <a:t>https://www.youtube.com/watch?v=tAt0k8LPd-Y</a:t>
            </a:r>
            <a:endParaRPr lang="fr-CH" dirty="0"/>
          </a:p>
          <a:p>
            <a:endParaRPr lang="fr-CH" dirty="0">
              <a:solidFill>
                <a:srgbClr val="FF0000"/>
              </a:solidFill>
            </a:endParaRPr>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23</a:t>
            </a:fld>
            <a:endParaRPr lang="fr-CH" dirty="0"/>
          </a:p>
        </p:txBody>
      </p:sp>
    </p:spTree>
    <p:extLst>
      <p:ext uri="{BB962C8B-B14F-4D97-AF65-F5344CB8AC3E}">
        <p14:creationId xmlns:p14="http://schemas.microsoft.com/office/powerpoint/2010/main" val="1656375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3E7EF9EC-3B2C-16F0-1DC5-8D58C78E0075}"/>
              </a:ext>
            </a:extLst>
          </p:cNvPr>
          <p:cNvSpPr>
            <a:spLocks noGrp="1"/>
          </p:cNvSpPr>
          <p:nvPr>
            <p:ph type="sldNum" sz="quarter" idx="12"/>
          </p:nvPr>
        </p:nvSpPr>
        <p:spPr/>
        <p:txBody>
          <a:bodyPr/>
          <a:lstStyle/>
          <a:p>
            <a:fld id="{4F439F28-9AED-4E6F-B87B-0A4D16674C0E}" type="slidenum">
              <a:rPr lang="fr-CH" smtClean="0"/>
              <a:t>24</a:t>
            </a:fld>
            <a:endParaRPr lang="fr-CH" dirty="0"/>
          </a:p>
        </p:txBody>
      </p:sp>
      <p:pic>
        <p:nvPicPr>
          <p:cNvPr id="1026" name="Picture 2" descr="Pause café Photo stock libre - Public Domain Pictures">
            <a:extLst>
              <a:ext uri="{FF2B5EF4-FFF2-40B4-BE49-F238E27FC236}">
                <a16:creationId xmlns:a16="http://schemas.microsoft.com/office/drawing/2014/main" id="{B8FFF26A-5EA9-0B81-1151-4DBBC8B65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873" y="1187549"/>
            <a:ext cx="4322066" cy="5643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2479577" y="1996998"/>
            <a:ext cx="5221076" cy="5185800"/>
          </a:xfrm>
          <a:prstGeom prst="rect">
            <a:avLst/>
          </a:prstGeom>
        </p:spPr>
      </p:pic>
      <p:sp>
        <p:nvSpPr>
          <p:cNvPr id="2" name="Espace réservé du texte 1"/>
          <p:cNvSpPr>
            <a:spLocks noGrp="1"/>
          </p:cNvSpPr>
          <p:nvPr>
            <p:ph type="body" sz="quarter" idx="10"/>
            <p:custDataLst>
              <p:tags r:id="rId2"/>
            </p:custDataLst>
          </p:nvPr>
        </p:nvSpPr>
        <p:spPr/>
        <p:txBody>
          <a:bodyPr/>
          <a:lstStyle/>
          <a:p>
            <a:r>
              <a:rPr lang="fr-CH" dirty="0"/>
              <a:t>Famille d’architecture de robots : Parallèle</a:t>
            </a:r>
          </a:p>
        </p:txBody>
      </p:sp>
      <p:sp>
        <p:nvSpPr>
          <p:cNvPr id="3" name="Espace réservé du texte 2"/>
          <p:cNvSpPr>
            <a:spLocks noGrp="1"/>
          </p:cNvSpPr>
          <p:nvPr>
            <p:ph type="body" sz="quarter" idx="11"/>
            <p:custDataLst>
              <p:tags r:id="rId3"/>
            </p:custDataLst>
          </p:nvPr>
        </p:nvSpPr>
        <p:spPr/>
        <p:txBody>
          <a:bodyPr/>
          <a:lstStyle/>
          <a:p>
            <a:r>
              <a:rPr lang="fr-CH" dirty="0">
                <a:solidFill>
                  <a:srgbClr val="FF0000"/>
                </a:solidFill>
              </a:rPr>
              <a:t>Delta</a:t>
            </a:r>
            <a:endParaRPr lang="fr-CH" dirty="0"/>
          </a:p>
          <a:p>
            <a:endParaRPr lang="fr-CH" dirty="0">
              <a:solidFill>
                <a:srgbClr val="FF0000"/>
              </a:solidFill>
            </a:endParaRPr>
          </a:p>
        </p:txBody>
      </p:sp>
      <p:sp>
        <p:nvSpPr>
          <p:cNvPr id="4" name="Espace réservé du numéro de diapositive 3"/>
          <p:cNvSpPr>
            <a:spLocks noGrp="1"/>
          </p:cNvSpPr>
          <p:nvPr>
            <p:ph type="sldNum" sz="quarter" idx="12"/>
            <p:custDataLst>
              <p:tags r:id="rId4"/>
            </p:custDataLst>
          </p:nvPr>
        </p:nvSpPr>
        <p:spPr/>
        <p:txBody>
          <a:bodyPr/>
          <a:lstStyle/>
          <a:p>
            <a:fld id="{4F439F28-9AED-4E6F-B87B-0A4D16674C0E}" type="slidenum">
              <a:rPr lang="fr-CH" smtClean="0"/>
              <a:t>25</a:t>
            </a:fld>
            <a:endParaRPr lang="fr-CH" dirty="0"/>
          </a:p>
        </p:txBody>
      </p:sp>
    </p:spTree>
    <p:extLst>
      <p:ext uri="{BB962C8B-B14F-4D97-AF65-F5344CB8AC3E}">
        <p14:creationId xmlns:p14="http://schemas.microsoft.com/office/powerpoint/2010/main" val="2326941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Robot Delta: Degrés de liberté et enveloppe de travail</a:t>
            </a:r>
          </a:p>
        </p:txBody>
      </p:sp>
      <p:sp>
        <p:nvSpPr>
          <p:cNvPr id="3" name="Espace réservé du texte 2"/>
          <p:cNvSpPr>
            <a:spLocks noGrp="1"/>
          </p:cNvSpPr>
          <p:nvPr>
            <p:ph type="body" sz="quarter" idx="11"/>
            <p:custDataLst>
              <p:tags r:id="rId2"/>
            </p:custDataLst>
          </p:nvPr>
        </p:nvSpPr>
        <p:spPr/>
        <p:txBody>
          <a:bodyPr/>
          <a:lstStyle/>
          <a:p>
            <a:endParaRPr lang="fr-CH"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26</a:t>
            </a:fld>
            <a:endParaRPr lang="fr-CH" dirty="0"/>
          </a:p>
        </p:txBody>
      </p:sp>
      <p:pic>
        <p:nvPicPr>
          <p:cNvPr id="5" name="Image 4"/>
          <p:cNvPicPr>
            <a:picLocks noChangeAspect="1"/>
          </p:cNvPicPr>
          <p:nvPr>
            <p:custDataLst>
              <p:tags r:id="rId4"/>
            </p:custDataLst>
          </p:nvPr>
        </p:nvPicPr>
        <p:blipFill>
          <a:blip r:embed="rId7"/>
          <a:stretch>
            <a:fillRect/>
          </a:stretch>
        </p:blipFill>
        <p:spPr>
          <a:xfrm>
            <a:off x="1871271" y="1845559"/>
            <a:ext cx="6949270" cy="5133040"/>
          </a:xfrm>
          <a:prstGeom prst="rect">
            <a:avLst/>
          </a:prstGeom>
        </p:spPr>
      </p:pic>
    </p:spTree>
    <p:extLst>
      <p:ext uri="{BB962C8B-B14F-4D97-AF65-F5344CB8AC3E}">
        <p14:creationId xmlns:p14="http://schemas.microsoft.com/office/powerpoint/2010/main" val="3365793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Robot Delta: Exemple</a:t>
            </a:r>
          </a:p>
        </p:txBody>
      </p:sp>
      <p:sp>
        <p:nvSpPr>
          <p:cNvPr id="3" name="Espace réservé du texte 2"/>
          <p:cNvSpPr>
            <a:spLocks noGrp="1"/>
          </p:cNvSpPr>
          <p:nvPr>
            <p:ph type="body" sz="quarter" idx="11"/>
            <p:custDataLst>
              <p:tags r:id="rId2"/>
            </p:custDataLst>
          </p:nvPr>
        </p:nvSpPr>
        <p:spPr/>
        <p:txBody>
          <a:bodyPr/>
          <a:lstStyle/>
          <a:p>
            <a:r>
              <a:rPr lang="fr-CH" dirty="0">
                <a:hlinkClick r:id="rId6"/>
              </a:rPr>
              <a:t>https://www.youtube.com/watch?v=v9oeOYMRvuQ</a:t>
            </a:r>
            <a:endParaRPr lang="fr-CH" dirty="0"/>
          </a:p>
          <a:p>
            <a:endParaRPr lang="fr-CH"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27</a:t>
            </a:fld>
            <a:endParaRPr lang="fr-CH" dirty="0"/>
          </a:p>
        </p:txBody>
      </p:sp>
    </p:spTree>
    <p:extLst>
      <p:ext uri="{BB962C8B-B14F-4D97-AF65-F5344CB8AC3E}">
        <p14:creationId xmlns:p14="http://schemas.microsoft.com/office/powerpoint/2010/main" val="2018511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Famille d’architecture de robots : Hybrides</a:t>
            </a:r>
          </a:p>
        </p:txBody>
      </p:sp>
      <p:sp>
        <p:nvSpPr>
          <p:cNvPr id="3" name="Espace réservé du texte 2"/>
          <p:cNvSpPr>
            <a:spLocks noGrp="1"/>
          </p:cNvSpPr>
          <p:nvPr>
            <p:ph type="body" sz="quarter" idx="11"/>
            <p:custDataLst>
              <p:tags r:id="rId2"/>
            </p:custDataLst>
          </p:nvPr>
        </p:nvSpPr>
        <p:spPr/>
        <p:txBody>
          <a:bodyPr/>
          <a:lstStyle/>
          <a:p>
            <a:endParaRPr lang="fr-CH"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28</a:t>
            </a:fld>
            <a:endParaRPr lang="fr-CH" dirty="0"/>
          </a:p>
        </p:txBody>
      </p:sp>
      <p:pic>
        <p:nvPicPr>
          <p:cNvPr id="5" name="Image 4"/>
          <p:cNvPicPr>
            <a:picLocks noChangeAspect="1"/>
          </p:cNvPicPr>
          <p:nvPr>
            <p:custDataLst>
              <p:tags r:id="rId4"/>
            </p:custDataLst>
          </p:nvPr>
        </p:nvPicPr>
        <p:blipFill>
          <a:blip r:embed="rId8"/>
          <a:stretch>
            <a:fillRect/>
          </a:stretch>
        </p:blipFill>
        <p:spPr>
          <a:xfrm>
            <a:off x="-42863" y="2551617"/>
            <a:ext cx="5577874" cy="3960440"/>
          </a:xfrm>
          <a:prstGeom prst="rect">
            <a:avLst/>
          </a:prstGeom>
        </p:spPr>
      </p:pic>
      <p:pic>
        <p:nvPicPr>
          <p:cNvPr id="6" name="Image 5"/>
          <p:cNvPicPr>
            <a:picLocks noChangeAspect="1"/>
          </p:cNvPicPr>
          <p:nvPr>
            <p:custDataLst>
              <p:tags r:id="rId5"/>
            </p:custDataLst>
          </p:nvPr>
        </p:nvPicPr>
        <p:blipFill>
          <a:blip r:embed="rId9"/>
          <a:stretch>
            <a:fillRect/>
          </a:stretch>
        </p:blipFill>
        <p:spPr>
          <a:xfrm>
            <a:off x="6246392" y="1921001"/>
            <a:ext cx="3320940" cy="4965192"/>
          </a:xfrm>
          <a:prstGeom prst="rect">
            <a:avLst/>
          </a:prstGeom>
        </p:spPr>
      </p:pic>
    </p:spTree>
    <p:extLst>
      <p:ext uri="{BB962C8B-B14F-4D97-AF65-F5344CB8AC3E}">
        <p14:creationId xmlns:p14="http://schemas.microsoft.com/office/powerpoint/2010/main" val="3465155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673498" y="1729432"/>
            <a:ext cx="7344816" cy="5278262"/>
          </a:xfrm>
          <a:prstGeom prst="rect">
            <a:avLst/>
          </a:prstGeom>
        </p:spPr>
      </p:pic>
      <p:sp>
        <p:nvSpPr>
          <p:cNvPr id="2" name="Espace réservé du texte 1"/>
          <p:cNvSpPr>
            <a:spLocks noGrp="1"/>
          </p:cNvSpPr>
          <p:nvPr>
            <p:ph type="body" sz="quarter" idx="10"/>
            <p:custDataLst>
              <p:tags r:id="rId2"/>
            </p:custDataLst>
          </p:nvPr>
        </p:nvSpPr>
        <p:spPr/>
        <p:txBody>
          <a:bodyPr/>
          <a:lstStyle/>
          <a:p>
            <a:r>
              <a:rPr lang="fr-CH" dirty="0"/>
              <a:t>Robots collaboratifs</a:t>
            </a:r>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29</a:t>
            </a:fld>
            <a:endParaRPr lang="fr-CH" dirty="0"/>
          </a:p>
        </p:txBody>
      </p:sp>
    </p:spTree>
    <p:extLst>
      <p:ext uri="{BB962C8B-B14F-4D97-AF65-F5344CB8AC3E}">
        <p14:creationId xmlns:p14="http://schemas.microsoft.com/office/powerpoint/2010/main" val="2373233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Système robotique collaboratifs ou coopératif ?</a:t>
            </a:r>
          </a:p>
        </p:txBody>
      </p:sp>
      <p:sp>
        <p:nvSpPr>
          <p:cNvPr id="3" name="Espace réservé du texte 2"/>
          <p:cNvSpPr>
            <a:spLocks noGrp="1"/>
          </p:cNvSpPr>
          <p:nvPr>
            <p:ph type="body" sz="quarter" idx="11"/>
            <p:custDataLst>
              <p:tags r:id="rId2"/>
            </p:custDataLst>
          </p:nvPr>
        </p:nvSpPr>
        <p:spPr/>
        <p:txBody>
          <a:bodyPr/>
          <a:lstStyle/>
          <a:p>
            <a:r>
              <a:rPr lang="fr-CH" dirty="0"/>
              <a:t>Système collaboratif:</a:t>
            </a:r>
          </a:p>
          <a:p>
            <a:r>
              <a:rPr lang="fr-CH" dirty="0"/>
              <a:t>Système utilisant un robot capable de travailler dans un espace proche d’un être humain sans dispositif spécifique de sécurité externe.</a:t>
            </a:r>
          </a:p>
          <a:p>
            <a:endParaRPr lang="fr-CH" dirty="0"/>
          </a:p>
          <a:p>
            <a:r>
              <a:rPr lang="fr-CH" dirty="0"/>
              <a:t>Système coopératif:</a:t>
            </a:r>
          </a:p>
          <a:p>
            <a:r>
              <a:rPr lang="fr-CH" dirty="0"/>
              <a:t>Système utilisant un équipement de sécurité et un robot industriel afin de sécuriser l’environnement pour permettre au robot et à l’humain d’effectuer </a:t>
            </a:r>
            <a:r>
              <a:rPr lang="fr-CH"/>
              <a:t>des tâches simultanées </a:t>
            </a:r>
            <a:r>
              <a:rPr lang="fr-CH" dirty="0"/>
              <a:t>durant un processus automatique</a:t>
            </a:r>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30</a:t>
            </a:fld>
            <a:endParaRPr lang="fr-CH" dirty="0"/>
          </a:p>
        </p:txBody>
      </p:sp>
      <p:sp>
        <p:nvSpPr>
          <p:cNvPr id="6" name="ZoneTexte 5"/>
          <p:cNvSpPr txBox="1"/>
          <p:nvPr>
            <p:custDataLst>
              <p:tags r:id="rId4"/>
            </p:custDataLst>
          </p:nvPr>
        </p:nvSpPr>
        <p:spPr>
          <a:xfrm>
            <a:off x="305346" y="6470621"/>
            <a:ext cx="8496944" cy="646331"/>
          </a:xfrm>
          <a:prstGeom prst="rect">
            <a:avLst/>
          </a:prstGeom>
          <a:noFill/>
        </p:spPr>
        <p:txBody>
          <a:bodyPr wrap="square" rtlCol="0">
            <a:spAutoFit/>
          </a:bodyPr>
          <a:lstStyle/>
          <a:p>
            <a:r>
              <a:rPr lang="fr-CH" sz="1800" dirty="0"/>
              <a:t>Source: https://www.automationworld.com/home/blog/13743032/theres-a-big-difference-between-collaborative-and-cooperative-robots</a:t>
            </a:r>
          </a:p>
        </p:txBody>
      </p:sp>
    </p:spTree>
    <p:extLst>
      <p:ext uri="{BB962C8B-B14F-4D97-AF65-F5344CB8AC3E}">
        <p14:creationId xmlns:p14="http://schemas.microsoft.com/office/powerpoint/2010/main" val="374557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Système robotique collaboratifs ou coopératif ?</a:t>
            </a:r>
          </a:p>
        </p:txBody>
      </p:sp>
      <p:sp>
        <p:nvSpPr>
          <p:cNvPr id="3" name="Espace réservé du texte 2"/>
          <p:cNvSpPr>
            <a:spLocks noGrp="1"/>
          </p:cNvSpPr>
          <p:nvPr>
            <p:ph type="body" sz="quarter" idx="11"/>
            <p:custDataLst>
              <p:tags r:id="rId2"/>
            </p:custDataLst>
          </p:nvPr>
        </p:nvSpPr>
        <p:spPr/>
        <p:txBody>
          <a:bodyPr/>
          <a:lstStyle/>
          <a:p>
            <a:r>
              <a:rPr lang="fr-CH" dirty="0"/>
              <a:t>Les avantages d’un robot collaboratif par rapport à un robot coopératifs ne sont pas évidement à déterminer sans une analyse approfondie.</a:t>
            </a:r>
          </a:p>
          <a:p>
            <a:endParaRPr lang="fr-CH" dirty="0"/>
          </a:p>
          <a:p>
            <a:r>
              <a:rPr lang="fr-CH" dirty="0"/>
              <a:t>Les robots collaboratifs sont généralement plus lents et un charge utiles moins élevée.</a:t>
            </a:r>
          </a:p>
        </p:txBody>
      </p:sp>
      <p:sp>
        <p:nvSpPr>
          <p:cNvPr id="5" name="ZoneTexte 4"/>
          <p:cNvSpPr txBox="1"/>
          <p:nvPr>
            <p:custDataLst>
              <p:tags r:id="rId3"/>
            </p:custDataLst>
          </p:nvPr>
        </p:nvSpPr>
        <p:spPr>
          <a:xfrm>
            <a:off x="305346" y="6407755"/>
            <a:ext cx="8496944" cy="646331"/>
          </a:xfrm>
          <a:prstGeom prst="rect">
            <a:avLst/>
          </a:prstGeom>
          <a:noFill/>
        </p:spPr>
        <p:txBody>
          <a:bodyPr wrap="square" rtlCol="0">
            <a:spAutoFit/>
          </a:bodyPr>
          <a:lstStyle/>
          <a:p>
            <a:r>
              <a:rPr lang="fr-CH" sz="1800" dirty="0"/>
              <a:t>Source: https://www.automationworld.com/home/blog/13743032/theres-a-big-difference-between-collaborative-and-cooperative-robots</a:t>
            </a:r>
          </a:p>
        </p:txBody>
      </p:sp>
    </p:spTree>
    <p:extLst>
      <p:ext uri="{BB962C8B-B14F-4D97-AF65-F5344CB8AC3E}">
        <p14:creationId xmlns:p14="http://schemas.microsoft.com/office/powerpoint/2010/main" val="1997629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Robots collaboratifs - Exemple</a:t>
            </a:r>
          </a:p>
        </p:txBody>
      </p:sp>
      <p:sp>
        <p:nvSpPr>
          <p:cNvPr id="3" name="Espace réservé du texte 2"/>
          <p:cNvSpPr>
            <a:spLocks noGrp="1"/>
          </p:cNvSpPr>
          <p:nvPr>
            <p:ph type="body" sz="quarter" idx="11"/>
            <p:custDataLst>
              <p:tags r:id="rId2"/>
            </p:custDataLst>
          </p:nvPr>
        </p:nvSpPr>
        <p:spPr/>
        <p:txBody>
          <a:bodyPr/>
          <a:lstStyle/>
          <a:p>
            <a:r>
              <a:rPr lang="fr-CH" dirty="0">
                <a:hlinkClick r:id="rId6"/>
              </a:rPr>
              <a:t>https://www.youtube.com/watch?v=PEft1BTHBQU</a:t>
            </a:r>
            <a:endParaRPr lang="fr-CH" dirty="0"/>
          </a:p>
          <a:p>
            <a:endParaRPr lang="fr-CH" dirty="0"/>
          </a:p>
          <a:p>
            <a:r>
              <a:rPr lang="fr-CH" dirty="0">
                <a:hlinkClick r:id="rId7"/>
              </a:rPr>
              <a:t>https://www.youtube.com/watch?v=r7gU74Yv9Es</a:t>
            </a:r>
            <a:endParaRPr lang="fr-CH" dirty="0"/>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32</a:t>
            </a:fld>
            <a:endParaRPr lang="fr-CH" dirty="0"/>
          </a:p>
        </p:txBody>
      </p:sp>
    </p:spTree>
    <p:extLst>
      <p:ext uri="{BB962C8B-B14F-4D97-AF65-F5344CB8AC3E}">
        <p14:creationId xmlns:p14="http://schemas.microsoft.com/office/powerpoint/2010/main" val="4223967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548201F-D3B6-FBCF-5927-7DDA395F32C9}"/>
              </a:ext>
            </a:extLst>
          </p:cNvPr>
          <p:cNvSpPr>
            <a:spLocks noGrp="1"/>
          </p:cNvSpPr>
          <p:nvPr>
            <p:ph type="body" sz="quarter" idx="10"/>
          </p:nvPr>
        </p:nvSpPr>
        <p:spPr>
          <a:xfrm>
            <a:off x="586315" y="179438"/>
            <a:ext cx="9008063" cy="793667"/>
          </a:xfrm>
        </p:spPr>
        <p:txBody>
          <a:bodyPr/>
          <a:lstStyle/>
          <a:p>
            <a:r>
              <a:rPr lang="fr-CH" dirty="0"/>
              <a:t>Résumé des architectures</a:t>
            </a:r>
          </a:p>
        </p:txBody>
      </p:sp>
      <p:sp>
        <p:nvSpPr>
          <p:cNvPr id="4" name="Espace réservé du numéro de diapositive 3">
            <a:extLst>
              <a:ext uri="{FF2B5EF4-FFF2-40B4-BE49-F238E27FC236}">
                <a16:creationId xmlns:a16="http://schemas.microsoft.com/office/drawing/2014/main" id="{8D2B2C17-CBC3-89A5-BC21-DF687AB9A7BC}"/>
              </a:ext>
            </a:extLst>
          </p:cNvPr>
          <p:cNvSpPr>
            <a:spLocks noGrp="1"/>
          </p:cNvSpPr>
          <p:nvPr>
            <p:ph type="sldNum" sz="quarter" idx="12"/>
          </p:nvPr>
        </p:nvSpPr>
        <p:spPr/>
        <p:txBody>
          <a:bodyPr/>
          <a:lstStyle/>
          <a:p>
            <a:fld id="{4F439F28-9AED-4E6F-B87B-0A4D16674C0E}" type="slidenum">
              <a:rPr lang="fr-CH" smtClean="0"/>
              <a:t>33</a:t>
            </a:fld>
            <a:endParaRPr lang="fr-CH" dirty="0"/>
          </a:p>
        </p:txBody>
      </p:sp>
      <p:pic>
        <p:nvPicPr>
          <p:cNvPr id="6" name="Image 5">
            <a:extLst>
              <a:ext uri="{FF2B5EF4-FFF2-40B4-BE49-F238E27FC236}">
                <a16:creationId xmlns:a16="http://schemas.microsoft.com/office/drawing/2014/main" id="{665561FF-DAFE-59AF-FAEA-DBE12AF61427}"/>
              </a:ext>
            </a:extLst>
          </p:cNvPr>
          <p:cNvPicPr>
            <a:picLocks noChangeAspect="1"/>
          </p:cNvPicPr>
          <p:nvPr/>
        </p:nvPicPr>
        <p:blipFill>
          <a:blip r:embed="rId3"/>
          <a:stretch>
            <a:fillRect/>
          </a:stretch>
        </p:blipFill>
        <p:spPr>
          <a:xfrm>
            <a:off x="874347" y="893387"/>
            <a:ext cx="8943118" cy="6164930"/>
          </a:xfrm>
          <a:prstGeom prst="rect">
            <a:avLst/>
          </a:prstGeom>
        </p:spPr>
      </p:pic>
    </p:spTree>
    <p:extLst>
      <p:ext uri="{BB962C8B-B14F-4D97-AF65-F5344CB8AC3E}">
        <p14:creationId xmlns:p14="http://schemas.microsoft.com/office/powerpoint/2010/main" val="1654802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Systèmes de </a:t>
            </a:r>
            <a:r>
              <a:rPr lang="fr-CH" dirty="0" err="1"/>
              <a:t>coordonées</a:t>
            </a:r>
            <a:endParaRPr lang="fr-CH" dirty="0"/>
          </a:p>
        </p:txBody>
      </p:sp>
      <p:sp>
        <p:nvSpPr>
          <p:cNvPr id="3" name="Espace réservé du texte 2"/>
          <p:cNvSpPr>
            <a:spLocks noGrp="1"/>
          </p:cNvSpPr>
          <p:nvPr>
            <p:ph type="body" sz="quarter" idx="11"/>
            <p:custDataLst>
              <p:tags r:id="rId2"/>
            </p:custDataLst>
          </p:nvPr>
        </p:nvSpPr>
        <p:spPr/>
        <p:txBody>
          <a:bodyPr/>
          <a:lstStyle/>
          <a:p>
            <a:pPr marL="342900" indent="-342900">
              <a:buFontTx/>
              <a:buChar char="-"/>
            </a:pPr>
            <a:r>
              <a:rPr lang="fr-CH" dirty="0"/>
              <a:t>World</a:t>
            </a:r>
          </a:p>
          <a:p>
            <a:pPr marL="342900" indent="-342900">
              <a:buFontTx/>
              <a:buChar char="-"/>
            </a:pPr>
            <a:r>
              <a:rPr lang="fr-CH" dirty="0" err="1"/>
              <a:t>Tool</a:t>
            </a:r>
            <a:endParaRPr lang="fr-CH" dirty="0"/>
          </a:p>
          <a:p>
            <a:pPr marL="342900" indent="-342900">
              <a:buFontTx/>
              <a:buChar char="-"/>
            </a:pPr>
            <a:r>
              <a:rPr lang="fr-CH" dirty="0"/>
              <a:t>Frame (repère)</a:t>
            </a:r>
          </a:p>
        </p:txBody>
      </p:sp>
      <p:sp>
        <p:nvSpPr>
          <p:cNvPr id="4" name="Espace réservé du numéro de diapositive 3"/>
          <p:cNvSpPr>
            <a:spLocks noGrp="1"/>
          </p:cNvSpPr>
          <p:nvPr>
            <p:ph type="sldNum" sz="quarter" idx="12"/>
            <p:custDataLst>
              <p:tags r:id="rId3"/>
            </p:custDataLst>
          </p:nvPr>
        </p:nvSpPr>
        <p:spPr/>
        <p:txBody>
          <a:bodyPr/>
          <a:lstStyle/>
          <a:p>
            <a:fld id="{4F439F28-9AED-4E6F-B87B-0A4D16674C0E}" type="slidenum">
              <a:rPr lang="fr-CH" smtClean="0"/>
              <a:t>34</a:t>
            </a:fld>
            <a:endParaRPr lang="fr-CH" dirty="0"/>
          </a:p>
        </p:txBody>
      </p:sp>
      <p:pic>
        <p:nvPicPr>
          <p:cNvPr id="5" name="Image 4"/>
          <p:cNvPicPr>
            <a:picLocks noChangeAspect="1"/>
          </p:cNvPicPr>
          <p:nvPr>
            <p:custDataLst>
              <p:tags r:id="rId4"/>
            </p:custDataLst>
          </p:nvPr>
        </p:nvPicPr>
        <p:blipFill>
          <a:blip r:embed="rId7"/>
          <a:stretch>
            <a:fillRect/>
          </a:stretch>
        </p:blipFill>
        <p:spPr>
          <a:xfrm>
            <a:off x="3257674" y="1950400"/>
            <a:ext cx="5787714" cy="4996696"/>
          </a:xfrm>
          <a:prstGeom prst="rect">
            <a:avLst/>
          </a:prstGeom>
        </p:spPr>
      </p:pic>
    </p:spTree>
    <p:extLst>
      <p:ext uri="{BB962C8B-B14F-4D97-AF65-F5344CB8AC3E}">
        <p14:creationId xmlns:p14="http://schemas.microsoft.com/office/powerpoint/2010/main" val="781148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3"/>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3"/>
</p:tagLst>
</file>

<file path=ppt/tags/tag9.xml><?xml version="1.0" encoding="utf-8"?>
<p:tagLst xmlns:a="http://schemas.openxmlformats.org/drawingml/2006/main" xmlns:r="http://schemas.openxmlformats.org/officeDocument/2006/relationships" xmlns:p="http://schemas.openxmlformats.org/presentationml/2006/main">
  <p:tag name="NUM" val="4"/>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3"/>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3"/>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4"/>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4"/>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1"/>
</p:tagLst>
</file>

<file path=ppt/tags/tag49.xml><?xml version="1.0" encoding="utf-8"?>
<p:tagLst xmlns:a="http://schemas.openxmlformats.org/drawingml/2006/main" xmlns:r="http://schemas.openxmlformats.org/officeDocument/2006/relationships" xmlns:p="http://schemas.openxmlformats.org/presentationml/2006/main">
  <p:tag name="NUM" val="2"/>
</p:tagLst>
</file>

<file path=ppt/tags/tag50.xml><?xml version="1.0" encoding="utf-8"?>
<p:tagLst xmlns:a="http://schemas.openxmlformats.org/drawingml/2006/main" xmlns:r="http://schemas.openxmlformats.org/officeDocument/2006/relationships" xmlns:p="http://schemas.openxmlformats.org/presentationml/2006/main">
  <p:tag name="NUM" val="3"/>
</p:tagLst>
</file>

<file path=ppt/tags/tag51.xml><?xml version="1.0" encoding="utf-8"?>
<p:tagLst xmlns:a="http://schemas.openxmlformats.org/drawingml/2006/main" xmlns:r="http://schemas.openxmlformats.org/officeDocument/2006/relationships" xmlns:p="http://schemas.openxmlformats.org/presentationml/2006/main">
  <p:tag name="NUM" val="4"/>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4"/>
</p:tagLst>
</file>

<file path=ppt/tags/tag56.xml><?xml version="1.0" encoding="utf-8"?>
<p:tagLst xmlns:a="http://schemas.openxmlformats.org/drawingml/2006/main" xmlns:r="http://schemas.openxmlformats.org/officeDocument/2006/relationships" xmlns:p="http://schemas.openxmlformats.org/presentationml/2006/main">
  <p:tag name="NUM" val="1"/>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3"/>
</p:tagLst>
</file>

<file path=ppt/tags/tag59.xml><?xml version="1.0" encoding="utf-8"?>
<p:tagLst xmlns:a="http://schemas.openxmlformats.org/drawingml/2006/main" xmlns:r="http://schemas.openxmlformats.org/officeDocument/2006/relationships" xmlns:p="http://schemas.openxmlformats.org/presentationml/2006/main">
  <p:tag name="NUM" val="4"/>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ags/tag63.xml><?xml version="1.0" encoding="utf-8"?>
<p:tagLst xmlns:a="http://schemas.openxmlformats.org/drawingml/2006/main" xmlns:r="http://schemas.openxmlformats.org/officeDocument/2006/relationships" xmlns:p="http://schemas.openxmlformats.org/presentationml/2006/main">
  <p:tag name="NUM" val="1"/>
</p:tagLst>
</file>

<file path=ppt/tags/tag64.xml><?xml version="1.0" encoding="utf-8"?>
<p:tagLst xmlns:a="http://schemas.openxmlformats.org/drawingml/2006/main" xmlns:r="http://schemas.openxmlformats.org/officeDocument/2006/relationships" xmlns:p="http://schemas.openxmlformats.org/presentationml/2006/main">
  <p:tag name="NUM" val="2"/>
</p:tagLst>
</file>

<file path=ppt/tags/tag65.xml><?xml version="1.0" encoding="utf-8"?>
<p:tagLst xmlns:a="http://schemas.openxmlformats.org/drawingml/2006/main" xmlns:r="http://schemas.openxmlformats.org/officeDocument/2006/relationships" xmlns:p="http://schemas.openxmlformats.org/presentationml/2006/main">
  <p:tag name="NUM" val="3"/>
</p:tagLst>
</file>

<file path=ppt/tags/tag66.xml><?xml version="1.0" encoding="utf-8"?>
<p:tagLst xmlns:a="http://schemas.openxmlformats.org/drawingml/2006/main" xmlns:r="http://schemas.openxmlformats.org/officeDocument/2006/relationships" xmlns:p="http://schemas.openxmlformats.org/presentationml/2006/main">
  <p:tag name="NUM" val="4"/>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1"/>
</p:tagLst>
</file>

<file path=ppt/tags/tag72.xml><?xml version="1.0" encoding="utf-8"?>
<p:tagLst xmlns:a="http://schemas.openxmlformats.org/drawingml/2006/main" xmlns:r="http://schemas.openxmlformats.org/officeDocument/2006/relationships" xmlns:p="http://schemas.openxmlformats.org/presentationml/2006/main">
  <p:tag name="NUM" val="2"/>
</p:tagLst>
</file>

<file path=ppt/tags/tag73.xml><?xml version="1.0" encoding="utf-8"?>
<p:tagLst xmlns:a="http://schemas.openxmlformats.org/drawingml/2006/main" xmlns:r="http://schemas.openxmlformats.org/officeDocument/2006/relationships" xmlns:p="http://schemas.openxmlformats.org/presentationml/2006/main">
  <p:tag name="NUM" val="3"/>
</p:tagLst>
</file>

<file path=ppt/tags/tag74.xml><?xml version="1.0" encoding="utf-8"?>
<p:tagLst xmlns:a="http://schemas.openxmlformats.org/drawingml/2006/main" xmlns:r="http://schemas.openxmlformats.org/officeDocument/2006/relationships" xmlns:p="http://schemas.openxmlformats.org/presentationml/2006/main">
  <p:tag name="NUM" val="4"/>
</p:tagLst>
</file>

<file path=ppt/tags/tag75.xml><?xml version="1.0" encoding="utf-8"?>
<p:tagLst xmlns:a="http://schemas.openxmlformats.org/drawingml/2006/main" xmlns:r="http://schemas.openxmlformats.org/officeDocument/2006/relationships" xmlns:p="http://schemas.openxmlformats.org/presentationml/2006/main">
  <p:tag name="NUM" val="1"/>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1"/>
</p:tagLst>
</file>

<file path=ppt/tags/tag79.xml><?xml version="1.0" encoding="utf-8"?>
<p:tagLst xmlns:a="http://schemas.openxmlformats.org/drawingml/2006/main" xmlns:r="http://schemas.openxmlformats.org/officeDocument/2006/relationships" xmlns:p="http://schemas.openxmlformats.org/presentationml/2006/main">
  <p:tag name="NUM" val="2"/>
</p:tagLst>
</file>

<file path=ppt/tags/tag80.xml><?xml version="1.0" encoding="utf-8"?>
<p:tagLst xmlns:a="http://schemas.openxmlformats.org/drawingml/2006/main" xmlns:r="http://schemas.openxmlformats.org/officeDocument/2006/relationships" xmlns:p="http://schemas.openxmlformats.org/presentationml/2006/main">
  <p:tag name="NUM" val="3"/>
</p:tagLst>
</file>

<file path=ppt/tags/tag81.xml><?xml version="1.0" encoding="utf-8"?>
<p:tagLst xmlns:a="http://schemas.openxmlformats.org/drawingml/2006/main" xmlns:r="http://schemas.openxmlformats.org/officeDocument/2006/relationships" xmlns:p="http://schemas.openxmlformats.org/presentationml/2006/main">
  <p:tag name="NUM" val="4"/>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4"/>
</p:tagLst>
</file>

<file path=ppt/tags/tag86.xml><?xml version="1.0" encoding="utf-8"?>
<p:tagLst xmlns:a="http://schemas.openxmlformats.org/drawingml/2006/main" xmlns:r="http://schemas.openxmlformats.org/officeDocument/2006/relationships" xmlns:p="http://schemas.openxmlformats.org/presentationml/2006/main">
  <p:tag name="NUM" val="1"/>
</p:tagLst>
</file>

<file path=ppt/tags/tag87.xml><?xml version="1.0" encoding="utf-8"?>
<p:tagLst xmlns:a="http://schemas.openxmlformats.org/drawingml/2006/main" xmlns:r="http://schemas.openxmlformats.org/officeDocument/2006/relationships" xmlns:p="http://schemas.openxmlformats.org/presentationml/2006/main">
  <p:tag name="NUM" val="2"/>
</p:tagLst>
</file>

<file path=ppt/tags/tag88.xml><?xml version="1.0" encoding="utf-8"?>
<p:tagLst xmlns:a="http://schemas.openxmlformats.org/drawingml/2006/main" xmlns:r="http://schemas.openxmlformats.org/officeDocument/2006/relationships" xmlns:p="http://schemas.openxmlformats.org/presentationml/2006/main">
  <p:tag name="NUM" val="3"/>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UM" val="5"/>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6.xml><?xml version="1.0" encoding="utf-8"?>
<p:tagLst xmlns:a="http://schemas.openxmlformats.org/drawingml/2006/main" xmlns:r="http://schemas.openxmlformats.org/officeDocument/2006/relationships" xmlns:p="http://schemas.openxmlformats.org/presentationml/2006/main">
  <p:tag name="NUM" val="3"/>
</p:tagLst>
</file>

<file path=ppt/tags/tag97.xml><?xml version="1.0" encoding="utf-8"?>
<p:tagLst xmlns:a="http://schemas.openxmlformats.org/drawingml/2006/main" xmlns:r="http://schemas.openxmlformats.org/officeDocument/2006/relationships" xmlns:p="http://schemas.openxmlformats.org/presentationml/2006/main">
  <p:tag name="NUM" val="1"/>
</p:tagLst>
</file>

<file path=ppt/tags/tag98.xml><?xml version="1.0" encoding="utf-8"?>
<p:tagLst xmlns:a="http://schemas.openxmlformats.org/drawingml/2006/main" xmlns:r="http://schemas.openxmlformats.org/officeDocument/2006/relationships" xmlns:p="http://schemas.openxmlformats.org/presentationml/2006/main">
  <p:tag name="NUM" val="2"/>
</p:tagLst>
</file>

<file path=ppt/tags/tag99.xml><?xml version="1.0" encoding="utf-8"?>
<p:tagLst xmlns:a="http://schemas.openxmlformats.org/drawingml/2006/main" xmlns:r="http://schemas.openxmlformats.org/officeDocument/2006/relationships" xmlns:p="http://schemas.openxmlformats.org/presentationml/2006/main">
  <p:tag name="NUM" val="3"/>
</p:tagLst>
</file>

<file path=ppt/tags/tag100.xml><?xml version="1.0" encoding="utf-8"?>
<p:tagLst xmlns:a="http://schemas.openxmlformats.org/drawingml/2006/main" xmlns:r="http://schemas.openxmlformats.org/officeDocument/2006/relationships" xmlns:p="http://schemas.openxmlformats.org/presentationml/2006/main">
  <p:tag name="NUM" val="4"/>
</p:tagLst>
</file>

<file path=ppt/tags/tag101.xml><?xml version="1.0" encoding="utf-8"?>
<p:tagLst xmlns:a="http://schemas.openxmlformats.org/drawingml/2006/main" xmlns:r="http://schemas.openxmlformats.org/officeDocument/2006/relationships" xmlns:p="http://schemas.openxmlformats.org/presentationml/2006/main">
  <p:tag name="NUM" val="1"/>
</p:tagLst>
</file>

<file path=ppt/tags/tag102.xml><?xml version="1.0" encoding="utf-8"?>
<p:tagLst xmlns:a="http://schemas.openxmlformats.org/drawingml/2006/main" xmlns:r="http://schemas.openxmlformats.org/officeDocument/2006/relationships" xmlns:p="http://schemas.openxmlformats.org/presentationml/2006/main">
  <p:tag name="NUM" val="2"/>
</p:tagLst>
</file>

<file path=ppt/tags/tag103.xml><?xml version="1.0" encoding="utf-8"?>
<p:tagLst xmlns:a="http://schemas.openxmlformats.org/drawingml/2006/main" xmlns:r="http://schemas.openxmlformats.org/officeDocument/2006/relationships" xmlns:p="http://schemas.openxmlformats.org/presentationml/2006/main">
  <p:tag name="NUM" val="3"/>
</p:tagLst>
</file>

<file path=ppt/tags/tag104.xml><?xml version="1.0" encoding="utf-8"?>
<p:tagLst xmlns:a="http://schemas.openxmlformats.org/drawingml/2006/main" xmlns:r="http://schemas.openxmlformats.org/officeDocument/2006/relationships" xmlns:p="http://schemas.openxmlformats.org/presentationml/2006/main">
  <p:tag name="NUM" val="1"/>
</p:tagLst>
</file>

<file path=ppt/tags/tag105.xml><?xml version="1.0" encoding="utf-8"?>
<p:tagLst xmlns:a="http://schemas.openxmlformats.org/drawingml/2006/main" xmlns:r="http://schemas.openxmlformats.org/officeDocument/2006/relationships" xmlns:p="http://schemas.openxmlformats.org/presentationml/2006/main">
  <p:tag name="NUM" val="2"/>
</p:tagLst>
</file>

<file path=ppt/tags/tag106.xml><?xml version="1.0" encoding="utf-8"?>
<p:tagLst xmlns:a="http://schemas.openxmlformats.org/drawingml/2006/main" xmlns:r="http://schemas.openxmlformats.org/officeDocument/2006/relationships" xmlns:p="http://schemas.openxmlformats.org/presentationml/2006/main">
  <p:tag name="NUM" val="3"/>
</p:tagLst>
</file>

<file path=ppt/tags/tag107.xml><?xml version="1.0" encoding="utf-8"?>
<p:tagLst xmlns:a="http://schemas.openxmlformats.org/drawingml/2006/main" xmlns:r="http://schemas.openxmlformats.org/officeDocument/2006/relationships" xmlns:p="http://schemas.openxmlformats.org/presentationml/2006/main">
  <p:tag name="NUM" val="1"/>
</p:tagLst>
</file>

<file path=ppt/tags/tag108.xml><?xml version="1.0" encoding="utf-8"?>
<p:tagLst xmlns:a="http://schemas.openxmlformats.org/drawingml/2006/main" xmlns:r="http://schemas.openxmlformats.org/officeDocument/2006/relationships" xmlns:p="http://schemas.openxmlformats.org/presentationml/2006/main">
  <p:tag name="NUM" val="2"/>
</p:tagLst>
</file>

<file path=ppt/tags/tag109.xml><?xml version="1.0" encoding="utf-8"?>
<p:tagLst xmlns:a="http://schemas.openxmlformats.org/drawingml/2006/main" xmlns:r="http://schemas.openxmlformats.org/officeDocument/2006/relationships" xmlns:p="http://schemas.openxmlformats.org/presentationml/2006/main">
  <p:tag name="NUM" val="3"/>
</p:tagLst>
</file>

<file path=ppt/tags/tag110.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Presentation Arc">
  <a:themeElements>
    <a:clrScheme name="ARC">
      <a:dk1>
        <a:srgbClr val="FF0000"/>
      </a:dk1>
      <a:lt1>
        <a:sysClr val="window" lastClr="FFFFFF"/>
      </a:lt1>
      <a:dk2>
        <a:srgbClr val="87888A"/>
      </a:dk2>
      <a:lt2>
        <a:srgbClr val="FFFFFF"/>
      </a:lt2>
      <a:accent1>
        <a:srgbClr val="FF0000"/>
      </a:accent1>
      <a:accent2>
        <a:srgbClr val="EF8214"/>
      </a:accent2>
      <a:accent3>
        <a:srgbClr val="E60062"/>
      </a:accent3>
      <a:accent4>
        <a:srgbClr val="008AC9"/>
      </a:accent4>
      <a:accent5>
        <a:srgbClr val="7BAA20"/>
      </a:accent5>
      <a:accent6>
        <a:srgbClr val="87888A"/>
      </a:accent6>
      <a:hlink>
        <a:srgbClr val="0000FF"/>
      </a:hlink>
      <a:folHlink>
        <a:srgbClr val="800080"/>
      </a:folHlink>
    </a:clrScheme>
    <a:fontScheme name="ARC">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ARC_A4.potx" id="{CEBFDC41-F7BA-41F0-96C9-8A91342D6D29}" vid="{F43E7DF4-F399-4F9B-ABD9-CEFDB4D81BB6}"/>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Présentation-ARC_A4_19-06-2017</Template>
  <TotalTime>1826</TotalTime>
  <Words>1832</Words>
  <Application>Microsoft Office PowerPoint</Application>
  <PresentationFormat>Personnalisé</PresentationFormat>
  <Paragraphs>348</Paragraphs>
  <Slides>34</Slides>
  <Notes>34</Notes>
  <HiddenSlides>2</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34</vt:i4>
      </vt:variant>
    </vt:vector>
  </HeadingPairs>
  <TitlesOfParts>
    <vt:vector size="40" baseType="lpstr">
      <vt:lpstr>ＭＳ Ｐゴシック</vt:lpstr>
      <vt:lpstr>Arial</vt:lpstr>
      <vt:lpstr>Calibri</vt:lpstr>
      <vt:lpstr>Söhne</vt:lpstr>
      <vt:lpstr>Tahoma</vt:lpstr>
      <vt:lpstr>Presentation Arc</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Haute Ecole Arc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Vantieghem Delphine</dc:creator>
  <cp:lastModifiedBy>Gay des Combes Arnaud</cp:lastModifiedBy>
  <cp:revision>74</cp:revision>
  <cp:lastPrinted>2023-09-20T05:54:37Z</cp:lastPrinted>
  <dcterms:created xsi:type="dcterms:W3CDTF">2017-06-21T08:23:56Z</dcterms:created>
  <dcterms:modified xsi:type="dcterms:W3CDTF">2024-09-16T11:33:42Z</dcterms:modified>
</cp:coreProperties>
</file>