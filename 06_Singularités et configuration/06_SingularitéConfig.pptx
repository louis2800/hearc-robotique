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64" r:id="rId4"/>
    <p:sldId id="266" r:id="rId5"/>
    <p:sldId id="263" r:id="rId6"/>
    <p:sldId id="265" r:id="rId7"/>
    <p:sldId id="274" r:id="rId8"/>
    <p:sldId id="267" r:id="rId9"/>
    <p:sldId id="262" r:id="rId10"/>
    <p:sldId id="260" r:id="rId11"/>
    <p:sldId id="270" r:id="rId12"/>
    <p:sldId id="261" r:id="rId13"/>
    <p:sldId id="271" r:id="rId14"/>
    <p:sldId id="273" r:id="rId15"/>
    <p:sldId id="259" r:id="rId16"/>
    <p:sldId id="272" r:id="rId17"/>
    <p:sldId id="268" r:id="rId18"/>
    <p:sldId id="269" r:id="rId19"/>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636643C4-228D-450A-827E-185509851CB0}">
          <p14:sldIdLst>
            <p14:sldId id="256"/>
            <p14:sldId id="257"/>
            <p14:sldId id="264"/>
            <p14:sldId id="266"/>
            <p14:sldId id="263"/>
            <p14:sldId id="265"/>
            <p14:sldId id="274"/>
            <p14:sldId id="267"/>
            <p14:sldId id="262"/>
            <p14:sldId id="260"/>
            <p14:sldId id="270"/>
            <p14:sldId id="261"/>
            <p14:sldId id="271"/>
            <p14:sldId id="273"/>
            <p14:sldId id="259"/>
            <p14:sldId id="272"/>
            <p14:sldId id="268"/>
            <p14:sldId id="26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B1F50"/>
    <a:srgbClr val="7071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58256" autoAdjust="0"/>
  </p:normalViewPr>
  <p:slideViewPr>
    <p:cSldViewPr>
      <p:cViewPr varScale="1">
        <p:scale>
          <a:sx n="48" d="100"/>
          <a:sy n="48" d="100"/>
        </p:scale>
        <p:origin x="2443"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H"/>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EDFEAC-87AA-4313-9CC6-FA3BFC359D7D}" type="datetimeFigureOut">
              <a:rPr lang="fr-CH" smtClean="0"/>
              <a:t>06.12.2023</a:t>
            </a:fld>
            <a:endParaRPr lang="fr-CH"/>
          </a:p>
        </p:txBody>
      </p:sp>
      <p:sp>
        <p:nvSpPr>
          <p:cNvPr id="4" name="Espace réservé de l'image des diapositives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CH"/>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H"/>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7F483F-ABE0-4C70-9B14-E3A2EB27F9F2}" type="slidenum">
              <a:rPr lang="fr-CH" smtClean="0"/>
              <a:t>‹N°›</a:t>
            </a:fld>
            <a:endParaRPr lang="fr-CH"/>
          </a:p>
        </p:txBody>
      </p:sp>
    </p:spTree>
    <p:extLst>
      <p:ext uri="{BB962C8B-B14F-4D97-AF65-F5344CB8AC3E}">
        <p14:creationId xmlns:p14="http://schemas.microsoft.com/office/powerpoint/2010/main" val="42056919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10"/>
          </p:nvPr>
        </p:nvSpPr>
        <p:spPr/>
        <p:txBody>
          <a:bodyPr/>
          <a:lstStyle/>
          <a:p>
            <a:fld id="{487F483F-ABE0-4C70-9B14-E3A2EB27F9F2}" type="slidenum">
              <a:rPr lang="fr-CH" smtClean="0"/>
              <a:t>1</a:t>
            </a:fld>
            <a:endParaRPr lang="fr-CH"/>
          </a:p>
        </p:txBody>
      </p:sp>
    </p:spTree>
    <p:extLst>
      <p:ext uri="{BB962C8B-B14F-4D97-AF65-F5344CB8AC3E}">
        <p14:creationId xmlns:p14="http://schemas.microsoft.com/office/powerpoint/2010/main" val="612837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a:p>
        </p:txBody>
      </p:sp>
      <p:sp>
        <p:nvSpPr>
          <p:cNvPr id="4" name="Espace réservé du numéro de diapositive 3"/>
          <p:cNvSpPr>
            <a:spLocks noGrp="1"/>
          </p:cNvSpPr>
          <p:nvPr>
            <p:ph type="sldNum" sz="quarter" idx="10"/>
          </p:nvPr>
        </p:nvSpPr>
        <p:spPr/>
        <p:txBody>
          <a:bodyPr/>
          <a:lstStyle/>
          <a:p>
            <a:fld id="{487F483F-ABE0-4C70-9B14-E3A2EB27F9F2}" type="slidenum">
              <a:rPr lang="fr-CH" smtClean="0"/>
              <a:t>2</a:t>
            </a:fld>
            <a:endParaRPr lang="fr-CH"/>
          </a:p>
        </p:txBody>
      </p:sp>
    </p:spTree>
    <p:extLst>
      <p:ext uri="{BB962C8B-B14F-4D97-AF65-F5344CB8AC3E}">
        <p14:creationId xmlns:p14="http://schemas.microsoft.com/office/powerpoint/2010/main" val="8352864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H" dirty="0"/>
              <a:t>On parle de différentes configurations du bras lorsque qu’il y a plusieurs combinaison possibles</a:t>
            </a:r>
            <a:r>
              <a:rPr lang="fr-CH" baseline="0" dirty="0"/>
              <a:t> de position joint pour obtenir un unique repère </a:t>
            </a:r>
            <a:r>
              <a:rPr lang="fr-CH" baseline="0" dirty="0" err="1"/>
              <a:t>tool</a:t>
            </a:r>
            <a:r>
              <a:rPr lang="fr-CH" baseline="0" dirty="0"/>
              <a:t> (position + orientation).</a:t>
            </a:r>
          </a:p>
          <a:p>
            <a:r>
              <a:rPr lang="fr-CH" baseline="0" dirty="0"/>
              <a:t>Dans le cas de cette figure, on voit qu’il est possible de plier le «coude» vers la gauche ou la droite et obtenir un positionnement de l’outil exactement identiques dans les deux configuration.</a:t>
            </a:r>
          </a:p>
          <a:p>
            <a:endParaRPr lang="fr-CH" baseline="0" dirty="0"/>
          </a:p>
          <a:p>
            <a:r>
              <a:rPr lang="fr-CH" baseline="0" dirty="0"/>
              <a:t>On parle ici de configuration «</a:t>
            </a:r>
            <a:r>
              <a:rPr lang="fr-CH" baseline="0" dirty="0" err="1"/>
              <a:t>lefty</a:t>
            </a:r>
            <a:r>
              <a:rPr lang="fr-CH" baseline="0" dirty="0"/>
              <a:t>» et «</a:t>
            </a:r>
            <a:r>
              <a:rPr lang="fr-CH" baseline="0" dirty="0" err="1"/>
              <a:t>righty</a:t>
            </a:r>
            <a:r>
              <a:rPr lang="fr-CH" baseline="0" dirty="0"/>
              <a:t>». Ce sont les deux seules configuration possibles pour l’architecture de type SCARA.</a:t>
            </a:r>
          </a:p>
          <a:p>
            <a:r>
              <a:rPr lang="fr-CH" baseline="0" dirty="0"/>
              <a:t>Evidemment, la rotation du joint 1 étant limitée, les enveloppes de travail sont différentes en fonction de la configuration.</a:t>
            </a:r>
          </a:p>
          <a:p>
            <a:r>
              <a:rPr lang="fr-CH" baseline="0" dirty="0"/>
              <a:t>Toutes les positions de l’enveloppe de travail complète ne sont donc pas accessibles dans les deux configuration.</a:t>
            </a:r>
            <a:endParaRPr lang="fr-CH" dirty="0"/>
          </a:p>
        </p:txBody>
      </p:sp>
      <p:sp>
        <p:nvSpPr>
          <p:cNvPr id="4" name="Espace réservé du numéro de diapositive 3"/>
          <p:cNvSpPr>
            <a:spLocks noGrp="1"/>
          </p:cNvSpPr>
          <p:nvPr>
            <p:ph type="sldNum" sz="quarter" idx="10"/>
          </p:nvPr>
        </p:nvSpPr>
        <p:spPr/>
        <p:txBody>
          <a:bodyPr/>
          <a:lstStyle/>
          <a:p>
            <a:fld id="{487F483F-ABE0-4C70-9B14-E3A2EB27F9F2}" type="slidenum">
              <a:rPr lang="fr-CH" smtClean="0"/>
              <a:t>3</a:t>
            </a:fld>
            <a:endParaRPr lang="fr-CH"/>
          </a:p>
        </p:txBody>
      </p:sp>
    </p:spTree>
    <p:extLst>
      <p:ext uri="{BB962C8B-B14F-4D97-AF65-F5344CB8AC3E}">
        <p14:creationId xmlns:p14="http://schemas.microsoft.com/office/powerpoint/2010/main" val="23994557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H" dirty="0"/>
              <a:t>On retrouve</a:t>
            </a:r>
            <a:r>
              <a:rPr lang="fr-CH" baseline="0" dirty="0"/>
              <a:t> ces deux mêmes configurations pour les robots anthropomorphes avec l’épaule à gauche ou à droite.</a:t>
            </a:r>
            <a:endParaRPr lang="fr-CH" dirty="0"/>
          </a:p>
        </p:txBody>
      </p:sp>
      <p:sp>
        <p:nvSpPr>
          <p:cNvPr id="4" name="Espace réservé du numéro de diapositive 3"/>
          <p:cNvSpPr>
            <a:spLocks noGrp="1"/>
          </p:cNvSpPr>
          <p:nvPr>
            <p:ph type="sldNum" sz="quarter" idx="10"/>
          </p:nvPr>
        </p:nvSpPr>
        <p:spPr/>
        <p:txBody>
          <a:bodyPr/>
          <a:lstStyle/>
          <a:p>
            <a:fld id="{487F483F-ABE0-4C70-9B14-E3A2EB27F9F2}" type="slidenum">
              <a:rPr lang="fr-CH" smtClean="0"/>
              <a:t>4</a:t>
            </a:fld>
            <a:endParaRPr lang="fr-CH"/>
          </a:p>
        </p:txBody>
      </p:sp>
    </p:spTree>
    <p:extLst>
      <p:ext uri="{BB962C8B-B14F-4D97-AF65-F5344CB8AC3E}">
        <p14:creationId xmlns:p14="http://schemas.microsoft.com/office/powerpoint/2010/main" val="21713864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H" dirty="0"/>
              <a:t>En plus de «</a:t>
            </a:r>
            <a:r>
              <a:rPr lang="fr-CH" dirty="0" err="1"/>
              <a:t>lefty</a:t>
            </a:r>
            <a:r>
              <a:rPr lang="fr-CH" dirty="0"/>
              <a:t>»</a:t>
            </a:r>
            <a:r>
              <a:rPr lang="fr-CH" baseline="0" dirty="0"/>
              <a:t> et «</a:t>
            </a:r>
            <a:r>
              <a:rPr lang="fr-CH" baseline="0" dirty="0" err="1"/>
              <a:t>righty</a:t>
            </a:r>
            <a:r>
              <a:rPr lang="fr-CH" baseline="0" dirty="0"/>
              <a:t>», on peut également avoir des configuration «</a:t>
            </a:r>
            <a:r>
              <a:rPr lang="fr-CH" baseline="0" dirty="0" err="1"/>
              <a:t>above</a:t>
            </a:r>
            <a:r>
              <a:rPr lang="fr-CH" baseline="0" dirty="0"/>
              <a:t>» et «</a:t>
            </a:r>
            <a:r>
              <a:rPr lang="fr-CH" baseline="0" dirty="0" err="1"/>
              <a:t>below</a:t>
            </a:r>
            <a:r>
              <a:rPr lang="fr-CH" baseline="0" dirty="0"/>
              <a:t>».</a:t>
            </a:r>
          </a:p>
          <a:p>
            <a:endParaRPr lang="fr-CH" baseline="0" dirty="0"/>
          </a:p>
          <a:p>
            <a:r>
              <a:rPr lang="fr-CH" baseline="0" dirty="0"/>
              <a:t>Du fait de la limitation de rotation du joint 2, on a plus de libertés en «</a:t>
            </a:r>
            <a:r>
              <a:rPr lang="fr-CH" baseline="0" dirty="0" err="1"/>
              <a:t>above</a:t>
            </a:r>
            <a:r>
              <a:rPr lang="fr-CH" baseline="0" dirty="0"/>
              <a:t>», c’est d’ailleurs la configuration standard que vous trouverez dans la plupart des application.</a:t>
            </a:r>
          </a:p>
          <a:p>
            <a:endParaRPr lang="fr-CH" baseline="0" dirty="0"/>
          </a:p>
          <a:p>
            <a:r>
              <a:rPr lang="fr-CH" baseline="0" dirty="0"/>
              <a:t>La configuration «</a:t>
            </a:r>
            <a:r>
              <a:rPr lang="fr-CH" baseline="0" dirty="0" err="1"/>
              <a:t>below</a:t>
            </a:r>
            <a:r>
              <a:rPr lang="fr-CH" baseline="0" dirty="0"/>
              <a:t>» est utilisé pour des mouvement spécifiques avec accès par le bas.</a:t>
            </a:r>
            <a:endParaRPr lang="fr-CH" dirty="0"/>
          </a:p>
        </p:txBody>
      </p:sp>
      <p:sp>
        <p:nvSpPr>
          <p:cNvPr id="4" name="Espace réservé du numéro de diapositive 3"/>
          <p:cNvSpPr>
            <a:spLocks noGrp="1"/>
          </p:cNvSpPr>
          <p:nvPr>
            <p:ph type="sldNum" sz="quarter" idx="10"/>
          </p:nvPr>
        </p:nvSpPr>
        <p:spPr/>
        <p:txBody>
          <a:bodyPr/>
          <a:lstStyle/>
          <a:p>
            <a:fld id="{487F483F-ABE0-4C70-9B14-E3A2EB27F9F2}" type="slidenum">
              <a:rPr lang="fr-CH" smtClean="0"/>
              <a:t>5</a:t>
            </a:fld>
            <a:endParaRPr lang="fr-CH"/>
          </a:p>
        </p:txBody>
      </p:sp>
    </p:spTree>
    <p:extLst>
      <p:ext uri="{BB962C8B-B14F-4D97-AF65-F5344CB8AC3E}">
        <p14:creationId xmlns:p14="http://schemas.microsoft.com/office/powerpoint/2010/main" val="37825317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H" dirty="0"/>
              <a:t>La troisième</a:t>
            </a:r>
            <a:r>
              <a:rPr lang="fr-CH" baseline="0" dirty="0"/>
              <a:t> possibilité de configuration (dans le cas des architectures série de type anthropomorphes) se situe au niveau du poignet. On parle de «flip» et «no flip»</a:t>
            </a:r>
          </a:p>
          <a:p>
            <a:endParaRPr lang="fr-CH" dirty="0"/>
          </a:p>
          <a:p>
            <a:r>
              <a:rPr lang="fr-CH" dirty="0"/>
              <a:t>Cette dernière est plus commune que «</a:t>
            </a:r>
            <a:r>
              <a:rPr lang="fr-CH" dirty="0" err="1"/>
              <a:t>above</a:t>
            </a:r>
            <a:r>
              <a:rPr lang="fr-CH" dirty="0"/>
              <a:t>»/«</a:t>
            </a:r>
            <a:r>
              <a:rPr lang="fr-CH" dirty="0" err="1"/>
              <a:t>below</a:t>
            </a:r>
            <a:r>
              <a:rPr lang="fr-CH" dirty="0"/>
              <a:t>». En effet,</a:t>
            </a:r>
            <a:r>
              <a:rPr lang="fr-CH" baseline="0" dirty="0"/>
              <a:t> si on imagine un robot qui évolue sur un plan en YZ world (comme si il dessinais sur le mur en face de lui), il devra plier son poignet dans une ou l’autre configuration suivant qu’il dessine sur la zone en haut ou en bas du mur. Vous pouvez faire l’essai avec le bras à la maison. Si vous voulez garder le poignet dans la même «configuration», vous devez effectuer des mouvements «pas très naturels» avec les coude et l’épaule.</a:t>
            </a:r>
            <a:endParaRPr lang="fr-CH" dirty="0"/>
          </a:p>
          <a:p>
            <a:endParaRPr lang="fr-CH" dirty="0"/>
          </a:p>
          <a:p>
            <a:r>
              <a:rPr lang="fr-CH" dirty="0"/>
              <a:t>Comme pour le robot SCARA, tous les points de l’enveloppe</a:t>
            </a:r>
            <a:r>
              <a:rPr lang="fr-CH" baseline="0" dirty="0"/>
              <a:t> complète ne sont pas accessibles dans toutes les configurations.</a:t>
            </a:r>
          </a:p>
          <a:p>
            <a:endParaRPr lang="fr-CH" baseline="0" dirty="0"/>
          </a:p>
          <a:p>
            <a:r>
              <a:rPr lang="fr-CH" baseline="0" dirty="0"/>
              <a:t>La configuration finale du robot anthropomorphe est donc une combinaison des différentes configurations vues jusqu’ici.</a:t>
            </a:r>
          </a:p>
          <a:p>
            <a:r>
              <a:rPr lang="fr-CH" dirty="0"/>
              <a:t>En effet, pour</a:t>
            </a:r>
            <a:r>
              <a:rPr lang="fr-CH" baseline="0" dirty="0"/>
              <a:t> une position unique cartésienne, il existe potentiellement x combinaisons possibles de configurations.</a:t>
            </a:r>
          </a:p>
          <a:p>
            <a:r>
              <a:rPr lang="fr-CH" baseline="0" dirty="0"/>
              <a:t>«</a:t>
            </a:r>
            <a:r>
              <a:rPr lang="fr-CH" baseline="0" dirty="0" err="1"/>
              <a:t>lefty</a:t>
            </a:r>
            <a:r>
              <a:rPr lang="fr-CH" baseline="0" dirty="0"/>
              <a:t>-</a:t>
            </a:r>
            <a:r>
              <a:rPr lang="fr-CH" baseline="0" dirty="0" err="1"/>
              <a:t>above</a:t>
            </a:r>
            <a:r>
              <a:rPr lang="fr-CH" baseline="0" dirty="0"/>
              <a:t>-flip», «</a:t>
            </a:r>
            <a:r>
              <a:rPr lang="fr-CH" baseline="0" dirty="0" err="1"/>
              <a:t>righty</a:t>
            </a:r>
            <a:r>
              <a:rPr lang="fr-CH" baseline="0" dirty="0"/>
              <a:t>-</a:t>
            </a:r>
            <a:r>
              <a:rPr lang="fr-CH" baseline="0" dirty="0" err="1"/>
              <a:t>below</a:t>
            </a:r>
            <a:r>
              <a:rPr lang="fr-CH" baseline="0" dirty="0"/>
              <a:t>-flip», …</a:t>
            </a:r>
          </a:p>
          <a:p>
            <a:endParaRPr lang="fr-CH" baseline="0" dirty="0"/>
          </a:p>
          <a:p>
            <a:r>
              <a:rPr lang="fr-CH" baseline="0" dirty="0"/>
              <a:t>Jusque-là, pas trop de problèmes. Il suffit de changer de configurations pour atteindre tous les points de l’enveloppe.</a:t>
            </a:r>
          </a:p>
          <a:p>
            <a:r>
              <a:rPr lang="fr-CH" baseline="0" dirty="0"/>
              <a:t>Cependant, une des grande problématique de la robotique est que justement ces passages entre configurations donne généralement lieux à des singularités.</a:t>
            </a:r>
          </a:p>
          <a:p>
            <a:endParaRPr lang="fr-CH" baseline="0" dirty="0"/>
          </a:p>
          <a:p>
            <a:r>
              <a:rPr lang="fr-CH" baseline="0" dirty="0"/>
              <a:t>On verra sur les slides suivantes qu’est-ce qu’implique ces singularités, mais ce qu’on peut déjà dire, c’est que la plupart des contrôleur n’autorise pas de changement de configuration en mouvement.</a:t>
            </a:r>
          </a:p>
          <a:p>
            <a:r>
              <a:rPr lang="fr-CH" baseline="0" dirty="0"/>
              <a:t>Cela implique que si on doit passer dans une zone inatteignable pour la configuration actuelle, on est obligé de changer de configuration «manuellement» à l’aide des positions joints (</a:t>
            </a:r>
            <a:r>
              <a:rPr lang="fr-CH" baseline="0" dirty="0" err="1"/>
              <a:t>movej</a:t>
            </a:r>
            <a:r>
              <a:rPr lang="fr-CH" baseline="0" dirty="0"/>
              <a:t>).</a:t>
            </a:r>
          </a:p>
          <a:p>
            <a:endParaRPr lang="fr-CH" baseline="0" dirty="0"/>
          </a:p>
          <a:p>
            <a:endParaRPr lang="fr-CH" dirty="0"/>
          </a:p>
        </p:txBody>
      </p:sp>
      <p:sp>
        <p:nvSpPr>
          <p:cNvPr id="4" name="Espace réservé du numéro de diapositive 3"/>
          <p:cNvSpPr>
            <a:spLocks noGrp="1"/>
          </p:cNvSpPr>
          <p:nvPr>
            <p:ph type="sldNum" sz="quarter" idx="10"/>
          </p:nvPr>
        </p:nvSpPr>
        <p:spPr/>
        <p:txBody>
          <a:bodyPr/>
          <a:lstStyle/>
          <a:p>
            <a:fld id="{487F483F-ABE0-4C70-9B14-E3A2EB27F9F2}" type="slidenum">
              <a:rPr lang="fr-CH" smtClean="0"/>
              <a:t>6</a:t>
            </a:fld>
            <a:endParaRPr lang="fr-CH"/>
          </a:p>
        </p:txBody>
      </p:sp>
    </p:spTree>
    <p:extLst>
      <p:ext uri="{BB962C8B-B14F-4D97-AF65-F5344CB8AC3E}">
        <p14:creationId xmlns:p14="http://schemas.microsoft.com/office/powerpoint/2010/main" val="41602703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10"/>
          </p:nvPr>
        </p:nvSpPr>
        <p:spPr/>
        <p:txBody>
          <a:bodyPr/>
          <a:lstStyle/>
          <a:p>
            <a:fld id="{487F483F-ABE0-4C70-9B14-E3A2EB27F9F2}" type="slidenum">
              <a:rPr lang="fr-CH" smtClean="0"/>
              <a:t>7</a:t>
            </a:fld>
            <a:endParaRPr lang="fr-CH"/>
          </a:p>
        </p:txBody>
      </p:sp>
    </p:spTree>
    <p:extLst>
      <p:ext uri="{BB962C8B-B14F-4D97-AF65-F5344CB8AC3E}">
        <p14:creationId xmlns:p14="http://schemas.microsoft.com/office/powerpoint/2010/main" val="17042550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H" dirty="0" err="1"/>
              <a:t>Lefty</a:t>
            </a:r>
            <a:r>
              <a:rPr lang="fr-CH" dirty="0"/>
              <a:t> – </a:t>
            </a:r>
            <a:r>
              <a:rPr lang="fr-CH" dirty="0" err="1"/>
              <a:t>Above</a:t>
            </a:r>
            <a:r>
              <a:rPr lang="fr-CH" baseline="0" dirty="0"/>
              <a:t> – </a:t>
            </a:r>
            <a:r>
              <a:rPr lang="fr-CH" baseline="0" dirty="0" err="1"/>
              <a:t>noflip</a:t>
            </a:r>
            <a:endParaRPr lang="fr-CH" baseline="0" dirty="0"/>
          </a:p>
          <a:p>
            <a:r>
              <a:rPr lang="fr-CH" baseline="0" dirty="0" err="1"/>
              <a:t>Lefty</a:t>
            </a:r>
            <a:r>
              <a:rPr lang="fr-CH" baseline="0" dirty="0"/>
              <a:t> – </a:t>
            </a:r>
            <a:r>
              <a:rPr lang="fr-CH" baseline="0" dirty="0" err="1"/>
              <a:t>Above</a:t>
            </a:r>
            <a:r>
              <a:rPr lang="fr-CH" baseline="0" dirty="0"/>
              <a:t> – flip</a:t>
            </a:r>
          </a:p>
          <a:p>
            <a:r>
              <a:rPr lang="fr-CH" baseline="0" dirty="0" err="1"/>
              <a:t>Lefty</a:t>
            </a:r>
            <a:r>
              <a:rPr lang="fr-CH" baseline="0" dirty="0"/>
              <a:t> – </a:t>
            </a:r>
            <a:r>
              <a:rPr lang="fr-CH" baseline="0" dirty="0" err="1"/>
              <a:t>Below</a:t>
            </a:r>
            <a:r>
              <a:rPr lang="fr-CH" baseline="0" dirty="0"/>
              <a:t> – </a:t>
            </a:r>
            <a:r>
              <a:rPr lang="fr-CH" baseline="0" dirty="0" err="1"/>
              <a:t>noflip</a:t>
            </a:r>
            <a:endParaRPr lang="fr-CH" baseline="0" dirty="0"/>
          </a:p>
          <a:p>
            <a:r>
              <a:rPr lang="fr-CH" baseline="0" dirty="0" err="1"/>
              <a:t>Lefty</a:t>
            </a:r>
            <a:r>
              <a:rPr lang="fr-CH" baseline="0" dirty="0"/>
              <a:t> – </a:t>
            </a:r>
            <a:r>
              <a:rPr lang="fr-CH" baseline="0" dirty="0" err="1"/>
              <a:t>Below</a:t>
            </a:r>
            <a:r>
              <a:rPr lang="fr-CH" baseline="0" dirty="0"/>
              <a:t> – flip</a:t>
            </a:r>
          </a:p>
          <a:p>
            <a:r>
              <a:rPr lang="fr-CH" baseline="0" dirty="0" err="1"/>
              <a:t>Righty</a:t>
            </a:r>
            <a:r>
              <a:rPr lang="fr-CH" baseline="0" dirty="0"/>
              <a:t> – </a:t>
            </a:r>
            <a:r>
              <a:rPr lang="fr-CH" baseline="0" dirty="0" err="1"/>
              <a:t>Above</a:t>
            </a:r>
            <a:r>
              <a:rPr lang="fr-CH" baseline="0" dirty="0"/>
              <a:t> – </a:t>
            </a:r>
            <a:r>
              <a:rPr lang="fr-CH" baseline="0" dirty="0" err="1"/>
              <a:t>noflip</a:t>
            </a:r>
            <a:endParaRPr lang="fr-CH" baseline="0" dirty="0"/>
          </a:p>
          <a:p>
            <a:r>
              <a:rPr lang="fr-CH" baseline="0" dirty="0" err="1"/>
              <a:t>Righty</a:t>
            </a:r>
            <a:r>
              <a:rPr lang="fr-CH" baseline="0" dirty="0"/>
              <a:t> – </a:t>
            </a:r>
            <a:r>
              <a:rPr lang="fr-CH" baseline="0" dirty="0" err="1"/>
              <a:t>Above</a:t>
            </a:r>
            <a:r>
              <a:rPr lang="fr-CH" baseline="0" dirty="0"/>
              <a:t> – flip</a:t>
            </a:r>
          </a:p>
          <a:p>
            <a:r>
              <a:rPr lang="fr-CH" baseline="0" dirty="0" err="1"/>
              <a:t>Righty</a:t>
            </a:r>
            <a:r>
              <a:rPr lang="fr-CH" baseline="0" dirty="0"/>
              <a:t> – </a:t>
            </a:r>
            <a:r>
              <a:rPr lang="fr-CH" baseline="0" dirty="0" err="1"/>
              <a:t>Below</a:t>
            </a:r>
            <a:r>
              <a:rPr lang="fr-CH" baseline="0" dirty="0"/>
              <a:t>- </a:t>
            </a:r>
            <a:r>
              <a:rPr lang="fr-CH" baseline="0" dirty="0" err="1"/>
              <a:t>noflip</a:t>
            </a:r>
            <a:endParaRPr lang="fr-CH" baseline="0" dirty="0"/>
          </a:p>
          <a:p>
            <a:r>
              <a:rPr lang="fr-CH" baseline="0" dirty="0" err="1"/>
              <a:t>Righty</a:t>
            </a:r>
            <a:r>
              <a:rPr lang="fr-CH" baseline="0" dirty="0"/>
              <a:t> – </a:t>
            </a:r>
            <a:r>
              <a:rPr lang="fr-CH" baseline="0" dirty="0" err="1"/>
              <a:t>Below</a:t>
            </a:r>
            <a:r>
              <a:rPr lang="fr-CH" baseline="0" dirty="0"/>
              <a:t> - flip</a:t>
            </a:r>
            <a:endParaRPr lang="fr-CH" dirty="0"/>
          </a:p>
        </p:txBody>
      </p:sp>
      <p:sp>
        <p:nvSpPr>
          <p:cNvPr id="4" name="Espace réservé du numéro de diapositive 3"/>
          <p:cNvSpPr>
            <a:spLocks noGrp="1"/>
          </p:cNvSpPr>
          <p:nvPr>
            <p:ph type="sldNum" sz="quarter" idx="10"/>
          </p:nvPr>
        </p:nvSpPr>
        <p:spPr/>
        <p:txBody>
          <a:bodyPr/>
          <a:lstStyle/>
          <a:p>
            <a:fld id="{487F483F-ABE0-4C70-9B14-E3A2EB27F9F2}" type="slidenum">
              <a:rPr lang="fr-CH" smtClean="0"/>
              <a:t>8</a:t>
            </a:fld>
            <a:endParaRPr lang="fr-CH"/>
          </a:p>
        </p:txBody>
      </p:sp>
    </p:spTree>
    <p:extLst>
      <p:ext uri="{BB962C8B-B14F-4D97-AF65-F5344CB8AC3E}">
        <p14:creationId xmlns:p14="http://schemas.microsoft.com/office/powerpoint/2010/main" val="8969296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H" dirty="0"/>
              <a:t>Comme relevé plus haut, dans la plupart des positions</a:t>
            </a:r>
            <a:r>
              <a:rPr lang="fr-CH" baseline="0" dirty="0"/>
              <a:t> cartésiennes</a:t>
            </a:r>
            <a:r>
              <a:rPr lang="fr-CH" dirty="0"/>
              <a:t>, on peut retrouver les combinaison possibles de positions joints suivant la configuration.</a:t>
            </a:r>
          </a:p>
          <a:p>
            <a:r>
              <a:rPr lang="fr-CH" dirty="0"/>
              <a:t>Cependant il existe</a:t>
            </a:r>
            <a:r>
              <a:rPr lang="fr-CH" baseline="0" dirty="0"/>
              <a:t> plusieurs ensembles de points qui donnent lieu à une infinité de possibilités.</a:t>
            </a:r>
            <a:endParaRPr lang="fr-CH" dirty="0"/>
          </a:p>
          <a:p>
            <a:r>
              <a:rPr lang="fr-CH" dirty="0"/>
              <a:t>Dans</a:t>
            </a:r>
            <a:r>
              <a:rPr lang="fr-CH" baseline="0" dirty="0"/>
              <a:t> une singularité, les possibilités sont infinie! Evidemment, en programmation on aime pas vraiment ce genre de situations.</a:t>
            </a:r>
          </a:p>
          <a:p>
            <a:endParaRPr lang="fr-CH" baseline="0" dirty="0"/>
          </a:p>
          <a:p>
            <a:r>
              <a:rPr lang="fr-CH" baseline="0" dirty="0"/>
              <a:t>Comme dit dans la slide, cette singularité n’est pas mécanique, on à parfois de la peine à comprendre ce qui coince, en effet mécaniquement la solution semble évidente!</a:t>
            </a:r>
          </a:p>
          <a:p>
            <a:endParaRPr lang="fr-CH" baseline="0" dirty="0"/>
          </a:p>
          <a:p>
            <a:r>
              <a:rPr lang="fr-CH" baseline="0" dirty="0"/>
              <a:t>Ce qu’il faut imaginer ce que lors du suivi de trajectoire, et si on reste dans un configuration données, le point suivant est toujours atteints par un rotation minime de tous les axes, et une seule possibilité existe.</a:t>
            </a:r>
          </a:p>
          <a:p>
            <a:r>
              <a:rPr lang="fr-CH" baseline="0" dirty="0"/>
              <a:t>Lorsque vous arrivez à la singularité, alors tout d’un coup, une infinité de possibilité de positions suivantes apparaissent!</a:t>
            </a:r>
          </a:p>
          <a:p>
            <a:endParaRPr lang="fr-CH" baseline="0" dirty="0"/>
          </a:p>
          <a:p>
            <a:r>
              <a:rPr lang="fr-CH" baseline="0" dirty="0"/>
              <a:t>Dans les slides suivantes, les différentes singularités possibles des robots anthropomorphes sont présentées.</a:t>
            </a:r>
            <a:endParaRPr lang="fr-CH" dirty="0"/>
          </a:p>
        </p:txBody>
      </p:sp>
      <p:sp>
        <p:nvSpPr>
          <p:cNvPr id="4" name="Espace réservé du numéro de diapositive 3"/>
          <p:cNvSpPr>
            <a:spLocks noGrp="1"/>
          </p:cNvSpPr>
          <p:nvPr>
            <p:ph type="sldNum" sz="quarter" idx="10"/>
          </p:nvPr>
        </p:nvSpPr>
        <p:spPr/>
        <p:txBody>
          <a:bodyPr/>
          <a:lstStyle/>
          <a:p>
            <a:fld id="{487F483F-ABE0-4C70-9B14-E3A2EB27F9F2}" type="slidenum">
              <a:rPr lang="fr-CH" smtClean="0"/>
              <a:t>9</a:t>
            </a:fld>
            <a:endParaRPr lang="fr-CH"/>
          </a:p>
        </p:txBody>
      </p:sp>
    </p:spTree>
    <p:extLst>
      <p:ext uri="{BB962C8B-B14F-4D97-AF65-F5344CB8AC3E}">
        <p14:creationId xmlns:p14="http://schemas.microsoft.com/office/powerpoint/2010/main" val="4192987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H" dirty="0"/>
              <a:t>Cette première singularité illustre ce phénomène de manière assez compréhensible. </a:t>
            </a:r>
          </a:p>
          <a:p>
            <a:r>
              <a:rPr lang="fr-CH" dirty="0"/>
              <a:t>On arrives bien à imaginer en effet que lorsque les axes de rotation 4 et 6 sont alignés, N’importe qu’elle rotation de</a:t>
            </a:r>
            <a:r>
              <a:rPr lang="fr-CH" baseline="0" dirty="0"/>
              <a:t> A4</a:t>
            </a:r>
            <a:r>
              <a:rPr lang="fr-CH" dirty="0"/>
              <a:t> peut être annulée</a:t>
            </a:r>
            <a:r>
              <a:rPr lang="fr-CH" baseline="0" dirty="0"/>
              <a:t> par une rotation inverse de A6. (dans les limites mécanique des axes)</a:t>
            </a:r>
          </a:p>
          <a:p>
            <a:r>
              <a:rPr lang="fr-CH" dirty="0"/>
              <a:t>Le nombre de possibilités</a:t>
            </a:r>
            <a:r>
              <a:rPr lang="fr-CH" baseline="0" dirty="0"/>
              <a:t> est donc infini.</a:t>
            </a:r>
          </a:p>
          <a:p>
            <a:r>
              <a:rPr lang="fr-CH" baseline="0" dirty="0"/>
              <a:t>Cette situation implique en pratique que l</a:t>
            </a:r>
            <a:r>
              <a:rPr lang="fr-CH" dirty="0"/>
              <a:t>e robot est alors généralement incapable de se déplacer sur l’axe du joint 5 sans effectuer une grande rotation des</a:t>
            </a:r>
            <a:r>
              <a:rPr lang="fr-CH" baseline="0" dirty="0"/>
              <a:t> joint 4 et 6 (90° de part et d’autre) car il ne s’autorise pas à changer de configuration., étant incapable de calculer de manière «finie» un points de jonction. </a:t>
            </a:r>
          </a:p>
          <a:p>
            <a:endParaRPr lang="fr-CH" baseline="0" dirty="0"/>
          </a:p>
          <a:p>
            <a:r>
              <a:rPr lang="fr-CH" baseline="0" dirty="0"/>
              <a:t>Encore une fois il s’agit uniquement d’un problème mathématique.</a:t>
            </a:r>
          </a:p>
        </p:txBody>
      </p:sp>
      <p:sp>
        <p:nvSpPr>
          <p:cNvPr id="4" name="Espace réservé du numéro de diapositive 3"/>
          <p:cNvSpPr>
            <a:spLocks noGrp="1"/>
          </p:cNvSpPr>
          <p:nvPr>
            <p:ph type="sldNum" sz="quarter" idx="10"/>
          </p:nvPr>
        </p:nvSpPr>
        <p:spPr/>
        <p:txBody>
          <a:bodyPr/>
          <a:lstStyle/>
          <a:p>
            <a:fld id="{487F483F-ABE0-4C70-9B14-E3A2EB27F9F2}" type="slidenum">
              <a:rPr lang="fr-CH" smtClean="0"/>
              <a:t>10</a:t>
            </a:fld>
            <a:endParaRPr lang="fr-CH"/>
          </a:p>
        </p:txBody>
      </p:sp>
    </p:spTree>
    <p:extLst>
      <p:ext uri="{BB962C8B-B14F-4D97-AF65-F5344CB8AC3E}">
        <p14:creationId xmlns:p14="http://schemas.microsoft.com/office/powerpoint/2010/main" val="7959894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H" dirty="0"/>
              <a:t>Ici</a:t>
            </a:r>
            <a:r>
              <a:rPr lang="fr-CH" baseline="0" dirty="0"/>
              <a:t> on retrouve simplement une illustration différente de cette rotation de 180 degrés du joint 4 .</a:t>
            </a:r>
            <a:endParaRPr lang="fr-CH" dirty="0"/>
          </a:p>
        </p:txBody>
      </p:sp>
      <p:sp>
        <p:nvSpPr>
          <p:cNvPr id="4" name="Espace réservé du numéro de diapositive 3"/>
          <p:cNvSpPr>
            <a:spLocks noGrp="1"/>
          </p:cNvSpPr>
          <p:nvPr>
            <p:ph type="sldNum" sz="quarter" idx="10"/>
          </p:nvPr>
        </p:nvSpPr>
        <p:spPr/>
        <p:txBody>
          <a:bodyPr/>
          <a:lstStyle/>
          <a:p>
            <a:fld id="{487F483F-ABE0-4C70-9B14-E3A2EB27F9F2}" type="slidenum">
              <a:rPr lang="fr-CH" smtClean="0"/>
              <a:t>11</a:t>
            </a:fld>
            <a:endParaRPr lang="fr-CH"/>
          </a:p>
        </p:txBody>
      </p:sp>
    </p:spTree>
    <p:extLst>
      <p:ext uri="{BB962C8B-B14F-4D97-AF65-F5344CB8AC3E}">
        <p14:creationId xmlns:p14="http://schemas.microsoft.com/office/powerpoint/2010/main" val="38967899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H" dirty="0"/>
              <a:t>Cette deuxième</a:t>
            </a:r>
            <a:r>
              <a:rPr lang="fr-CH" baseline="0" dirty="0"/>
              <a:t> singularité apparait lorsque le centre du poignet se trouve sur le plan passant par l’axe du joint 1 et parallèle à l’axe du joint 2</a:t>
            </a:r>
          </a:p>
          <a:p>
            <a:endParaRPr lang="fr-CH" baseline="0" dirty="0"/>
          </a:p>
          <a:p>
            <a:r>
              <a:rPr lang="fr-CH" baseline="0" dirty="0"/>
              <a:t>Elle est complexe à prévoir car dépend d’une combinaison de la position de deux axes alors que pour les deux autres, c’est la position d’un seul axe qui est déterminante.</a:t>
            </a:r>
            <a:endParaRPr lang="fr-CH" dirty="0"/>
          </a:p>
        </p:txBody>
      </p:sp>
      <p:sp>
        <p:nvSpPr>
          <p:cNvPr id="4" name="Espace réservé du numéro de diapositive 3"/>
          <p:cNvSpPr>
            <a:spLocks noGrp="1"/>
          </p:cNvSpPr>
          <p:nvPr>
            <p:ph type="sldNum" sz="quarter" idx="10"/>
          </p:nvPr>
        </p:nvSpPr>
        <p:spPr/>
        <p:txBody>
          <a:bodyPr/>
          <a:lstStyle/>
          <a:p>
            <a:fld id="{487F483F-ABE0-4C70-9B14-E3A2EB27F9F2}" type="slidenum">
              <a:rPr lang="fr-CH" smtClean="0"/>
              <a:t>12</a:t>
            </a:fld>
            <a:endParaRPr lang="fr-CH"/>
          </a:p>
        </p:txBody>
      </p:sp>
    </p:spTree>
    <p:extLst>
      <p:ext uri="{BB962C8B-B14F-4D97-AF65-F5344CB8AC3E}">
        <p14:creationId xmlns:p14="http://schemas.microsoft.com/office/powerpoint/2010/main" val="2051264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H" dirty="0"/>
              <a:t>Dans cette configuration, le robot ne peut pas se déplacer dans la direction</a:t>
            </a:r>
            <a:r>
              <a:rPr lang="fr-CH" baseline="0" dirty="0"/>
              <a:t> de l’axe du joint 2.</a:t>
            </a:r>
          </a:p>
          <a:p>
            <a:r>
              <a:rPr lang="fr-CH" baseline="0" dirty="0"/>
              <a:t>Pour ce faire, les joint 1 et 4 doivent simultanément se déplacer de 90 degrés dans des directions opposées.</a:t>
            </a:r>
          </a:p>
          <a:p>
            <a:r>
              <a:rPr lang="fr-CH" baseline="0" dirty="0"/>
              <a:t>On voit sur cette illustration que l’ensemble de points ou la singularité est présente forment un plan.</a:t>
            </a:r>
            <a:endParaRPr lang="fr-CH" dirty="0"/>
          </a:p>
        </p:txBody>
      </p:sp>
      <p:sp>
        <p:nvSpPr>
          <p:cNvPr id="4" name="Espace réservé du numéro de diapositive 3"/>
          <p:cNvSpPr>
            <a:spLocks noGrp="1"/>
          </p:cNvSpPr>
          <p:nvPr>
            <p:ph type="sldNum" sz="quarter" idx="10"/>
          </p:nvPr>
        </p:nvSpPr>
        <p:spPr/>
        <p:txBody>
          <a:bodyPr/>
          <a:lstStyle/>
          <a:p>
            <a:fld id="{487F483F-ABE0-4C70-9B14-E3A2EB27F9F2}" type="slidenum">
              <a:rPr lang="fr-CH" smtClean="0"/>
              <a:t>13</a:t>
            </a:fld>
            <a:endParaRPr lang="fr-CH"/>
          </a:p>
        </p:txBody>
      </p:sp>
    </p:spTree>
    <p:extLst>
      <p:ext uri="{BB962C8B-B14F-4D97-AF65-F5344CB8AC3E}">
        <p14:creationId xmlns:p14="http://schemas.microsoft.com/office/powerpoint/2010/main" val="31542323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H" dirty="0"/>
              <a:t>Autre</a:t>
            </a:r>
            <a:r>
              <a:rPr lang="fr-CH" baseline="0" dirty="0"/>
              <a:t> illustration du comportement du robot lors du passage par cette singularité.</a:t>
            </a:r>
            <a:endParaRPr lang="fr-CH" dirty="0"/>
          </a:p>
        </p:txBody>
      </p:sp>
      <p:sp>
        <p:nvSpPr>
          <p:cNvPr id="4" name="Espace réservé du numéro de diapositive 3"/>
          <p:cNvSpPr>
            <a:spLocks noGrp="1"/>
          </p:cNvSpPr>
          <p:nvPr>
            <p:ph type="sldNum" sz="quarter" idx="10"/>
          </p:nvPr>
        </p:nvSpPr>
        <p:spPr/>
        <p:txBody>
          <a:bodyPr/>
          <a:lstStyle/>
          <a:p>
            <a:fld id="{487F483F-ABE0-4C70-9B14-E3A2EB27F9F2}" type="slidenum">
              <a:rPr lang="fr-CH" smtClean="0"/>
              <a:t>14</a:t>
            </a:fld>
            <a:endParaRPr lang="fr-CH"/>
          </a:p>
        </p:txBody>
      </p:sp>
    </p:spTree>
    <p:extLst>
      <p:ext uri="{BB962C8B-B14F-4D97-AF65-F5344CB8AC3E}">
        <p14:creationId xmlns:p14="http://schemas.microsoft.com/office/powerpoint/2010/main" val="37060711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H" dirty="0"/>
              <a:t>Cette singularité apparaît lorsque le centre du poignet (intersection entre les axes</a:t>
            </a:r>
            <a:r>
              <a:rPr lang="fr-CH" baseline="0" dirty="0"/>
              <a:t> des joint 4,5,6) se trouve sur le plan passant par les axes des joints 2 et 3.</a:t>
            </a:r>
          </a:p>
          <a:p>
            <a:r>
              <a:rPr lang="fr-CH" baseline="0" dirty="0"/>
              <a:t>La singularité est liée à la position du joint 3.</a:t>
            </a:r>
          </a:p>
          <a:p>
            <a:endParaRPr lang="fr-CH" baseline="0" dirty="0"/>
          </a:p>
          <a:p>
            <a:r>
              <a:rPr lang="fr-CH" baseline="0" dirty="0"/>
              <a:t>Elle apparaît à la limite de l’enveloppe (bras tendu).</a:t>
            </a:r>
          </a:p>
          <a:p>
            <a:endParaRPr lang="fr-CH" baseline="0" dirty="0"/>
          </a:p>
          <a:p>
            <a:r>
              <a:rPr lang="fr-CH" baseline="0" dirty="0"/>
              <a:t>Une des particularités de cette singularité, c’est que le robot à très peu de dynamiques dans cette positon. En effet si on veut diriger l’outil en direction du world, on a besoins d’un grands mouvements de l’axe A3 pour un petit mouvement de l’outil. Certains robots présentent donc également des comportements limites à l’approche de cette singularité sans même l’avoir vraiment atteinte.</a:t>
            </a:r>
            <a:endParaRPr lang="fr-CH" dirty="0"/>
          </a:p>
        </p:txBody>
      </p:sp>
      <p:sp>
        <p:nvSpPr>
          <p:cNvPr id="4" name="Espace réservé du numéro de diapositive 3"/>
          <p:cNvSpPr>
            <a:spLocks noGrp="1"/>
          </p:cNvSpPr>
          <p:nvPr>
            <p:ph type="sldNum" sz="quarter" idx="10"/>
          </p:nvPr>
        </p:nvSpPr>
        <p:spPr/>
        <p:txBody>
          <a:bodyPr/>
          <a:lstStyle/>
          <a:p>
            <a:fld id="{487F483F-ABE0-4C70-9B14-E3A2EB27F9F2}" type="slidenum">
              <a:rPr lang="fr-CH" smtClean="0"/>
              <a:t>15</a:t>
            </a:fld>
            <a:endParaRPr lang="fr-CH"/>
          </a:p>
        </p:txBody>
      </p:sp>
    </p:spTree>
    <p:extLst>
      <p:ext uri="{BB962C8B-B14F-4D97-AF65-F5344CB8AC3E}">
        <p14:creationId xmlns:p14="http://schemas.microsoft.com/office/powerpoint/2010/main" val="39589474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H" dirty="0"/>
              <a:t>On voit</a:t>
            </a:r>
            <a:r>
              <a:rPr lang="fr-CH" baseline="0" dirty="0"/>
              <a:t> ici une autre illustration de cette singularité.</a:t>
            </a:r>
          </a:p>
          <a:p>
            <a:endParaRPr lang="fr-CH" baseline="0" dirty="0"/>
          </a:p>
          <a:p>
            <a:r>
              <a:rPr lang="fr-CH" baseline="0" dirty="0"/>
              <a:t>Elle est assez facile à éviter. Il suffit de prévoir des limites d’enveloppes avec de la marge.</a:t>
            </a:r>
            <a:endParaRPr lang="fr-CH" dirty="0"/>
          </a:p>
        </p:txBody>
      </p:sp>
      <p:sp>
        <p:nvSpPr>
          <p:cNvPr id="4" name="Espace réservé du numéro de diapositive 3"/>
          <p:cNvSpPr>
            <a:spLocks noGrp="1"/>
          </p:cNvSpPr>
          <p:nvPr>
            <p:ph type="sldNum" sz="quarter" idx="10"/>
          </p:nvPr>
        </p:nvSpPr>
        <p:spPr/>
        <p:txBody>
          <a:bodyPr/>
          <a:lstStyle/>
          <a:p>
            <a:fld id="{487F483F-ABE0-4C70-9B14-E3A2EB27F9F2}" type="slidenum">
              <a:rPr lang="fr-CH" smtClean="0"/>
              <a:t>16</a:t>
            </a:fld>
            <a:endParaRPr lang="fr-CH"/>
          </a:p>
        </p:txBody>
      </p:sp>
    </p:spTree>
    <p:extLst>
      <p:ext uri="{BB962C8B-B14F-4D97-AF65-F5344CB8AC3E}">
        <p14:creationId xmlns:p14="http://schemas.microsoft.com/office/powerpoint/2010/main" val="13702491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H" dirty="0"/>
              <a:t>Vidéo de mise en évidence du passage de singularités sur différents</a:t>
            </a:r>
            <a:r>
              <a:rPr lang="fr-CH" baseline="0" dirty="0"/>
              <a:t> robots</a:t>
            </a:r>
            <a:endParaRPr lang="fr-CH" dirty="0"/>
          </a:p>
        </p:txBody>
      </p:sp>
      <p:sp>
        <p:nvSpPr>
          <p:cNvPr id="4" name="Espace réservé du numéro de diapositive 3"/>
          <p:cNvSpPr>
            <a:spLocks noGrp="1"/>
          </p:cNvSpPr>
          <p:nvPr>
            <p:ph type="sldNum" sz="quarter" idx="10"/>
          </p:nvPr>
        </p:nvSpPr>
        <p:spPr/>
        <p:txBody>
          <a:bodyPr/>
          <a:lstStyle/>
          <a:p>
            <a:fld id="{487F483F-ABE0-4C70-9B14-E3A2EB27F9F2}" type="slidenum">
              <a:rPr lang="fr-CH" smtClean="0"/>
              <a:t>17</a:t>
            </a:fld>
            <a:endParaRPr lang="fr-CH"/>
          </a:p>
        </p:txBody>
      </p:sp>
    </p:spTree>
    <p:extLst>
      <p:ext uri="{BB962C8B-B14F-4D97-AF65-F5344CB8AC3E}">
        <p14:creationId xmlns:p14="http://schemas.microsoft.com/office/powerpoint/2010/main" val="14579060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H" dirty="0"/>
              <a:t>Un article concernant les singularités d’un robot anthropomorphe (A</a:t>
            </a:r>
            <a:r>
              <a:rPr lang="fr-CH" baseline="0" dirty="0"/>
              <a:t> lire!)</a:t>
            </a:r>
            <a:r>
              <a:rPr lang="fr-CH" dirty="0"/>
              <a:t>.</a:t>
            </a:r>
          </a:p>
          <a:p>
            <a:endParaRPr lang="fr-CH" dirty="0"/>
          </a:p>
          <a:p>
            <a:r>
              <a:rPr lang="fr-CH" dirty="0"/>
              <a:t>Le but de</a:t>
            </a:r>
            <a:r>
              <a:rPr lang="fr-CH" baseline="0" dirty="0"/>
              <a:t> ce cours n’est pas que vous soyez capable de prévoir exactement qu’elle singularité arrive à quel endroit, mais que, lorsque vous dimensionnez une cellule robotique, vous gardiez en tête cette problématique.</a:t>
            </a:r>
          </a:p>
          <a:p>
            <a:endParaRPr lang="fr-CH" baseline="0" dirty="0"/>
          </a:p>
          <a:p>
            <a:r>
              <a:rPr lang="fr-CH" dirty="0"/>
              <a:t>Dans</a:t>
            </a:r>
            <a:r>
              <a:rPr lang="fr-CH" baseline="0" dirty="0"/>
              <a:t> ce sens, passer par un outil de simulation du programme de robotique est très utile pour détecter au plus tôt ces problèmes, pendant qu’il est encore temps pour modifier les emplacements physiques des différentes zones de travail!</a:t>
            </a:r>
          </a:p>
          <a:p>
            <a:endParaRPr lang="fr-CH" baseline="0" dirty="0"/>
          </a:p>
          <a:p>
            <a:r>
              <a:rPr lang="fr-CH" baseline="0" dirty="0"/>
              <a:t>Lorsque l’on travaille en «</a:t>
            </a:r>
            <a:r>
              <a:rPr lang="fr-CH" baseline="0" dirty="0" err="1"/>
              <a:t>pick</a:t>
            </a:r>
            <a:r>
              <a:rPr lang="fr-CH" baseline="0" dirty="0"/>
              <a:t> and place» (Prise/dépose de pièce), on peut généralement travailler et passer près de ces singularités. Ce n’est pas très élégants, mais ça ne pose pas trop de problèmes avec un bon contrôleur.</a:t>
            </a:r>
          </a:p>
          <a:p>
            <a:endParaRPr lang="fr-CH" baseline="0" dirty="0"/>
          </a:p>
          <a:p>
            <a:r>
              <a:rPr lang="fr-CH" baseline="0" dirty="0"/>
              <a:t>Lorsque l’on souhaite faire du suivi de trajectoire avec une vitesse constant de l’outils (soudage par exemple), le passage par un de ces points est une catastrophe, l’outil ralenti au passage et risque de créer une accumulation de matière.</a:t>
            </a:r>
          </a:p>
          <a:p>
            <a:r>
              <a:rPr lang="fr-CH" baseline="0" dirty="0"/>
              <a:t>Il ‘s'agit cependant </a:t>
            </a:r>
            <a:r>
              <a:rPr lang="fr-CH" baseline="0"/>
              <a:t>là d’applications </a:t>
            </a:r>
            <a:r>
              <a:rPr lang="fr-CH" baseline="0" dirty="0"/>
              <a:t>nécessitant des </a:t>
            </a:r>
            <a:r>
              <a:rPr lang="fr-CH" baseline="0"/>
              <a:t>compétences spécifiques </a:t>
            </a:r>
            <a:r>
              <a:rPr lang="fr-CH" baseline="0" dirty="0"/>
              <a:t>qui ne sont pas abordées dans ce cours d’introduction à la robotique.</a:t>
            </a:r>
          </a:p>
          <a:p>
            <a:endParaRPr lang="fr-CH" dirty="0"/>
          </a:p>
        </p:txBody>
      </p:sp>
      <p:sp>
        <p:nvSpPr>
          <p:cNvPr id="4" name="Espace réservé du numéro de diapositive 3"/>
          <p:cNvSpPr>
            <a:spLocks noGrp="1"/>
          </p:cNvSpPr>
          <p:nvPr>
            <p:ph type="sldNum" sz="quarter" idx="10"/>
          </p:nvPr>
        </p:nvSpPr>
        <p:spPr/>
        <p:txBody>
          <a:bodyPr/>
          <a:lstStyle/>
          <a:p>
            <a:fld id="{487F483F-ABE0-4C70-9B14-E3A2EB27F9F2}" type="slidenum">
              <a:rPr lang="fr-CH" smtClean="0"/>
              <a:t>18</a:t>
            </a:fld>
            <a:endParaRPr lang="fr-CH"/>
          </a:p>
        </p:txBody>
      </p:sp>
    </p:spTree>
    <p:extLst>
      <p:ext uri="{BB962C8B-B14F-4D97-AF65-F5344CB8AC3E}">
        <p14:creationId xmlns:p14="http://schemas.microsoft.com/office/powerpoint/2010/main" val="2441578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ccueil">
    <p:spTree>
      <p:nvGrpSpPr>
        <p:cNvPr id="1" name=""/>
        <p:cNvGrpSpPr/>
        <p:nvPr/>
      </p:nvGrpSpPr>
      <p:grpSpPr>
        <a:xfrm>
          <a:off x="0" y="0"/>
          <a:ext cx="0" cy="0"/>
          <a:chOff x="0" y="0"/>
          <a:chExt cx="0" cy="0"/>
        </a:xfrm>
      </p:grpSpPr>
      <p:pic>
        <p:nvPicPr>
          <p:cNvPr id="4" name="Image 3" descr="GrisBienvenue.png"/>
          <p:cNvPicPr>
            <a:picLocks noChangeAspect="1"/>
          </p:cNvPicPr>
          <p:nvPr userDrawn="1"/>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5" name="Espace réservé du texte 4"/>
          <p:cNvSpPr>
            <a:spLocks noGrp="1"/>
          </p:cNvSpPr>
          <p:nvPr>
            <p:ph type="body" sz="quarter" idx="10" hasCustomPrompt="1"/>
          </p:nvPr>
        </p:nvSpPr>
        <p:spPr>
          <a:xfrm>
            <a:off x="539750" y="2492375"/>
            <a:ext cx="7704138" cy="792163"/>
          </a:xfrm>
          <a:prstGeom prst="rect">
            <a:avLst/>
          </a:prstGeom>
        </p:spPr>
        <p:txBody>
          <a:bodyPr anchor="ctr" anchorCtr="0"/>
          <a:lstStyle>
            <a:lvl1pPr marL="0" indent="0">
              <a:buNone/>
              <a:defRPr sz="3500" b="1">
                <a:solidFill>
                  <a:srgbClr val="CB1F50"/>
                </a:solidFill>
                <a:latin typeface="Tahoma" pitchFamily="34" charset="0"/>
                <a:ea typeface="Tahoma" pitchFamily="34" charset="0"/>
                <a:cs typeface="Tahoma" pitchFamily="34" charset="0"/>
              </a:defRPr>
            </a:lvl1pPr>
          </a:lstStyle>
          <a:p>
            <a:pPr lvl="0"/>
            <a:r>
              <a:rPr lang="fr-FR" dirty="0"/>
              <a:t>Bienvenue!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p:spTree>
      <p:nvGrpSpPr>
        <p:cNvPr id="1" name=""/>
        <p:cNvGrpSpPr/>
        <p:nvPr/>
      </p:nvGrpSpPr>
      <p:grpSpPr>
        <a:xfrm>
          <a:off x="0" y="0"/>
          <a:ext cx="0" cy="0"/>
          <a:chOff x="0" y="0"/>
          <a:chExt cx="0" cy="0"/>
        </a:xfrm>
      </p:grpSpPr>
      <p:sp>
        <p:nvSpPr>
          <p:cNvPr id="7" name="Rectangle 6"/>
          <p:cNvSpPr/>
          <p:nvPr userDrawn="1"/>
        </p:nvSpPr>
        <p:spPr>
          <a:xfrm>
            <a:off x="358775" y="962025"/>
            <a:ext cx="8048625" cy="1819275"/>
          </a:xfrm>
          <a:prstGeom prst="rect">
            <a:avLst/>
          </a:prstGeom>
          <a:solidFill>
            <a:srgbClr val="EFEEE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fr-FR">
              <a:solidFill>
                <a:srgbClr val="FFFFFF"/>
              </a:solidFill>
              <a:ea typeface="ＭＳ Ｐゴシック" charset="-128"/>
            </a:endParaRPr>
          </a:p>
        </p:txBody>
      </p:sp>
      <p:sp>
        <p:nvSpPr>
          <p:cNvPr id="6" name="Espace réservé du texte 5"/>
          <p:cNvSpPr>
            <a:spLocks noGrp="1"/>
          </p:cNvSpPr>
          <p:nvPr>
            <p:ph type="body" sz="quarter" idx="10" hasCustomPrompt="1"/>
          </p:nvPr>
        </p:nvSpPr>
        <p:spPr>
          <a:xfrm>
            <a:off x="539750" y="1916113"/>
            <a:ext cx="7704138" cy="720725"/>
          </a:xfrm>
          <a:prstGeom prst="rect">
            <a:avLst/>
          </a:prstGeom>
        </p:spPr>
        <p:txBody>
          <a:bodyPr anchor="ctr" anchorCtr="0"/>
          <a:lstStyle>
            <a:lvl1pPr marL="0" indent="0">
              <a:buNone/>
              <a:defRPr sz="2500" b="1">
                <a:solidFill>
                  <a:srgbClr val="CB1F50"/>
                </a:solidFill>
                <a:latin typeface="Tahoma" pitchFamily="34" charset="0"/>
                <a:ea typeface="Tahoma" pitchFamily="34" charset="0"/>
                <a:cs typeface="Tahoma" pitchFamily="34" charset="0"/>
              </a:defRPr>
            </a:lvl1pPr>
          </a:lstStyle>
          <a:p>
            <a:pPr lvl="0"/>
            <a:r>
              <a:rPr lang="fr-FR" dirty="0"/>
              <a:t>Titre de la présentation</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7" name="Rectangle 6"/>
          <p:cNvSpPr/>
          <p:nvPr userDrawn="1"/>
        </p:nvSpPr>
        <p:spPr>
          <a:xfrm>
            <a:off x="358775" y="962025"/>
            <a:ext cx="8048625" cy="1819275"/>
          </a:xfrm>
          <a:prstGeom prst="rect">
            <a:avLst/>
          </a:prstGeom>
          <a:solidFill>
            <a:srgbClr val="EFEEE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fr-FR">
              <a:solidFill>
                <a:srgbClr val="FFFFFF"/>
              </a:solidFill>
              <a:ea typeface="ＭＳ Ｐゴシック" charset="-128"/>
            </a:endParaRPr>
          </a:p>
        </p:txBody>
      </p:sp>
      <p:sp>
        <p:nvSpPr>
          <p:cNvPr id="9" name="Espace réservé du texte 8"/>
          <p:cNvSpPr>
            <a:spLocks noGrp="1"/>
          </p:cNvSpPr>
          <p:nvPr>
            <p:ph type="body" sz="quarter" idx="10" hasCustomPrompt="1"/>
          </p:nvPr>
        </p:nvSpPr>
        <p:spPr>
          <a:xfrm>
            <a:off x="540000" y="1915200"/>
            <a:ext cx="7704000" cy="720000"/>
          </a:xfrm>
          <a:prstGeom prst="rect">
            <a:avLst/>
          </a:prstGeom>
        </p:spPr>
        <p:txBody>
          <a:bodyPr anchor="ctr" anchorCtr="0"/>
          <a:lstStyle>
            <a:lvl1pPr marL="0" indent="0">
              <a:buNone/>
              <a:defRPr sz="2500" b="1">
                <a:solidFill>
                  <a:srgbClr val="CB1F50"/>
                </a:solidFill>
                <a:latin typeface="Tahoma" pitchFamily="34" charset="0"/>
                <a:ea typeface="Tahoma" pitchFamily="34" charset="0"/>
                <a:cs typeface="Tahoma" pitchFamily="34" charset="0"/>
              </a:defRPr>
            </a:lvl1pPr>
          </a:lstStyle>
          <a:p>
            <a:pPr lvl="0"/>
            <a:r>
              <a:rPr lang="fr-FR" dirty="0"/>
              <a:t>Sommaire</a:t>
            </a:r>
          </a:p>
        </p:txBody>
      </p:sp>
      <p:sp>
        <p:nvSpPr>
          <p:cNvPr id="13" name="Espace réservé du texte 12"/>
          <p:cNvSpPr>
            <a:spLocks noGrp="1"/>
          </p:cNvSpPr>
          <p:nvPr>
            <p:ph type="body" sz="quarter" idx="11" hasCustomPrompt="1"/>
          </p:nvPr>
        </p:nvSpPr>
        <p:spPr>
          <a:xfrm>
            <a:off x="2854800" y="3013200"/>
            <a:ext cx="2606400" cy="2541600"/>
          </a:xfrm>
          <a:prstGeom prst="rect">
            <a:avLst/>
          </a:prstGeom>
        </p:spPr>
        <p:txBody>
          <a:bodyPr/>
          <a:lstStyle>
            <a:lvl1pPr>
              <a:buFont typeface="Tahoma" pitchFamily="34" charset="0"/>
              <a:buChar char="—"/>
              <a:defRPr sz="1400" b="1">
                <a:solidFill>
                  <a:srgbClr val="CB1F50"/>
                </a:solidFill>
                <a:latin typeface="Tahoma" pitchFamily="34" charset="0"/>
                <a:ea typeface="Tahoma" pitchFamily="34" charset="0"/>
                <a:cs typeface="Tahoma" pitchFamily="34" charset="0"/>
              </a:defRPr>
            </a:lvl1pPr>
            <a:lvl2pPr marL="1188000">
              <a:buFontTx/>
              <a:buNone/>
              <a:defRPr sz="1100" b="1">
                <a:solidFill>
                  <a:srgbClr val="707173"/>
                </a:solidFill>
                <a:latin typeface="Tahoma" pitchFamily="34" charset="0"/>
                <a:ea typeface="Tahoma" pitchFamily="34" charset="0"/>
                <a:cs typeface="Tahoma" pitchFamily="34" charset="0"/>
              </a:defRPr>
            </a:lvl2pPr>
            <a:lvl3pPr>
              <a:buFontTx/>
              <a:buNone/>
              <a:defRPr sz="1100" b="1">
                <a:solidFill>
                  <a:srgbClr val="707173"/>
                </a:solidFill>
                <a:latin typeface="Tahoma" pitchFamily="34" charset="0"/>
                <a:ea typeface="Tahoma" pitchFamily="34" charset="0"/>
                <a:cs typeface="Tahoma" pitchFamily="34" charset="0"/>
              </a:defRPr>
            </a:lvl3pPr>
          </a:lstStyle>
          <a:p>
            <a:pPr lvl="0"/>
            <a:r>
              <a:rPr lang="fr-CH" dirty="0"/>
              <a:t>Thème 1</a:t>
            </a:r>
          </a:p>
          <a:p>
            <a:pPr lvl="1"/>
            <a:r>
              <a:rPr lang="fr-CH" dirty="0"/>
              <a:t>Sous-thème</a:t>
            </a:r>
          </a:p>
          <a:p>
            <a:pPr lvl="2"/>
            <a:endParaRPr lang="fr-CH" dirty="0"/>
          </a:p>
          <a:p>
            <a:pPr lvl="0"/>
            <a:r>
              <a:rPr lang="fr-CH" dirty="0"/>
              <a:t>Thème 2</a:t>
            </a:r>
          </a:p>
          <a:p>
            <a:pPr lvl="1"/>
            <a:r>
              <a:rPr lang="fr-CH" dirty="0"/>
              <a:t>Sous-thème</a:t>
            </a:r>
          </a:p>
          <a:p>
            <a:pPr lvl="1"/>
            <a:r>
              <a:rPr lang="fr-CH" dirty="0"/>
              <a:t>Sous-thème</a:t>
            </a:r>
          </a:p>
          <a:p>
            <a:pPr lvl="2"/>
            <a:endParaRPr lang="fr-CH" dirty="0"/>
          </a:p>
          <a:p>
            <a:pPr lvl="0"/>
            <a:r>
              <a:rPr lang="fr-CH" dirty="0"/>
              <a:t>Thème 3</a:t>
            </a:r>
          </a:p>
          <a:p>
            <a:pPr lvl="0"/>
            <a:r>
              <a:rPr lang="fr-CH" dirty="0"/>
              <a:t>Thème 4</a:t>
            </a:r>
          </a:p>
          <a:p>
            <a:pPr lvl="0"/>
            <a:r>
              <a:rPr lang="fr-CH" dirty="0"/>
              <a:t>Thème 5</a:t>
            </a:r>
          </a:p>
        </p:txBody>
      </p:sp>
      <p:sp>
        <p:nvSpPr>
          <p:cNvPr id="15" name="Espace réservé du texte 14"/>
          <p:cNvSpPr>
            <a:spLocks noGrp="1"/>
          </p:cNvSpPr>
          <p:nvPr>
            <p:ph type="body" sz="quarter" idx="12" hasCustomPrompt="1"/>
          </p:nvPr>
        </p:nvSpPr>
        <p:spPr>
          <a:xfrm>
            <a:off x="5461200" y="3013200"/>
            <a:ext cx="2606400" cy="2541600"/>
          </a:xfrm>
          <a:prstGeom prst="rect">
            <a:avLst/>
          </a:prstGeom>
        </p:spPr>
        <p:txBody>
          <a:bodyPr/>
          <a:lstStyle>
            <a:lvl1pPr>
              <a:buFont typeface="Tahoma" pitchFamily="34" charset="0"/>
              <a:buChar char="—"/>
              <a:defRPr sz="1400" b="1">
                <a:solidFill>
                  <a:srgbClr val="CB1F50"/>
                </a:solidFill>
                <a:latin typeface="Tahoma" pitchFamily="34" charset="0"/>
                <a:ea typeface="Tahoma" pitchFamily="34" charset="0"/>
                <a:cs typeface="Tahoma" pitchFamily="34" charset="0"/>
              </a:defRPr>
            </a:lvl1pPr>
            <a:lvl2pPr marL="1188000">
              <a:buNone/>
              <a:defRPr sz="1100" b="1">
                <a:solidFill>
                  <a:srgbClr val="707173"/>
                </a:solidFill>
                <a:latin typeface="Tahoma" pitchFamily="34" charset="0"/>
                <a:ea typeface="Tahoma" pitchFamily="34" charset="0"/>
                <a:cs typeface="Tahoma" pitchFamily="34" charset="0"/>
              </a:defRPr>
            </a:lvl2pPr>
            <a:lvl3pPr>
              <a:buFontTx/>
              <a:buNone/>
              <a:defRPr sz="1100" b="1">
                <a:solidFill>
                  <a:srgbClr val="707173"/>
                </a:solidFill>
                <a:latin typeface="Tahoma" pitchFamily="34" charset="0"/>
                <a:ea typeface="Tahoma" pitchFamily="34" charset="0"/>
                <a:cs typeface="Tahoma" pitchFamily="34" charset="0"/>
              </a:defRPr>
            </a:lvl3pPr>
          </a:lstStyle>
          <a:p>
            <a:pPr lvl="0"/>
            <a:r>
              <a:rPr lang="fr-FR" dirty="0"/>
              <a:t>Thème 6</a:t>
            </a:r>
          </a:p>
          <a:p>
            <a:pPr lvl="1"/>
            <a:r>
              <a:rPr lang="fr-CH" b="1" dirty="0">
                <a:solidFill>
                  <a:srgbClr val="707173"/>
                </a:solidFill>
              </a:rPr>
              <a:t>Sous-thème</a:t>
            </a:r>
          </a:p>
          <a:p>
            <a:pPr lvl="2"/>
            <a:endParaRPr lang="fr-CH" b="1" dirty="0">
              <a:solidFill>
                <a:srgbClr val="707173"/>
              </a:solidFill>
            </a:endParaRPr>
          </a:p>
          <a:p>
            <a:pPr lvl="0"/>
            <a:r>
              <a:rPr lang="fr-CH" dirty="0"/>
              <a:t>Thème 7</a:t>
            </a:r>
          </a:p>
          <a:p>
            <a:pPr lvl="1"/>
            <a:r>
              <a:rPr lang="fr-CH" dirty="0"/>
              <a:t>Sous-thème</a:t>
            </a:r>
          </a:p>
          <a:p>
            <a:pPr lvl="1"/>
            <a:r>
              <a:rPr lang="fr-CH" dirty="0"/>
              <a:t>Sous-thème</a:t>
            </a:r>
          </a:p>
          <a:p>
            <a:pPr lvl="2"/>
            <a:endParaRPr lang="fr-CH" dirty="0"/>
          </a:p>
          <a:p>
            <a:pPr lvl="0"/>
            <a:r>
              <a:rPr lang="fr-CH" dirty="0"/>
              <a:t>Thème 8</a:t>
            </a:r>
          </a:p>
          <a:p>
            <a:pPr lvl="0"/>
            <a:r>
              <a:rPr lang="fr-CH" dirty="0"/>
              <a:t>Thème 9</a:t>
            </a:r>
          </a:p>
          <a:p>
            <a:pPr lvl="0"/>
            <a:r>
              <a:rPr lang="fr-CH" dirty="0"/>
              <a:t>Thème 10</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e simple">
    <p:spTree>
      <p:nvGrpSpPr>
        <p:cNvPr id="1" name=""/>
        <p:cNvGrpSpPr/>
        <p:nvPr/>
      </p:nvGrpSpPr>
      <p:grpSpPr>
        <a:xfrm>
          <a:off x="0" y="0"/>
          <a:ext cx="0" cy="0"/>
          <a:chOff x="0" y="0"/>
          <a:chExt cx="0" cy="0"/>
        </a:xfrm>
      </p:grpSpPr>
      <p:sp>
        <p:nvSpPr>
          <p:cNvPr id="3" name="Rectangle 2"/>
          <p:cNvSpPr/>
          <p:nvPr userDrawn="1"/>
        </p:nvSpPr>
        <p:spPr>
          <a:xfrm>
            <a:off x="358775" y="962025"/>
            <a:ext cx="8048625" cy="1006475"/>
          </a:xfrm>
          <a:prstGeom prst="rect">
            <a:avLst/>
          </a:prstGeom>
          <a:solidFill>
            <a:srgbClr val="EFEEE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fr-FR">
              <a:solidFill>
                <a:srgbClr val="FFFFFF"/>
              </a:solidFill>
              <a:ea typeface="ＭＳ Ｐゴシック" charset="-128"/>
            </a:endParaRPr>
          </a:p>
        </p:txBody>
      </p:sp>
      <p:sp>
        <p:nvSpPr>
          <p:cNvPr id="4" name="Espace réservé du texte 4"/>
          <p:cNvSpPr>
            <a:spLocks noGrp="1"/>
          </p:cNvSpPr>
          <p:nvPr>
            <p:ph type="body" sz="quarter" idx="10" hasCustomPrompt="1"/>
          </p:nvPr>
        </p:nvSpPr>
        <p:spPr>
          <a:xfrm>
            <a:off x="539552" y="1124744"/>
            <a:ext cx="7704000" cy="720000"/>
          </a:xfrm>
          <a:prstGeom prst="rect">
            <a:avLst/>
          </a:prstGeom>
        </p:spPr>
        <p:txBody>
          <a:bodyPr anchor="ctr" anchorCtr="0"/>
          <a:lstStyle>
            <a:lvl1pPr marL="0" indent="0">
              <a:buNone/>
              <a:defRPr sz="2500" b="1">
                <a:solidFill>
                  <a:srgbClr val="CB1F50"/>
                </a:solidFill>
                <a:latin typeface="Tahoma" pitchFamily="34" charset="0"/>
                <a:ea typeface="Tahoma" pitchFamily="34" charset="0"/>
                <a:cs typeface="Tahoma" pitchFamily="34" charset="0"/>
              </a:defRPr>
            </a:lvl1pPr>
          </a:lstStyle>
          <a:p>
            <a:pPr lvl="0"/>
            <a:r>
              <a:rPr lang="fr-FR" dirty="0"/>
              <a:t>Titre</a:t>
            </a:r>
            <a:endParaRPr lang="fr-CH" dirty="0"/>
          </a:p>
        </p:txBody>
      </p:sp>
      <p:sp>
        <p:nvSpPr>
          <p:cNvPr id="6" name="Espace réservé du texte 5"/>
          <p:cNvSpPr>
            <a:spLocks noGrp="1"/>
          </p:cNvSpPr>
          <p:nvPr>
            <p:ph type="body" sz="quarter" idx="11" hasCustomPrompt="1"/>
          </p:nvPr>
        </p:nvSpPr>
        <p:spPr>
          <a:xfrm>
            <a:off x="540000" y="2059200"/>
            <a:ext cx="7704000" cy="4104000"/>
          </a:xfrm>
          <a:prstGeom prst="rect">
            <a:avLst/>
          </a:prstGeom>
        </p:spPr>
        <p:txBody>
          <a:bodyPr/>
          <a:lstStyle>
            <a:lvl1pPr marL="0" indent="0">
              <a:buNone/>
              <a:defRPr>
                <a:solidFill>
                  <a:srgbClr val="CB1F50"/>
                </a:solidFill>
                <a:latin typeface="Tahoma" pitchFamily="34" charset="0"/>
                <a:ea typeface="Tahoma" pitchFamily="34" charset="0"/>
                <a:cs typeface="Tahoma" pitchFamily="34" charset="0"/>
              </a:defRPr>
            </a:lvl1pPr>
          </a:lstStyle>
          <a:p>
            <a:pPr lvl="0"/>
            <a:r>
              <a:rPr lang="fr-CH" dirty="0"/>
              <a:t>Texte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eux colonnes">
    <p:spTree>
      <p:nvGrpSpPr>
        <p:cNvPr id="1" name=""/>
        <p:cNvGrpSpPr/>
        <p:nvPr/>
      </p:nvGrpSpPr>
      <p:grpSpPr>
        <a:xfrm>
          <a:off x="0" y="0"/>
          <a:ext cx="0" cy="0"/>
          <a:chOff x="0" y="0"/>
          <a:chExt cx="0" cy="0"/>
        </a:xfrm>
      </p:grpSpPr>
      <p:sp>
        <p:nvSpPr>
          <p:cNvPr id="10" name="Rectangle 9"/>
          <p:cNvSpPr/>
          <p:nvPr userDrawn="1"/>
        </p:nvSpPr>
        <p:spPr>
          <a:xfrm>
            <a:off x="358775" y="962025"/>
            <a:ext cx="8048625" cy="1006475"/>
          </a:xfrm>
          <a:prstGeom prst="rect">
            <a:avLst/>
          </a:prstGeom>
          <a:solidFill>
            <a:srgbClr val="EFEEE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fr-FR">
              <a:solidFill>
                <a:srgbClr val="FFFFFF"/>
              </a:solidFill>
              <a:ea typeface="ＭＳ Ｐゴシック" charset="-128"/>
            </a:endParaRPr>
          </a:p>
        </p:txBody>
      </p:sp>
      <p:sp>
        <p:nvSpPr>
          <p:cNvPr id="7" name="Espace réservé du texte 6"/>
          <p:cNvSpPr>
            <a:spLocks noGrp="1"/>
          </p:cNvSpPr>
          <p:nvPr>
            <p:ph type="body" sz="quarter" idx="10" hasCustomPrompt="1"/>
          </p:nvPr>
        </p:nvSpPr>
        <p:spPr>
          <a:xfrm>
            <a:off x="540000" y="1123200"/>
            <a:ext cx="7704000" cy="720000"/>
          </a:xfrm>
          <a:prstGeom prst="rect">
            <a:avLst/>
          </a:prstGeom>
        </p:spPr>
        <p:txBody>
          <a:bodyPr anchor="ctr" anchorCtr="0"/>
          <a:lstStyle>
            <a:lvl1pPr marL="0" indent="0">
              <a:buNone/>
              <a:defRPr sz="2500" b="1">
                <a:solidFill>
                  <a:srgbClr val="CB1F50"/>
                </a:solidFill>
                <a:latin typeface="Tahoma" pitchFamily="34" charset="0"/>
                <a:ea typeface="Tahoma" pitchFamily="34" charset="0"/>
                <a:cs typeface="Tahoma" pitchFamily="34" charset="0"/>
              </a:defRPr>
            </a:lvl1pPr>
          </a:lstStyle>
          <a:p>
            <a:pPr lvl="0"/>
            <a:r>
              <a:rPr lang="fr-FR" dirty="0"/>
              <a:t>Deux colonnes</a:t>
            </a:r>
          </a:p>
        </p:txBody>
      </p:sp>
      <p:sp>
        <p:nvSpPr>
          <p:cNvPr id="9" name="Espace réservé du texte 8"/>
          <p:cNvSpPr>
            <a:spLocks noGrp="1"/>
          </p:cNvSpPr>
          <p:nvPr>
            <p:ph type="body" sz="quarter" idx="11" hasCustomPrompt="1"/>
          </p:nvPr>
        </p:nvSpPr>
        <p:spPr>
          <a:xfrm>
            <a:off x="1728000" y="2170800"/>
            <a:ext cx="3124800" cy="1656829"/>
          </a:xfrm>
          <a:prstGeom prst="rect">
            <a:avLst/>
          </a:prstGeom>
        </p:spPr>
        <p:txBody>
          <a:bodyPr/>
          <a:lstStyle>
            <a:lvl1pPr>
              <a:buFont typeface="Tahoma" pitchFamily="34" charset="0"/>
              <a:buChar char="—"/>
              <a:defRPr sz="1200" b="1" baseline="0">
                <a:solidFill>
                  <a:srgbClr val="CB1F50"/>
                </a:solidFill>
                <a:latin typeface="Tahoma" pitchFamily="34" charset="0"/>
                <a:ea typeface="Tahoma" pitchFamily="34" charset="0"/>
                <a:cs typeface="Tahoma" pitchFamily="34" charset="0"/>
              </a:defRPr>
            </a:lvl1pPr>
            <a:lvl2pPr marL="648000">
              <a:buNone/>
              <a:defRPr sz="1000">
                <a:solidFill>
                  <a:srgbClr val="707173"/>
                </a:solidFill>
                <a:latin typeface="Tahoma" pitchFamily="34" charset="0"/>
                <a:ea typeface="Tahoma" pitchFamily="34" charset="0"/>
                <a:cs typeface="Tahoma" pitchFamily="34" charset="0"/>
              </a:defRPr>
            </a:lvl2pPr>
          </a:lstStyle>
          <a:p>
            <a:pPr lvl="0"/>
            <a:r>
              <a:rPr lang="fr-FR" dirty="0"/>
              <a:t>Titre 1</a:t>
            </a:r>
          </a:p>
          <a:p>
            <a:pPr lvl="1"/>
            <a:r>
              <a:rPr lang="fr-FR" dirty="0"/>
              <a:t>Texte 1</a:t>
            </a:r>
          </a:p>
          <a:p>
            <a:pPr lvl="1"/>
            <a:endParaRPr lang="fr-FR" dirty="0"/>
          </a:p>
          <a:p>
            <a:pPr lvl="0"/>
            <a:r>
              <a:rPr lang="fr-CH" dirty="0"/>
              <a:t>Titre 2</a:t>
            </a:r>
          </a:p>
          <a:p>
            <a:pPr lvl="1"/>
            <a:r>
              <a:rPr lang="fr-CH" dirty="0"/>
              <a:t>Texte 2</a:t>
            </a:r>
          </a:p>
          <a:p>
            <a:pPr lvl="1"/>
            <a:endParaRPr lang="fr-CH" dirty="0"/>
          </a:p>
          <a:p>
            <a:pPr lvl="0"/>
            <a:r>
              <a:rPr lang="fr-CH" dirty="0"/>
              <a:t>Titre 3</a:t>
            </a:r>
          </a:p>
          <a:p>
            <a:pPr lvl="1"/>
            <a:r>
              <a:rPr lang="fr-CH" dirty="0"/>
              <a:t>Texte 3</a:t>
            </a:r>
          </a:p>
        </p:txBody>
      </p:sp>
      <p:sp>
        <p:nvSpPr>
          <p:cNvPr id="15" name="Espace réservé du texte 14"/>
          <p:cNvSpPr>
            <a:spLocks noGrp="1"/>
          </p:cNvSpPr>
          <p:nvPr>
            <p:ph type="body" sz="quarter" idx="12" hasCustomPrompt="1"/>
          </p:nvPr>
        </p:nvSpPr>
        <p:spPr>
          <a:xfrm>
            <a:off x="5068800" y="2170800"/>
            <a:ext cx="3124800" cy="1656000"/>
          </a:xfrm>
          <a:prstGeom prst="rect">
            <a:avLst/>
          </a:prstGeom>
        </p:spPr>
        <p:txBody>
          <a:bodyPr/>
          <a:lstStyle>
            <a:lvl1pPr>
              <a:buFont typeface="Tahoma" pitchFamily="34" charset="0"/>
              <a:buChar char="—"/>
              <a:defRPr sz="1200" b="1">
                <a:solidFill>
                  <a:srgbClr val="CB1F50"/>
                </a:solidFill>
                <a:latin typeface="Tahoma" pitchFamily="34" charset="0"/>
                <a:ea typeface="Tahoma" pitchFamily="34" charset="0"/>
                <a:cs typeface="Tahoma" pitchFamily="34" charset="0"/>
              </a:defRPr>
            </a:lvl1pPr>
            <a:lvl2pPr marL="648000">
              <a:buFontTx/>
              <a:buNone/>
              <a:defRPr sz="1000">
                <a:solidFill>
                  <a:srgbClr val="707173"/>
                </a:solidFill>
                <a:latin typeface="Tahoma" pitchFamily="34" charset="0"/>
                <a:ea typeface="Tahoma" pitchFamily="34" charset="0"/>
                <a:cs typeface="Tahoma" pitchFamily="34" charset="0"/>
              </a:defRPr>
            </a:lvl2pPr>
          </a:lstStyle>
          <a:p>
            <a:pPr lvl="0"/>
            <a:r>
              <a:rPr lang="fr-FR" dirty="0"/>
              <a:t>Titre 4</a:t>
            </a:r>
          </a:p>
          <a:p>
            <a:pPr lvl="1"/>
            <a:r>
              <a:rPr lang="fr-CH" sz="1000" dirty="0">
                <a:solidFill>
                  <a:srgbClr val="707173"/>
                </a:solidFill>
                <a:latin typeface="Tahoma" pitchFamily="34" charset="0"/>
                <a:ea typeface="Tahoma" pitchFamily="34" charset="0"/>
                <a:cs typeface="Tahoma" pitchFamily="34" charset="0"/>
              </a:rPr>
              <a:t>Texte 4</a:t>
            </a:r>
          </a:p>
          <a:p>
            <a:pPr lvl="1"/>
            <a:endParaRPr lang="fr-CH" sz="1000" dirty="0">
              <a:solidFill>
                <a:srgbClr val="707173"/>
              </a:solidFill>
              <a:latin typeface="Tahoma" pitchFamily="34" charset="0"/>
              <a:ea typeface="Tahoma" pitchFamily="34" charset="0"/>
              <a:cs typeface="Tahoma" pitchFamily="34" charset="0"/>
            </a:endParaRPr>
          </a:p>
          <a:p>
            <a:pPr lvl="0"/>
            <a:r>
              <a:rPr lang="fr-CH" dirty="0"/>
              <a:t>Titre 5</a:t>
            </a:r>
          </a:p>
          <a:p>
            <a:pPr lvl="1"/>
            <a:r>
              <a:rPr lang="fr-CH" dirty="0"/>
              <a:t>Texte 5</a:t>
            </a:r>
          </a:p>
          <a:p>
            <a:pPr lvl="1"/>
            <a:endParaRPr lang="fr-CH" dirty="0"/>
          </a:p>
          <a:p>
            <a:pPr lvl="0"/>
            <a:r>
              <a:rPr lang="fr-CH" dirty="0"/>
              <a:t>Titre 6</a:t>
            </a:r>
          </a:p>
          <a:p>
            <a:pPr lvl="1"/>
            <a:r>
              <a:rPr lang="fr-CH" dirty="0"/>
              <a:t>Texte 6</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Vide I">
    <p:spTree>
      <p:nvGrpSpPr>
        <p:cNvPr id="1" name=""/>
        <p:cNvGrpSpPr/>
        <p:nvPr/>
      </p:nvGrpSpPr>
      <p:grpSpPr>
        <a:xfrm>
          <a:off x="0" y="0"/>
          <a:ext cx="0" cy="0"/>
          <a:chOff x="0" y="0"/>
          <a:chExt cx="0" cy="0"/>
        </a:xfrm>
      </p:grpSpPr>
      <p:sp>
        <p:nvSpPr>
          <p:cNvPr id="8" name="Rectangle 7"/>
          <p:cNvSpPr/>
          <p:nvPr userDrawn="1"/>
        </p:nvSpPr>
        <p:spPr>
          <a:xfrm>
            <a:off x="358775" y="962025"/>
            <a:ext cx="8048625" cy="1006475"/>
          </a:xfrm>
          <a:prstGeom prst="rect">
            <a:avLst/>
          </a:prstGeom>
          <a:solidFill>
            <a:srgbClr val="EFEEE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fr-FR">
              <a:solidFill>
                <a:srgbClr val="FFFFFF"/>
              </a:solidFill>
              <a:ea typeface="ＭＳ Ｐゴシック" charset="-128"/>
            </a:endParaRPr>
          </a:p>
        </p:txBody>
      </p:sp>
      <p:sp>
        <p:nvSpPr>
          <p:cNvPr id="5" name="Espace réservé du texte 4"/>
          <p:cNvSpPr>
            <a:spLocks noGrp="1"/>
          </p:cNvSpPr>
          <p:nvPr>
            <p:ph type="body" sz="quarter" idx="10" hasCustomPrompt="1"/>
          </p:nvPr>
        </p:nvSpPr>
        <p:spPr>
          <a:xfrm>
            <a:off x="539552" y="1124744"/>
            <a:ext cx="7704000" cy="720000"/>
          </a:xfrm>
          <a:prstGeom prst="rect">
            <a:avLst/>
          </a:prstGeom>
        </p:spPr>
        <p:txBody>
          <a:bodyPr anchor="ctr" anchorCtr="0"/>
          <a:lstStyle>
            <a:lvl1pPr marL="0" indent="0">
              <a:buNone/>
              <a:defRPr sz="2500" b="1">
                <a:solidFill>
                  <a:srgbClr val="CB1F50"/>
                </a:solidFill>
                <a:latin typeface="Tahoma" pitchFamily="34" charset="0"/>
                <a:ea typeface="Tahoma" pitchFamily="34" charset="0"/>
                <a:cs typeface="Tahoma" pitchFamily="34" charset="0"/>
              </a:defRPr>
            </a:lvl1pPr>
          </a:lstStyle>
          <a:p>
            <a:pPr lvl="0"/>
            <a:r>
              <a:rPr lang="fr-FR" dirty="0"/>
              <a:t>Vide</a:t>
            </a:r>
            <a:endParaRPr lang="fr-CH"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Vide II">
    <p:spTree>
      <p:nvGrpSpPr>
        <p:cNvPr id="1" name=""/>
        <p:cNvGrpSpPr/>
        <p:nvPr/>
      </p:nvGrpSpPr>
      <p:grpSpPr>
        <a:xfrm>
          <a:off x="0" y="0"/>
          <a:ext cx="0" cy="0"/>
          <a:chOff x="0" y="0"/>
          <a:chExt cx="0" cy="0"/>
        </a:xfrm>
      </p:grpSpPr>
      <p:sp>
        <p:nvSpPr>
          <p:cNvPr id="4" name="Rectangle 3"/>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CH"/>
          </a:p>
        </p:txBody>
      </p:sp>
      <p:pic>
        <p:nvPicPr>
          <p:cNvPr id="6" name="Image 5" descr="ING.gif"/>
          <p:cNvPicPr>
            <a:picLocks noChangeAspect="1"/>
          </p:cNvPicPr>
          <p:nvPr userDrawn="1"/>
        </p:nvPicPr>
        <p:blipFill>
          <a:blip r:embed="rId2" cstate="print"/>
          <a:stretch>
            <a:fillRect/>
          </a:stretch>
        </p:blipFill>
        <p:spPr>
          <a:xfrm>
            <a:off x="0" y="0"/>
            <a:ext cx="9144000" cy="788931"/>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vec image">
    <p:spTree>
      <p:nvGrpSpPr>
        <p:cNvPr id="1" name=""/>
        <p:cNvGrpSpPr/>
        <p:nvPr/>
      </p:nvGrpSpPr>
      <p:grpSpPr>
        <a:xfrm>
          <a:off x="0" y="0"/>
          <a:ext cx="0" cy="0"/>
          <a:chOff x="0" y="0"/>
          <a:chExt cx="0" cy="0"/>
        </a:xfrm>
      </p:grpSpPr>
      <p:sp>
        <p:nvSpPr>
          <p:cNvPr id="6" name="Rectangle 5"/>
          <p:cNvSpPr/>
          <p:nvPr userDrawn="1"/>
        </p:nvSpPr>
        <p:spPr>
          <a:xfrm>
            <a:off x="358775" y="962025"/>
            <a:ext cx="8048625" cy="3902075"/>
          </a:xfrm>
          <a:prstGeom prst="rect">
            <a:avLst/>
          </a:prstGeom>
          <a:solidFill>
            <a:srgbClr val="EFEEE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fr-FR">
              <a:solidFill>
                <a:srgbClr val="FFFFFF"/>
              </a:solidFill>
              <a:ea typeface="ＭＳ Ｐゴシック" charset="-128"/>
            </a:endParaRPr>
          </a:p>
        </p:txBody>
      </p:sp>
      <p:sp>
        <p:nvSpPr>
          <p:cNvPr id="9" name="Espace réservé du texte 8"/>
          <p:cNvSpPr>
            <a:spLocks noGrp="1"/>
          </p:cNvSpPr>
          <p:nvPr>
            <p:ph type="body" sz="quarter" idx="10" hasCustomPrompt="1"/>
          </p:nvPr>
        </p:nvSpPr>
        <p:spPr>
          <a:xfrm>
            <a:off x="1800000" y="5050800"/>
            <a:ext cx="4827600" cy="360040"/>
          </a:xfrm>
          <a:prstGeom prst="rect">
            <a:avLst/>
          </a:prstGeom>
        </p:spPr>
        <p:txBody>
          <a:bodyPr/>
          <a:lstStyle>
            <a:lvl1pPr marL="0" indent="0">
              <a:buNone/>
              <a:defRPr sz="2000" b="1" baseline="0">
                <a:solidFill>
                  <a:srgbClr val="CB1F50"/>
                </a:solidFill>
                <a:latin typeface="Tahoma" pitchFamily="34" charset="0"/>
                <a:ea typeface="Tahoma" pitchFamily="34" charset="0"/>
                <a:cs typeface="Tahoma" pitchFamily="34" charset="0"/>
              </a:defRPr>
            </a:lvl1pPr>
          </a:lstStyle>
          <a:p>
            <a:pPr lvl="0"/>
            <a:r>
              <a:rPr lang="fr-CH" dirty="0"/>
              <a:t>Avec image</a:t>
            </a:r>
          </a:p>
        </p:txBody>
      </p:sp>
      <p:sp>
        <p:nvSpPr>
          <p:cNvPr id="11" name="Espace réservé du texte 10"/>
          <p:cNvSpPr>
            <a:spLocks noGrp="1"/>
          </p:cNvSpPr>
          <p:nvPr>
            <p:ph type="body" sz="quarter" idx="11" hasCustomPrompt="1"/>
          </p:nvPr>
        </p:nvSpPr>
        <p:spPr>
          <a:xfrm>
            <a:off x="1800000" y="5410800"/>
            <a:ext cx="4827600" cy="360362"/>
          </a:xfrm>
          <a:prstGeom prst="rect">
            <a:avLst/>
          </a:prstGeom>
        </p:spPr>
        <p:txBody>
          <a:bodyPr/>
          <a:lstStyle>
            <a:lvl1pPr marL="0" indent="0">
              <a:buNone/>
              <a:defRPr sz="900">
                <a:solidFill>
                  <a:srgbClr val="707173"/>
                </a:solidFill>
                <a:latin typeface="Tahoma" pitchFamily="34" charset="0"/>
                <a:ea typeface="Tahoma" pitchFamily="34" charset="0"/>
                <a:cs typeface="Tahoma" pitchFamily="34" charset="0"/>
              </a:defRPr>
            </a:lvl1pPr>
            <a:lvl5pPr>
              <a:buNone/>
              <a:defRPr/>
            </a:lvl5pPr>
          </a:lstStyle>
          <a:p>
            <a:pPr lvl="0"/>
            <a:r>
              <a:rPr lang="fr-CH" sz="900" dirty="0">
                <a:solidFill>
                  <a:srgbClr val="707173"/>
                </a:solidFill>
                <a:latin typeface="Tahoma" pitchFamily="34" charset="0"/>
                <a:ea typeface="Tahoma" pitchFamily="34" charset="0"/>
                <a:cs typeface="Tahoma" pitchFamily="34" charset="0"/>
              </a:rPr>
              <a:t>Texte</a:t>
            </a:r>
            <a:endParaRPr lang="fr-CH" dirty="0"/>
          </a:p>
        </p:txBody>
      </p:sp>
      <p:sp>
        <p:nvSpPr>
          <p:cNvPr id="13" name="Espace réservé pour une image  12"/>
          <p:cNvSpPr>
            <a:spLocks noGrp="1"/>
          </p:cNvSpPr>
          <p:nvPr>
            <p:ph type="pic" sz="quarter" idx="12"/>
          </p:nvPr>
        </p:nvSpPr>
        <p:spPr>
          <a:xfrm>
            <a:off x="1800000" y="961200"/>
            <a:ext cx="6624000" cy="3740400"/>
          </a:xfrm>
          <a:prstGeom prst="rect">
            <a:avLst/>
          </a:prstGeom>
        </p:spPr>
        <p:txBody>
          <a:bodyPr/>
          <a:lstStyle>
            <a:lvl1pPr>
              <a:buNone/>
              <a:defRPr/>
            </a:lvl1pPr>
          </a:lstStyle>
          <a:p>
            <a:r>
              <a:rPr lang="fr-FR"/>
              <a:t>Cliquez sur l'icône pour ajouter une image</a:t>
            </a:r>
            <a:endParaRPr lang="fr-CH"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10" cstate="print"/>
          <a:srcRect/>
          <a:stretch>
            <a:fillRect/>
          </a:stretch>
        </p:blipFill>
        <p:spPr bwMode="auto">
          <a:xfrm>
            <a:off x="0" y="0"/>
            <a:ext cx="9144000" cy="6862474"/>
          </a:xfrm>
          <a:prstGeom prst="rect">
            <a:avLst/>
          </a:prstGeom>
          <a:noFill/>
          <a:ln w="9525">
            <a:noFill/>
            <a:miter lim="800000"/>
            <a:headEnd/>
            <a:tailEnd/>
          </a:ln>
          <a:effec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5" r:id="rId4"/>
    <p:sldLayoutId id="2147483653" r:id="rId5"/>
    <p:sldLayoutId id="2147483652" r:id="rId6"/>
    <p:sldLayoutId id="2147483656" r:id="rId7"/>
    <p:sldLayoutId id="2147483654" r:id="rId8"/>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hyperlink" Target="https://www.youtube.com/watch?time_continue=45&amp;v=lD2HQcxeNoA" TargetMode="External"/><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hyperlink" Target="https://www.youtube.com/watch?v=6Wmw4lUHlX8"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www.mecademic.com/resources/Singularities/Robot-singularities" TargetMode="External"/><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p:txBody>
          <a:bodyPr/>
          <a:lstStyle/>
          <a:p>
            <a:r>
              <a:rPr lang="fr-CH" dirty="0"/>
              <a:t>Cours de Robotique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p:cNvSpPr>
            <a:spLocks noGrp="1"/>
          </p:cNvSpPr>
          <p:nvPr>
            <p:ph type="body" sz="quarter" idx="10"/>
          </p:nvPr>
        </p:nvSpPr>
        <p:spPr/>
        <p:txBody>
          <a:bodyPr/>
          <a:lstStyle/>
          <a:p>
            <a:r>
              <a:rPr lang="fr-CH" dirty="0"/>
              <a:t>Sommaire</a:t>
            </a:r>
          </a:p>
        </p:txBody>
      </p:sp>
      <p:sp>
        <p:nvSpPr>
          <p:cNvPr id="4" name="Espace réservé du texte 3"/>
          <p:cNvSpPr>
            <a:spLocks noGrp="1"/>
          </p:cNvSpPr>
          <p:nvPr>
            <p:ph type="body" sz="quarter" idx="11"/>
          </p:nvPr>
        </p:nvSpPr>
        <p:spPr>
          <a:xfrm>
            <a:off x="540000" y="2780928"/>
            <a:ext cx="5173584" cy="3240360"/>
          </a:xfrm>
        </p:spPr>
        <p:txBody>
          <a:bodyPr/>
          <a:lstStyle/>
          <a:p>
            <a:r>
              <a:rPr lang="fr-CH" sz="2400" dirty="0"/>
              <a:t>Configurations Robot</a:t>
            </a:r>
          </a:p>
          <a:p>
            <a:r>
              <a:rPr lang="fr-CH" sz="2400" dirty="0"/>
              <a:t>Singularité</a:t>
            </a:r>
          </a:p>
          <a:p>
            <a:pPr marL="0" indent="0">
              <a:buNone/>
            </a:pPr>
            <a:endParaRPr lang="fr-CH" sz="2400" dirty="0"/>
          </a:p>
          <a:p>
            <a:endParaRPr lang="fr-CH" dirty="0"/>
          </a:p>
        </p:txBody>
      </p:sp>
    </p:spTree>
    <p:extLst>
      <p:ext uri="{BB962C8B-B14F-4D97-AF65-F5344CB8AC3E}">
        <p14:creationId xmlns:p14="http://schemas.microsoft.com/office/powerpoint/2010/main" val="4143667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p:cNvSpPr>
            <a:spLocks noGrp="1"/>
          </p:cNvSpPr>
          <p:nvPr>
            <p:ph type="body" sz="quarter" idx="10"/>
          </p:nvPr>
        </p:nvSpPr>
        <p:spPr/>
        <p:txBody>
          <a:bodyPr/>
          <a:lstStyle/>
          <a:p>
            <a:r>
              <a:rPr lang="fr-CH" dirty="0"/>
              <a:t>Configuration du Robot</a:t>
            </a:r>
          </a:p>
        </p:txBody>
      </p:sp>
      <p:pic>
        <p:nvPicPr>
          <p:cNvPr id="9" name="Image 8"/>
          <p:cNvPicPr>
            <a:picLocks noChangeAspect="1"/>
          </p:cNvPicPr>
          <p:nvPr/>
        </p:nvPicPr>
        <p:blipFill>
          <a:blip r:embed="rId3"/>
          <a:stretch>
            <a:fillRect/>
          </a:stretch>
        </p:blipFill>
        <p:spPr>
          <a:xfrm>
            <a:off x="737965" y="2811326"/>
            <a:ext cx="7307174" cy="3096431"/>
          </a:xfrm>
          <a:prstGeom prst="rect">
            <a:avLst/>
          </a:prstGeom>
        </p:spPr>
      </p:pic>
      <p:sp>
        <p:nvSpPr>
          <p:cNvPr id="6" name="Espace réservé du texte 5"/>
          <p:cNvSpPr>
            <a:spLocks noGrp="1"/>
          </p:cNvSpPr>
          <p:nvPr>
            <p:ph type="body" sz="quarter" idx="11"/>
          </p:nvPr>
        </p:nvSpPr>
        <p:spPr/>
        <p:txBody>
          <a:bodyPr/>
          <a:lstStyle/>
          <a:p>
            <a:r>
              <a:rPr lang="fr-CH" dirty="0"/>
              <a:t>Robot </a:t>
            </a:r>
            <a:r>
              <a:rPr lang="fr-CH" dirty="0" err="1"/>
              <a:t>Scara</a:t>
            </a:r>
            <a:endParaRPr lang="fr-CH" dirty="0"/>
          </a:p>
        </p:txBody>
      </p:sp>
    </p:spTree>
    <p:extLst>
      <p:ext uri="{BB962C8B-B14F-4D97-AF65-F5344CB8AC3E}">
        <p14:creationId xmlns:p14="http://schemas.microsoft.com/office/powerpoint/2010/main" val="581494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p:cNvSpPr>
            <a:spLocks noGrp="1"/>
          </p:cNvSpPr>
          <p:nvPr>
            <p:ph type="body" sz="quarter" idx="10"/>
          </p:nvPr>
        </p:nvSpPr>
        <p:spPr/>
        <p:txBody>
          <a:bodyPr/>
          <a:lstStyle/>
          <a:p>
            <a:r>
              <a:rPr lang="fr-CH" dirty="0"/>
              <a:t>Configuration du Robot</a:t>
            </a:r>
          </a:p>
        </p:txBody>
      </p:sp>
      <p:sp>
        <p:nvSpPr>
          <p:cNvPr id="6" name="Espace réservé du texte 5"/>
          <p:cNvSpPr>
            <a:spLocks noGrp="1"/>
          </p:cNvSpPr>
          <p:nvPr>
            <p:ph type="body" sz="quarter" idx="11"/>
          </p:nvPr>
        </p:nvSpPr>
        <p:spPr/>
        <p:txBody>
          <a:bodyPr/>
          <a:lstStyle/>
          <a:p>
            <a:r>
              <a:rPr lang="fr-CH" dirty="0"/>
              <a:t>1°</a:t>
            </a:r>
          </a:p>
          <a:p>
            <a:endParaRPr lang="fr-CH" dirty="0"/>
          </a:p>
        </p:txBody>
      </p:sp>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5151" y="2545387"/>
            <a:ext cx="6522910" cy="3131626"/>
          </a:xfrm>
          <a:prstGeom prst="rect">
            <a:avLst/>
          </a:prstGeom>
        </p:spPr>
      </p:pic>
    </p:spTree>
    <p:extLst>
      <p:ext uri="{BB962C8B-B14F-4D97-AF65-F5344CB8AC3E}">
        <p14:creationId xmlns:p14="http://schemas.microsoft.com/office/powerpoint/2010/main" val="3227202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p:cNvSpPr>
            <a:spLocks noGrp="1"/>
          </p:cNvSpPr>
          <p:nvPr>
            <p:ph type="body" sz="quarter" idx="10"/>
          </p:nvPr>
        </p:nvSpPr>
        <p:spPr/>
        <p:txBody>
          <a:bodyPr/>
          <a:lstStyle/>
          <a:p>
            <a:r>
              <a:rPr lang="fr-CH" dirty="0"/>
              <a:t>Configuration du Robot</a:t>
            </a:r>
          </a:p>
        </p:txBody>
      </p:sp>
      <p:sp>
        <p:nvSpPr>
          <p:cNvPr id="6" name="Espace réservé du texte 5"/>
          <p:cNvSpPr>
            <a:spLocks noGrp="1"/>
          </p:cNvSpPr>
          <p:nvPr>
            <p:ph type="body" sz="quarter" idx="11"/>
          </p:nvPr>
        </p:nvSpPr>
        <p:spPr/>
        <p:txBody>
          <a:bodyPr/>
          <a:lstStyle/>
          <a:p>
            <a:r>
              <a:rPr lang="fr-CH" dirty="0"/>
              <a:t>2°</a:t>
            </a:r>
          </a:p>
          <a:p>
            <a:endParaRPr lang="fr-CH" dirty="0"/>
          </a:p>
        </p:txBody>
      </p:sp>
      <p:pic>
        <p:nvPicPr>
          <p:cNvPr id="2" name="Image 1"/>
          <p:cNvPicPr>
            <a:picLocks noChangeAspect="1"/>
          </p:cNvPicPr>
          <p:nvPr/>
        </p:nvPicPr>
        <p:blipFill>
          <a:blip r:embed="rId3"/>
          <a:stretch>
            <a:fillRect/>
          </a:stretch>
        </p:blipFill>
        <p:spPr>
          <a:xfrm>
            <a:off x="2195736" y="2059200"/>
            <a:ext cx="4486200" cy="4103454"/>
          </a:xfrm>
          <a:prstGeom prst="rect">
            <a:avLst/>
          </a:prstGeom>
        </p:spPr>
      </p:pic>
    </p:spTree>
    <p:extLst>
      <p:ext uri="{BB962C8B-B14F-4D97-AF65-F5344CB8AC3E}">
        <p14:creationId xmlns:p14="http://schemas.microsoft.com/office/powerpoint/2010/main" val="19683370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p:cNvSpPr>
            <a:spLocks noGrp="1"/>
          </p:cNvSpPr>
          <p:nvPr>
            <p:ph type="body" sz="quarter" idx="10"/>
          </p:nvPr>
        </p:nvSpPr>
        <p:spPr/>
        <p:txBody>
          <a:bodyPr/>
          <a:lstStyle/>
          <a:p>
            <a:r>
              <a:rPr lang="fr-CH" dirty="0"/>
              <a:t>Configuration du Robot</a:t>
            </a:r>
          </a:p>
        </p:txBody>
      </p:sp>
      <p:sp>
        <p:nvSpPr>
          <p:cNvPr id="6" name="Espace réservé du texte 5"/>
          <p:cNvSpPr>
            <a:spLocks noGrp="1"/>
          </p:cNvSpPr>
          <p:nvPr>
            <p:ph type="body" sz="quarter" idx="11"/>
          </p:nvPr>
        </p:nvSpPr>
        <p:spPr/>
        <p:txBody>
          <a:bodyPr/>
          <a:lstStyle/>
          <a:p>
            <a:r>
              <a:rPr lang="fr-CH" dirty="0"/>
              <a:t>3°</a:t>
            </a:r>
          </a:p>
          <a:p>
            <a:endParaRPr lang="fr-CH" dirty="0"/>
          </a:p>
        </p:txBody>
      </p:sp>
      <p:pic>
        <p:nvPicPr>
          <p:cNvPr id="3" name="Image 2"/>
          <p:cNvPicPr>
            <a:picLocks noChangeAspect="1"/>
          </p:cNvPicPr>
          <p:nvPr/>
        </p:nvPicPr>
        <p:blipFill>
          <a:blip r:embed="rId3"/>
          <a:stretch>
            <a:fillRect/>
          </a:stretch>
        </p:blipFill>
        <p:spPr>
          <a:xfrm>
            <a:off x="2339752" y="2047909"/>
            <a:ext cx="4290055" cy="4115291"/>
          </a:xfrm>
          <a:prstGeom prst="rect">
            <a:avLst/>
          </a:prstGeom>
        </p:spPr>
      </p:pic>
    </p:spTree>
    <p:extLst>
      <p:ext uri="{BB962C8B-B14F-4D97-AF65-F5344CB8AC3E}">
        <p14:creationId xmlns:p14="http://schemas.microsoft.com/office/powerpoint/2010/main" val="861869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p:txBody>
          <a:bodyPr/>
          <a:lstStyle/>
          <a:p>
            <a:r>
              <a:rPr lang="fr-CH" dirty="0"/>
              <a:t>Configuration du Robot</a:t>
            </a:r>
          </a:p>
        </p:txBody>
      </p:sp>
      <p:sp>
        <p:nvSpPr>
          <p:cNvPr id="3" name="Espace réservé du texte 2"/>
          <p:cNvSpPr>
            <a:spLocks noGrp="1"/>
          </p:cNvSpPr>
          <p:nvPr>
            <p:ph type="body" sz="quarter" idx="11"/>
          </p:nvPr>
        </p:nvSpPr>
        <p:spPr/>
        <p:txBody>
          <a:bodyPr/>
          <a:lstStyle/>
          <a:p>
            <a:r>
              <a:rPr lang="fr-CH" dirty="0"/>
              <a:t>Dans le cas d’un robot anthropomorphe, combien trouve-t-on au maximum de combinaisons de configuration différentes pour une unique position cartésienne (non singulière)?</a:t>
            </a:r>
          </a:p>
        </p:txBody>
      </p:sp>
    </p:spTree>
    <p:extLst>
      <p:ext uri="{BB962C8B-B14F-4D97-AF65-F5344CB8AC3E}">
        <p14:creationId xmlns:p14="http://schemas.microsoft.com/office/powerpoint/2010/main" val="38772246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p:cNvSpPr>
            <a:spLocks noGrp="1"/>
          </p:cNvSpPr>
          <p:nvPr>
            <p:ph type="body" sz="quarter" idx="10"/>
          </p:nvPr>
        </p:nvSpPr>
        <p:spPr/>
        <p:txBody>
          <a:bodyPr/>
          <a:lstStyle/>
          <a:p>
            <a:r>
              <a:rPr lang="fr-CH" dirty="0"/>
              <a:t>Configuration du Robot</a:t>
            </a:r>
          </a:p>
        </p:txBody>
      </p:sp>
      <p:sp>
        <p:nvSpPr>
          <p:cNvPr id="6" name="Espace réservé du texte 5"/>
          <p:cNvSpPr>
            <a:spLocks noGrp="1"/>
          </p:cNvSpPr>
          <p:nvPr>
            <p:ph type="body" sz="quarter" idx="11"/>
          </p:nvPr>
        </p:nvSpPr>
        <p:spPr/>
        <p:txBody>
          <a:bodyPr/>
          <a:lstStyle/>
          <a:p>
            <a:endParaRPr lang="fr-CH" dirty="0"/>
          </a:p>
          <a:p>
            <a:endParaRPr lang="fr-CH" dirty="0"/>
          </a:p>
        </p:txBody>
      </p:sp>
      <p:pic>
        <p:nvPicPr>
          <p:cNvPr id="2" name="Imag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528" y="1807430"/>
            <a:ext cx="8064896" cy="4357874"/>
          </a:xfrm>
          <a:prstGeom prst="rect">
            <a:avLst/>
          </a:prstGeom>
        </p:spPr>
      </p:pic>
    </p:spTree>
    <p:extLst>
      <p:ext uri="{BB962C8B-B14F-4D97-AF65-F5344CB8AC3E}">
        <p14:creationId xmlns:p14="http://schemas.microsoft.com/office/powerpoint/2010/main" val="37656425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p:cNvSpPr>
            <a:spLocks noGrp="1"/>
          </p:cNvSpPr>
          <p:nvPr>
            <p:ph type="body" sz="quarter" idx="10"/>
          </p:nvPr>
        </p:nvSpPr>
        <p:spPr/>
        <p:txBody>
          <a:bodyPr/>
          <a:lstStyle/>
          <a:p>
            <a:r>
              <a:rPr lang="fr-CH" dirty="0"/>
              <a:t>Singularité</a:t>
            </a:r>
          </a:p>
        </p:txBody>
      </p:sp>
      <p:sp>
        <p:nvSpPr>
          <p:cNvPr id="6" name="Espace réservé du texte 5"/>
          <p:cNvSpPr>
            <a:spLocks noGrp="1"/>
          </p:cNvSpPr>
          <p:nvPr>
            <p:ph type="body" sz="quarter" idx="11"/>
          </p:nvPr>
        </p:nvSpPr>
        <p:spPr/>
        <p:txBody>
          <a:bodyPr/>
          <a:lstStyle/>
          <a:p>
            <a:r>
              <a:rPr lang="fr-CH" dirty="0"/>
              <a:t>Singularité :  </a:t>
            </a:r>
          </a:p>
          <a:p>
            <a:r>
              <a:rPr lang="fr-CH" sz="2000" dirty="0"/>
              <a:t>Une position singulière est caractérisée par le fait qu'une transformation en arrière (calcul de coordonnées cartésiennes en valeurs spécifiques aux axes) n'est pas possible, malgré l'état et la rotation prédéfinie. Dans ce cas, ou si des modifications cartésiennes minimes entraînent de grandes modifications des angles des axes, on parle de positions singulières. Ceci est une caractéristique mathématique et non mécanique et c'est pourquoi elle n'existe que dans le domaine des déplacements sur trajectoire mais pas pour les mouvements d'axes.</a:t>
            </a:r>
          </a:p>
        </p:txBody>
      </p:sp>
    </p:spTree>
    <p:extLst>
      <p:ext uri="{BB962C8B-B14F-4D97-AF65-F5344CB8AC3E}">
        <p14:creationId xmlns:p14="http://schemas.microsoft.com/office/powerpoint/2010/main" val="26435203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p:cNvSpPr>
            <a:spLocks noGrp="1"/>
          </p:cNvSpPr>
          <p:nvPr>
            <p:ph type="body" sz="quarter" idx="10"/>
          </p:nvPr>
        </p:nvSpPr>
        <p:spPr/>
        <p:txBody>
          <a:bodyPr/>
          <a:lstStyle/>
          <a:p>
            <a:r>
              <a:rPr lang="fr-CH" dirty="0"/>
              <a:t>Singularités - </a:t>
            </a:r>
            <a:r>
              <a:rPr lang="fr-CH" dirty="0" err="1"/>
              <a:t>wrist</a:t>
            </a:r>
            <a:r>
              <a:rPr lang="fr-CH" dirty="0"/>
              <a:t> </a:t>
            </a:r>
            <a:r>
              <a:rPr lang="fr-CH" dirty="0" err="1"/>
              <a:t>singularity</a:t>
            </a:r>
            <a:endParaRPr lang="fr-CH" dirty="0"/>
          </a:p>
        </p:txBody>
      </p:sp>
      <p:sp>
        <p:nvSpPr>
          <p:cNvPr id="6" name="Espace réservé du texte 5"/>
          <p:cNvSpPr>
            <a:spLocks noGrp="1"/>
          </p:cNvSpPr>
          <p:nvPr>
            <p:ph type="body" sz="quarter" idx="11"/>
          </p:nvPr>
        </p:nvSpPr>
        <p:spPr/>
        <p:txBody>
          <a:bodyPr/>
          <a:lstStyle/>
          <a:p>
            <a:endParaRPr lang="fr-CH" dirty="0"/>
          </a:p>
        </p:txBody>
      </p:sp>
      <p:pic>
        <p:nvPicPr>
          <p:cNvPr id="3" name="Imag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2436" y="2059200"/>
            <a:ext cx="5898232" cy="4000967"/>
          </a:xfrm>
          <a:prstGeom prst="rect">
            <a:avLst/>
          </a:prstGeom>
        </p:spPr>
      </p:pic>
    </p:spTree>
    <p:extLst>
      <p:ext uri="{BB962C8B-B14F-4D97-AF65-F5344CB8AC3E}">
        <p14:creationId xmlns:p14="http://schemas.microsoft.com/office/powerpoint/2010/main" val="5612495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p:txBody>
          <a:bodyPr/>
          <a:lstStyle/>
          <a:p>
            <a:r>
              <a:rPr lang="fr-CH" dirty="0"/>
              <a:t>Singularités - </a:t>
            </a:r>
            <a:r>
              <a:rPr lang="fr-CH" dirty="0" err="1"/>
              <a:t>wrist</a:t>
            </a:r>
            <a:r>
              <a:rPr lang="fr-CH" dirty="0"/>
              <a:t> </a:t>
            </a:r>
            <a:r>
              <a:rPr lang="fr-CH" dirty="0" err="1"/>
              <a:t>singularity</a:t>
            </a:r>
            <a:endParaRPr lang="fr-CH" dirty="0"/>
          </a:p>
        </p:txBody>
      </p:sp>
      <p:sp>
        <p:nvSpPr>
          <p:cNvPr id="3" name="Espace réservé du texte 2"/>
          <p:cNvSpPr>
            <a:spLocks noGrp="1"/>
          </p:cNvSpPr>
          <p:nvPr>
            <p:ph type="body" sz="quarter" idx="11"/>
          </p:nvPr>
        </p:nvSpPr>
        <p:spPr/>
        <p:txBody>
          <a:bodyPr/>
          <a:lstStyle/>
          <a:p>
            <a:endParaRPr lang="fr-CH" dirty="0"/>
          </a:p>
        </p:txBody>
      </p:sp>
      <p:pic>
        <p:nvPicPr>
          <p:cNvPr id="4" name="Imag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9244" y="2166984"/>
            <a:ext cx="4344616" cy="3888432"/>
          </a:xfrm>
          <a:prstGeom prst="rect">
            <a:avLst/>
          </a:prstGeom>
        </p:spPr>
      </p:pic>
    </p:spTree>
    <p:extLst>
      <p:ext uri="{BB962C8B-B14F-4D97-AF65-F5344CB8AC3E}">
        <p14:creationId xmlns:p14="http://schemas.microsoft.com/office/powerpoint/2010/main" val="19684344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p:cNvSpPr>
            <a:spLocks noGrp="1"/>
          </p:cNvSpPr>
          <p:nvPr>
            <p:ph type="body" sz="quarter" idx="10"/>
          </p:nvPr>
        </p:nvSpPr>
        <p:spPr/>
        <p:txBody>
          <a:bodyPr/>
          <a:lstStyle/>
          <a:p>
            <a:r>
              <a:rPr lang="fr-CH" dirty="0"/>
              <a:t>Singularités – </a:t>
            </a:r>
            <a:r>
              <a:rPr lang="fr-CH" dirty="0" err="1"/>
              <a:t>Shoulder</a:t>
            </a:r>
            <a:r>
              <a:rPr lang="fr-CH" dirty="0"/>
              <a:t> </a:t>
            </a:r>
            <a:r>
              <a:rPr lang="fr-CH" dirty="0" err="1"/>
              <a:t>singularity</a:t>
            </a:r>
            <a:endParaRPr lang="fr-CH" dirty="0"/>
          </a:p>
        </p:txBody>
      </p:sp>
      <p:sp>
        <p:nvSpPr>
          <p:cNvPr id="6" name="Espace réservé du texte 5"/>
          <p:cNvSpPr>
            <a:spLocks noGrp="1"/>
          </p:cNvSpPr>
          <p:nvPr>
            <p:ph type="body" sz="quarter" idx="11"/>
          </p:nvPr>
        </p:nvSpPr>
        <p:spPr/>
        <p:txBody>
          <a:bodyPr/>
          <a:lstStyle/>
          <a:p>
            <a:r>
              <a:rPr lang="fr-CH" dirty="0"/>
              <a:t>1°  </a:t>
            </a:r>
          </a:p>
        </p:txBody>
      </p:sp>
      <p:pic>
        <p:nvPicPr>
          <p:cNvPr id="7" name="Imag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1760" y="2059200"/>
            <a:ext cx="3651880" cy="3804042"/>
          </a:xfrm>
          <a:prstGeom prst="rect">
            <a:avLst/>
          </a:prstGeom>
        </p:spPr>
      </p:pic>
    </p:spTree>
    <p:extLst>
      <p:ext uri="{BB962C8B-B14F-4D97-AF65-F5344CB8AC3E}">
        <p14:creationId xmlns:p14="http://schemas.microsoft.com/office/powerpoint/2010/main" val="1220465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p:txBody>
          <a:bodyPr/>
          <a:lstStyle/>
          <a:p>
            <a:r>
              <a:rPr lang="fr-CH" dirty="0"/>
              <a:t>Singularités – </a:t>
            </a:r>
            <a:r>
              <a:rPr lang="fr-CH" dirty="0" err="1"/>
              <a:t>Shoulder</a:t>
            </a:r>
            <a:r>
              <a:rPr lang="fr-CH" dirty="0"/>
              <a:t> </a:t>
            </a:r>
            <a:r>
              <a:rPr lang="fr-CH" dirty="0" err="1"/>
              <a:t>singularity</a:t>
            </a:r>
            <a:endParaRPr lang="fr-CH" dirty="0"/>
          </a:p>
        </p:txBody>
      </p:sp>
      <p:sp>
        <p:nvSpPr>
          <p:cNvPr id="3" name="Espace réservé du texte 2"/>
          <p:cNvSpPr>
            <a:spLocks noGrp="1"/>
          </p:cNvSpPr>
          <p:nvPr>
            <p:ph type="body" sz="quarter" idx="11"/>
          </p:nvPr>
        </p:nvSpPr>
        <p:spPr/>
        <p:txBody>
          <a:bodyPr/>
          <a:lstStyle/>
          <a:p>
            <a:endParaRPr lang="fr-CH" dirty="0"/>
          </a:p>
        </p:txBody>
      </p:sp>
      <p:pic>
        <p:nvPicPr>
          <p:cNvPr id="5" name="Imag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6792" y="2024536"/>
            <a:ext cx="7533600" cy="4212776"/>
          </a:xfrm>
          <a:prstGeom prst="rect">
            <a:avLst/>
          </a:prstGeom>
        </p:spPr>
      </p:pic>
    </p:spTree>
    <p:extLst>
      <p:ext uri="{BB962C8B-B14F-4D97-AF65-F5344CB8AC3E}">
        <p14:creationId xmlns:p14="http://schemas.microsoft.com/office/powerpoint/2010/main" val="12884372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p:txBody>
          <a:bodyPr/>
          <a:lstStyle/>
          <a:p>
            <a:r>
              <a:rPr lang="fr-CH" dirty="0"/>
              <a:t>Singularités – </a:t>
            </a:r>
            <a:r>
              <a:rPr lang="fr-CH" dirty="0" err="1"/>
              <a:t>Shoulder</a:t>
            </a:r>
            <a:r>
              <a:rPr lang="fr-CH" dirty="0"/>
              <a:t> </a:t>
            </a:r>
            <a:r>
              <a:rPr lang="fr-CH" dirty="0" err="1"/>
              <a:t>singularity</a:t>
            </a:r>
            <a:endParaRPr lang="fr-CH" dirty="0"/>
          </a:p>
        </p:txBody>
      </p:sp>
      <p:sp>
        <p:nvSpPr>
          <p:cNvPr id="3" name="Espace réservé du texte 2"/>
          <p:cNvSpPr>
            <a:spLocks noGrp="1"/>
          </p:cNvSpPr>
          <p:nvPr>
            <p:ph type="body" sz="quarter" idx="11"/>
          </p:nvPr>
        </p:nvSpPr>
        <p:spPr/>
        <p:txBody>
          <a:bodyPr/>
          <a:lstStyle/>
          <a:p>
            <a:endParaRPr lang="fr-CH" dirty="0"/>
          </a:p>
        </p:txBody>
      </p:sp>
      <p:pic>
        <p:nvPicPr>
          <p:cNvPr id="4" name="Imag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4680" y="2164879"/>
            <a:ext cx="7993744" cy="3892642"/>
          </a:xfrm>
          <a:prstGeom prst="rect">
            <a:avLst/>
          </a:prstGeom>
        </p:spPr>
      </p:pic>
    </p:spTree>
    <p:extLst>
      <p:ext uri="{BB962C8B-B14F-4D97-AF65-F5344CB8AC3E}">
        <p14:creationId xmlns:p14="http://schemas.microsoft.com/office/powerpoint/2010/main" val="28314615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p:cNvSpPr>
            <a:spLocks noGrp="1"/>
          </p:cNvSpPr>
          <p:nvPr>
            <p:ph type="body" sz="quarter" idx="10"/>
          </p:nvPr>
        </p:nvSpPr>
        <p:spPr/>
        <p:txBody>
          <a:bodyPr/>
          <a:lstStyle/>
          <a:p>
            <a:r>
              <a:rPr lang="fr-CH" dirty="0"/>
              <a:t>Singularités – </a:t>
            </a:r>
            <a:r>
              <a:rPr lang="fr-CH" dirty="0" err="1"/>
              <a:t>Elbow</a:t>
            </a:r>
            <a:r>
              <a:rPr lang="fr-CH" dirty="0"/>
              <a:t> </a:t>
            </a:r>
            <a:r>
              <a:rPr lang="fr-CH" dirty="0" err="1"/>
              <a:t>singularity</a:t>
            </a:r>
            <a:endParaRPr lang="fr-CH" dirty="0"/>
          </a:p>
        </p:txBody>
      </p:sp>
      <p:sp>
        <p:nvSpPr>
          <p:cNvPr id="6" name="Espace réservé du texte 5"/>
          <p:cNvSpPr>
            <a:spLocks noGrp="1"/>
          </p:cNvSpPr>
          <p:nvPr>
            <p:ph type="body" sz="quarter" idx="11"/>
          </p:nvPr>
        </p:nvSpPr>
        <p:spPr/>
        <p:txBody>
          <a:bodyPr/>
          <a:lstStyle/>
          <a:p>
            <a:endParaRPr lang="fr-CH" dirty="0"/>
          </a:p>
        </p:txBody>
      </p:sp>
      <p:pic>
        <p:nvPicPr>
          <p:cNvPr id="2" name="Imag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47336" y="1988840"/>
            <a:ext cx="3888432" cy="4050450"/>
          </a:xfrm>
          <a:prstGeom prst="rect">
            <a:avLst/>
          </a:prstGeom>
        </p:spPr>
      </p:pic>
    </p:spTree>
    <p:extLst>
      <p:ext uri="{BB962C8B-B14F-4D97-AF65-F5344CB8AC3E}">
        <p14:creationId xmlns:p14="http://schemas.microsoft.com/office/powerpoint/2010/main" val="20363011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p:cNvSpPr>
            <a:spLocks noGrp="1"/>
          </p:cNvSpPr>
          <p:nvPr>
            <p:ph type="body" sz="quarter" idx="10"/>
          </p:nvPr>
        </p:nvSpPr>
        <p:spPr/>
        <p:txBody>
          <a:bodyPr/>
          <a:lstStyle/>
          <a:p>
            <a:r>
              <a:rPr lang="fr-CH" dirty="0"/>
              <a:t>Singularités – </a:t>
            </a:r>
            <a:r>
              <a:rPr lang="fr-CH" dirty="0" err="1"/>
              <a:t>Elbow</a:t>
            </a:r>
            <a:r>
              <a:rPr lang="fr-CH" dirty="0"/>
              <a:t> </a:t>
            </a:r>
            <a:r>
              <a:rPr lang="fr-CH" dirty="0" err="1"/>
              <a:t>singularity</a:t>
            </a:r>
            <a:endParaRPr lang="fr-CH" dirty="0"/>
          </a:p>
        </p:txBody>
      </p:sp>
      <p:sp>
        <p:nvSpPr>
          <p:cNvPr id="6" name="Espace réservé du texte 5"/>
          <p:cNvSpPr>
            <a:spLocks noGrp="1"/>
          </p:cNvSpPr>
          <p:nvPr>
            <p:ph type="body" sz="quarter" idx="11"/>
          </p:nvPr>
        </p:nvSpPr>
        <p:spPr/>
        <p:txBody>
          <a:bodyPr/>
          <a:lstStyle/>
          <a:p>
            <a:endParaRPr lang="fr-CH" dirty="0"/>
          </a:p>
        </p:txBody>
      </p:sp>
      <p:pic>
        <p:nvPicPr>
          <p:cNvPr id="3" name="Imag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1112" y="2827115"/>
            <a:ext cx="7920880" cy="2568170"/>
          </a:xfrm>
          <a:prstGeom prst="rect">
            <a:avLst/>
          </a:prstGeom>
        </p:spPr>
      </p:pic>
    </p:spTree>
    <p:extLst>
      <p:ext uri="{BB962C8B-B14F-4D97-AF65-F5344CB8AC3E}">
        <p14:creationId xmlns:p14="http://schemas.microsoft.com/office/powerpoint/2010/main" val="41142792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p:txBody>
          <a:bodyPr/>
          <a:lstStyle/>
          <a:p>
            <a:r>
              <a:rPr lang="fr-CH" dirty="0"/>
              <a:t>Singularités</a:t>
            </a:r>
          </a:p>
        </p:txBody>
      </p:sp>
      <p:sp>
        <p:nvSpPr>
          <p:cNvPr id="3" name="Espace réservé du texte 2"/>
          <p:cNvSpPr>
            <a:spLocks noGrp="1"/>
          </p:cNvSpPr>
          <p:nvPr>
            <p:ph type="body" sz="quarter" idx="11"/>
          </p:nvPr>
        </p:nvSpPr>
        <p:spPr/>
        <p:txBody>
          <a:bodyPr/>
          <a:lstStyle/>
          <a:p>
            <a:r>
              <a:rPr lang="en-US" dirty="0">
                <a:hlinkClick r:id="rId3"/>
              </a:rPr>
              <a:t>What are robot singularities</a:t>
            </a:r>
            <a:endParaRPr lang="en-US" dirty="0"/>
          </a:p>
          <a:p>
            <a:endParaRPr lang="en-US" dirty="0"/>
          </a:p>
          <a:p>
            <a:r>
              <a:rPr lang="en-US" dirty="0">
                <a:hlinkClick r:id="rId4"/>
              </a:rPr>
              <a:t>What are the singularities of a typical collaborative robot (</a:t>
            </a:r>
            <a:r>
              <a:rPr lang="en-US" dirty="0" err="1">
                <a:hlinkClick r:id="rId4"/>
              </a:rPr>
              <a:t>cobot</a:t>
            </a:r>
            <a:r>
              <a:rPr lang="en-US" dirty="0">
                <a:hlinkClick r:id="rId4"/>
              </a:rPr>
              <a:t>)</a:t>
            </a:r>
            <a:endParaRPr lang="en-US" dirty="0"/>
          </a:p>
          <a:p>
            <a:endParaRPr lang="en-US" dirty="0"/>
          </a:p>
          <a:p>
            <a:endParaRPr lang="fr-CH" dirty="0"/>
          </a:p>
        </p:txBody>
      </p:sp>
    </p:spTree>
    <p:extLst>
      <p:ext uri="{BB962C8B-B14F-4D97-AF65-F5344CB8AC3E}">
        <p14:creationId xmlns:p14="http://schemas.microsoft.com/office/powerpoint/2010/main" val="36811253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p:txBody>
          <a:bodyPr/>
          <a:lstStyle/>
          <a:p>
            <a:r>
              <a:rPr lang="fr-CH" dirty="0"/>
              <a:t>Sources</a:t>
            </a:r>
          </a:p>
        </p:txBody>
      </p:sp>
      <p:sp>
        <p:nvSpPr>
          <p:cNvPr id="3" name="Espace réservé du texte 2"/>
          <p:cNvSpPr>
            <a:spLocks noGrp="1"/>
          </p:cNvSpPr>
          <p:nvPr>
            <p:ph type="body" sz="quarter" idx="11"/>
          </p:nvPr>
        </p:nvSpPr>
        <p:spPr/>
        <p:txBody>
          <a:bodyPr/>
          <a:lstStyle/>
          <a:p>
            <a:r>
              <a:rPr lang="fr-CH" dirty="0">
                <a:hlinkClick r:id="rId3"/>
              </a:rPr>
              <a:t>https://www.mecademic.com/resources/Singularities/Robot-singularities</a:t>
            </a:r>
            <a:endParaRPr lang="fr-CH" dirty="0"/>
          </a:p>
        </p:txBody>
      </p:sp>
    </p:spTree>
    <p:extLst>
      <p:ext uri="{BB962C8B-B14F-4D97-AF65-F5344CB8AC3E}">
        <p14:creationId xmlns:p14="http://schemas.microsoft.com/office/powerpoint/2010/main" val="1203382385"/>
      </p:ext>
    </p:extLst>
  </p:cSld>
  <p:clrMapOvr>
    <a:masterClrMapping/>
  </p:clrMapOvr>
</p:sld>
</file>

<file path=ppt/theme/theme1.xml><?xml version="1.0" encoding="utf-8"?>
<a:theme xmlns:a="http://schemas.openxmlformats.org/drawingml/2006/main" name="Presentation Arc ING">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 Arc ING</Template>
  <TotalTime>3194</TotalTime>
  <Words>1617</Words>
  <Application>Microsoft Office PowerPoint</Application>
  <PresentationFormat>Affichage à l'écran (4:3)</PresentationFormat>
  <Paragraphs>129</Paragraphs>
  <Slides>18</Slides>
  <Notes>18</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18</vt:i4>
      </vt:variant>
    </vt:vector>
  </HeadingPairs>
  <TitlesOfParts>
    <vt:vector size="22" baseType="lpstr">
      <vt:lpstr>Arial</vt:lpstr>
      <vt:lpstr>Calibri</vt:lpstr>
      <vt:lpstr>Tahoma</vt:lpstr>
      <vt:lpstr>Presentation Arc ING</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Haute Ecole Arc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Fillistorf Emmanuel</dc:creator>
  <cp:lastModifiedBy>Gay des Combes Arnaud</cp:lastModifiedBy>
  <cp:revision>81</cp:revision>
  <cp:lastPrinted>2020-12-01T11:28:15Z</cp:lastPrinted>
  <dcterms:created xsi:type="dcterms:W3CDTF">2016-09-16T07:17:12Z</dcterms:created>
  <dcterms:modified xsi:type="dcterms:W3CDTF">2023-12-06T05:33:16Z</dcterms:modified>
</cp:coreProperties>
</file>